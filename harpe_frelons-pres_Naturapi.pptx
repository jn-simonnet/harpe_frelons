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1.jpeg" ContentType="image/jpeg"/>
  <Override PartName="/ppt/media/image8.jpeg" ContentType="image/jpeg"/>
  <Override PartName="/ppt/media/image10.jpeg" ContentType="image/jpeg"/>
  <Override PartName="/ppt/media/image7.jpeg" ContentType="image/jpeg"/>
  <Override PartName="/ppt/media/image12.jpeg" ContentType="image/jpeg"/>
  <Override PartName="/ppt/media/image9.jpeg" ContentType="image/jpeg"/>
  <Override PartName="/ppt/media/image13.jpeg" ContentType="image/jpeg"/>
  <Override PartName="/ppt/media/image4.png" ContentType="image/png"/>
  <Override PartName="/ppt/media/image5.png" ContentType="image/png"/>
  <Override PartName="/ppt/media/image22.png" ContentType="image/png"/>
  <Override PartName="/ppt/media/image1.jpeg" ContentType="image/jpeg"/>
  <Override PartName="/ppt/media/image6.png" ContentType="image/png"/>
  <Override PartName="/ppt/media/image19.jpeg" ContentType="image/jpeg"/>
  <Override PartName="/ppt/media/image21.jpeg" ContentType="image/jpeg"/>
  <Override PartName="/ppt/media/image20.jpeg" ContentType="image/jpeg"/>
  <Override PartName="/ppt/media/image18.jpeg" ContentType="image/jpeg"/>
  <Override PartName="/ppt/media/image17.jpeg" ContentType="image/jpeg"/>
  <Override PartName="/ppt/media/image16.jpeg" ContentType="image/jpeg"/>
  <Override PartName="/ppt/media/image15.jpeg" ContentType="image/jpeg"/>
  <Override PartName="/ppt/media/image14.jpeg" ContentType="image/jpeg"/>
  <Override PartName="/ppt/media/image3.png" ContentType="image/png"/>
  <Override PartName="/ppt/media/image2.jpeg" ContentType="image/jpeg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9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déplacer la diapo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pour modifier le format des 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C9F1975-E608-4012-BD95-AF60D1D6C6B8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96C84FB-A243-435C-9758-B889940C843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5B2002-C1D2-4B8E-A2EC-D78C82F91CB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E0ED7C5-5318-4D2F-9E6E-89F60232344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947B3C-525E-45A3-A4D0-A805B596FEA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8275956-4912-409F-A7DE-E04A277F04F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550173-CD13-4D99-A38F-9D5EB5C7FEB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1897DB-BBD8-45AF-84CB-FE2FBDF5EB2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6B2B2F-A393-4494-924B-BDD00344CC5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49905F-66FB-4212-BA9E-D0EC8F320AC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57DBAFD-2986-44AA-8B3A-D5CF25E400C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E43C3E1-FE17-4826-B481-F28E07E8B3C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36DE85-A633-4D3D-9740-4F011A6D0E7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3C53CCC-B80C-4A9B-A14F-3CB05EA5BB9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4AD955-5809-4728-A6CD-EA3BF406295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2031369-C80A-4F64-B0AD-ED49C085904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A0FDE9-908D-4C21-9B0A-DCA7F9A2C55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A4B67A-8947-4202-968F-F4C35BBB88B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3B795A-93BD-4065-8028-4A83B9B91B0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9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F0BA0E-E884-42B7-9DFE-C2812B46593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FAA6207-C276-4025-A02E-02C79BB07C2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E29D9BA-7564-484E-8D3E-A7DBE536EAA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B5E7369-34A3-40B0-8F89-C8209420BF0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71E0A94-0C4F-4E2E-9EDF-45774FD1338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5947C9C-9FAC-47DE-B578-9706A2176E7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Cliquez pour éditer le format du texte-titre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Cliquez pour éditer le format du plan de texte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niveau de plan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Troisième niveau de plan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Quatrième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Cinquième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Septième niveau de plan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image" Target="../media/image14.jpeg"/><Relationship Id="rId3" Type="http://schemas.openxmlformats.org/officeDocument/2006/relationships/image" Target="../media/image15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11.jpeg"/><Relationship Id="rId3" Type="http://schemas.openxmlformats.org/officeDocument/2006/relationships/image" Target="../media/image17.jpeg"/><Relationship Id="rId4" Type="http://schemas.openxmlformats.org/officeDocument/2006/relationships/image" Target="../media/image2.jpeg"/><Relationship Id="rId5" Type="http://schemas.openxmlformats.org/officeDocument/2006/relationships/image" Target="../media/image18.jpeg"/><Relationship Id="rId6" Type="http://schemas.openxmlformats.org/officeDocument/2006/relationships/image" Target="../media/image15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image" Target="../media/image2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1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-1463040" y="-1463040"/>
            <a:ext cx="3016080" cy="3016080"/>
          </a:xfrm>
          <a:prstGeom prst="ellipse">
            <a:avLst/>
          </a:prstGeom>
          <a:solidFill>
            <a:srgbClr val="e0a526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10881360" y="5212080"/>
            <a:ext cx="2741760" cy="2741760"/>
          </a:xfrm>
          <a:prstGeom prst="ellipse">
            <a:avLst/>
          </a:prstGeom>
          <a:solidFill>
            <a:srgbClr val="e0a52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Image 0" descr="/tmp/assets/hornet.jpg"/>
          <p:cNvPicPr/>
          <p:nvPr/>
        </p:nvPicPr>
        <p:blipFill>
          <a:blip r:embed="rId1">
            <a:alphaModFix amt="92000"/>
          </a:blip>
          <a:stretch/>
        </p:blipFill>
        <p:spPr>
          <a:xfrm>
            <a:off x="7315200" y="1855440"/>
            <a:ext cx="4875120" cy="3145680"/>
          </a:xfrm>
          <a:prstGeom prst="rect">
            <a:avLst/>
          </a:prstGeom>
          <a:ln w="0">
            <a:noFill/>
          </a:ln>
        </p:spPr>
      </p:pic>
      <p:sp>
        <p:nvSpPr>
          <p:cNvPr id="11" name="Text 3"/>
          <p:cNvSpPr/>
          <p:nvPr/>
        </p:nvSpPr>
        <p:spPr>
          <a:xfrm>
            <a:off x="731520" y="1417320"/>
            <a:ext cx="63993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90" strike="noStrike">
                <a:solidFill>
                  <a:srgbClr val="e0a526"/>
                </a:solidFill>
                <a:latin typeface="Calibri"/>
                <a:ea typeface="Calibri"/>
              </a:rPr>
              <a:t>APICULTURE · LUTTE BIOLOGIQUE</a:t>
            </a:r>
            <a:endParaRPr b="0" lang="fr-F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731520" y="1828800"/>
            <a:ext cx="6582240" cy="191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8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Georgia"/>
                <a:ea typeface="Georgia"/>
              </a:rPr>
              <a:t>La harpe</a:t>
            </a:r>
            <a:endParaRPr b="0" lang="fr-FR" sz="4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8000"/>
              </a:lnSpc>
              <a:tabLst>
                <a:tab algn="l" pos="0"/>
              </a:tabLst>
            </a:pPr>
            <a:r>
              <a:rPr b="1" lang="en-US" sz="4600" spc="-1" strike="noStrike">
                <a:solidFill>
                  <a:srgbClr val="ffffff"/>
                </a:solidFill>
                <a:latin typeface="Georgia"/>
                <a:ea typeface="Georgia"/>
              </a:rPr>
              <a:t>anti-frelons asiatiques</a:t>
            </a:r>
            <a:endParaRPr b="0" lang="fr-FR" sz="4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49880" y="3886200"/>
            <a:ext cx="630792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e9e1cf"/>
                </a:solidFill>
                <a:latin typeface="Calibri"/>
                <a:ea typeface="Calibri"/>
              </a:rPr>
              <a:t>Principe · recommandations des GDSA · fabrication maison</a:t>
            </a:r>
            <a:endParaRPr b="0" lang="fr-F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6"/>
          <p:cNvSpPr/>
          <p:nvPr/>
        </p:nvSpPr>
        <p:spPr>
          <a:xfrm>
            <a:off x="777240" y="4709160"/>
            <a:ext cx="1187280" cy="44280"/>
          </a:xfrm>
          <a:prstGeom prst="rect">
            <a:avLst/>
          </a:prstGeom>
          <a:solidFill>
            <a:srgbClr val="c844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731520" y="4937760"/>
            <a:ext cx="603360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38"/>
                </a:solidFill>
                <a:latin typeface="Calibri"/>
                <a:ea typeface="Calibri"/>
              </a:rPr>
              <a:t>Présentation pour l’atelier Naturapi du 27/6/2026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31520" y="6126480"/>
            <a:ext cx="4570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8c8270"/>
                </a:solidFill>
                <a:latin typeface="Calibri"/>
                <a:ea typeface="Calibri"/>
              </a:rPr>
              <a:t>Présentation ~45 min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134"/>
          <p:cNvSpPr/>
          <p:nvPr/>
        </p:nvSpPr>
        <p:spPr>
          <a:xfrm>
            <a:off x="9828360" y="6120000"/>
            <a:ext cx="1870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8c8270"/>
                </a:solidFill>
                <a:latin typeface="Calibri"/>
                <a:ea typeface="Calibri"/>
              </a:rPr>
              <a:t>© J.N. Simonnet - 2026</a:t>
            </a:r>
            <a:endParaRPr b="0" lang="fr-F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1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-1463040" y="-1463040"/>
            <a:ext cx="3016080" cy="3016080"/>
          </a:xfrm>
          <a:prstGeom prst="ellipse">
            <a:avLst/>
          </a:prstGeom>
          <a:solidFill>
            <a:srgbClr val="e0a526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731520" y="208080"/>
            <a:ext cx="731376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ffffff"/>
                </a:solidFill>
                <a:latin typeface="Georgia"/>
                <a:ea typeface="Georgia"/>
              </a:rPr>
              <a:t>Sommaire</a:t>
            </a:r>
            <a:endParaRPr b="0" lang="fr-FR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777240" y="985320"/>
            <a:ext cx="1004400" cy="44280"/>
          </a:xfrm>
          <a:prstGeom prst="rect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4"/>
          <p:cNvSpPr/>
          <p:nvPr/>
        </p:nvSpPr>
        <p:spPr>
          <a:xfrm>
            <a:off x="822960" y="1442520"/>
            <a:ext cx="839880" cy="8398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822960" y="1370520"/>
            <a:ext cx="839880" cy="8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3190e"/>
                </a:solidFill>
                <a:latin typeface="Georgia"/>
                <a:ea typeface="Georgia"/>
              </a:rPr>
              <a:t>1</a:t>
            </a:r>
            <a:endParaRPr b="0" lang="fr-F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1920240" y="1407240"/>
            <a:ext cx="941688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Georgia"/>
                <a:ea typeface="Georgia"/>
              </a:rPr>
              <a:t>Le principe</a:t>
            </a:r>
            <a:endParaRPr b="0" lang="fr-FR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1920240" y="1873440"/>
            <a:ext cx="9416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bcb3a0"/>
                </a:solidFill>
                <a:latin typeface="Calibri"/>
                <a:ea typeface="Calibri"/>
              </a:rPr>
              <a:t>Fils sous haute tension, géométrie sélective, système complet</a:t>
            </a:r>
            <a:endParaRPr b="0" lang="fr-F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822960" y="2413440"/>
            <a:ext cx="839880" cy="8398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822960" y="2341440"/>
            <a:ext cx="839880" cy="8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3190e"/>
                </a:solidFill>
                <a:latin typeface="Georgia"/>
                <a:ea typeface="Georgia"/>
              </a:rPr>
              <a:t>2</a:t>
            </a:r>
            <a:endParaRPr b="0" lang="fr-F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1920240" y="2378160"/>
            <a:ext cx="941688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Georgia"/>
                <a:ea typeface="Georgia"/>
              </a:rPr>
              <a:t>Les recommandations des GDSA</a:t>
            </a:r>
            <a:endParaRPr b="0" lang="fr-FR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1920240" y="2844360"/>
            <a:ext cx="9416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bcb3a0"/>
                </a:solidFill>
                <a:latin typeface="Calibri"/>
                <a:ea typeface="Calibri"/>
              </a:rPr>
              <a:t>Guides GDSA29, GDSA21, Abeilles95 — design conseillé &amp; coûts</a:t>
            </a:r>
            <a:endParaRPr b="0" lang="fr-F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825480" y="5255280"/>
            <a:ext cx="839880" cy="8398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825480" y="5183280"/>
            <a:ext cx="839880" cy="8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3190e"/>
                </a:solidFill>
                <a:latin typeface="Georgia"/>
                <a:ea typeface="Georgia"/>
              </a:rPr>
              <a:t>5</a:t>
            </a:r>
            <a:endParaRPr b="0" lang="fr-F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1922760" y="5220000"/>
            <a:ext cx="941688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Georgia"/>
                <a:ea typeface="Georgia"/>
              </a:rPr>
              <a:t>Fabriquer soi-même</a:t>
            </a:r>
            <a:endParaRPr b="0" lang="fr-FR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1922760" y="5686200"/>
            <a:ext cx="9416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bcb3a0"/>
                </a:solidFill>
                <a:latin typeface="Calibri"/>
                <a:ea typeface="Calibri"/>
              </a:rPr>
              <a:t>Améliorations, isolation, construction mécanique &amp; électronique</a:t>
            </a:r>
            <a:endParaRPr b="0" lang="fr-F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57"/>
          <p:cNvSpPr/>
          <p:nvPr/>
        </p:nvSpPr>
        <p:spPr>
          <a:xfrm>
            <a:off x="824760" y="3347280"/>
            <a:ext cx="839880" cy="8398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80"/>
          <p:cNvSpPr/>
          <p:nvPr/>
        </p:nvSpPr>
        <p:spPr>
          <a:xfrm>
            <a:off x="824760" y="3275280"/>
            <a:ext cx="839880" cy="8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3190e"/>
                </a:solidFill>
                <a:latin typeface="Georgia"/>
                <a:ea typeface="Georgia"/>
              </a:rPr>
              <a:t>3</a:t>
            </a:r>
            <a:endParaRPr b="0" lang="fr-F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81"/>
          <p:cNvSpPr/>
          <p:nvPr/>
        </p:nvSpPr>
        <p:spPr>
          <a:xfrm>
            <a:off x="1922040" y="3312000"/>
            <a:ext cx="941688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Georgia"/>
                <a:ea typeface="Georgia"/>
              </a:rPr>
              <a:t>Précautions d’installation</a:t>
            </a:r>
            <a:endParaRPr b="0" lang="fr-FR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82"/>
          <p:cNvSpPr/>
          <p:nvPr/>
        </p:nvSpPr>
        <p:spPr>
          <a:xfrm>
            <a:off x="1922040" y="3778200"/>
            <a:ext cx="9416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bcb3a0"/>
                </a:solidFill>
                <a:latin typeface="Calibri"/>
                <a:ea typeface="Calibri"/>
              </a:rPr>
              <a:t>Là où la harpe peut être contre-productive et comment l’améliorer</a:t>
            </a:r>
            <a:endParaRPr b="0" lang="fr-F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58"/>
          <p:cNvSpPr/>
          <p:nvPr/>
        </p:nvSpPr>
        <p:spPr>
          <a:xfrm>
            <a:off x="824760" y="4307040"/>
            <a:ext cx="839880" cy="83988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83"/>
          <p:cNvSpPr/>
          <p:nvPr/>
        </p:nvSpPr>
        <p:spPr>
          <a:xfrm>
            <a:off x="824760" y="4235040"/>
            <a:ext cx="839880" cy="83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3190e"/>
                </a:solidFill>
                <a:latin typeface="Georgia"/>
                <a:ea typeface="Georgia"/>
              </a:rPr>
              <a:t>4</a:t>
            </a:r>
            <a:endParaRPr b="0" lang="fr-FR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132"/>
          <p:cNvSpPr/>
          <p:nvPr/>
        </p:nvSpPr>
        <p:spPr>
          <a:xfrm>
            <a:off x="1922040" y="4271760"/>
            <a:ext cx="9416880" cy="47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Georgia"/>
                <a:ea typeface="Georgia"/>
              </a:rPr>
              <a:t>Résultats de capture</a:t>
            </a:r>
            <a:endParaRPr b="0" lang="fr-FR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33"/>
          <p:cNvSpPr/>
          <p:nvPr/>
        </p:nvSpPr>
        <p:spPr>
          <a:xfrm>
            <a:off x="1922040" y="4737960"/>
            <a:ext cx="9416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bcb3a0"/>
                </a:solidFill>
                <a:latin typeface="Calibri"/>
                <a:ea typeface="Calibri"/>
              </a:rPr>
              <a:t>Premiers comptages en conditions réelles, à Beaumont (63)</a:t>
            </a:r>
            <a:endParaRPr b="0" lang="fr-FR" sz="13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1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0"/>
          <p:cNvSpPr/>
          <p:nvPr/>
        </p:nvSpPr>
        <p:spPr>
          <a:xfrm>
            <a:off x="-1463040" y="-1463040"/>
            <a:ext cx="3016080" cy="3016080"/>
          </a:xfrm>
          <a:prstGeom prst="ellipse">
            <a:avLst/>
          </a:prstGeom>
          <a:solidFill>
            <a:srgbClr val="e0a526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"/>
          <p:cNvSpPr/>
          <p:nvPr/>
        </p:nvSpPr>
        <p:spPr>
          <a:xfrm>
            <a:off x="10881360" y="5212080"/>
            <a:ext cx="2741760" cy="2741760"/>
          </a:xfrm>
          <a:prstGeom prst="ellipse">
            <a:avLst/>
          </a:prstGeom>
          <a:solidFill>
            <a:srgbClr val="e0a52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2"/>
          <p:cNvSpPr/>
          <p:nvPr/>
        </p:nvSpPr>
        <p:spPr>
          <a:xfrm>
            <a:off x="1005840" y="2331720"/>
            <a:ext cx="7313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389" strike="noStrike">
                <a:solidFill>
                  <a:srgbClr val="e0a526"/>
                </a:solidFill>
                <a:latin typeface="Calibri"/>
                <a:ea typeface="Calibri"/>
              </a:rPr>
              <a:t>PARTIE 1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3"/>
          <p:cNvSpPr/>
          <p:nvPr/>
        </p:nvSpPr>
        <p:spPr>
          <a:xfrm>
            <a:off x="960120" y="2743200"/>
            <a:ext cx="10056960" cy="11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Georgia"/>
                <a:ea typeface="Georgia"/>
              </a:rPr>
              <a:t>Le principe</a:t>
            </a:r>
            <a:endParaRPr b="0" lang="fr-F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Shape 4"/>
          <p:cNvSpPr/>
          <p:nvPr/>
        </p:nvSpPr>
        <p:spPr>
          <a:xfrm>
            <a:off x="1005840" y="3977640"/>
            <a:ext cx="1370160" cy="53280"/>
          </a:xfrm>
          <a:prstGeom prst="rect">
            <a:avLst/>
          </a:prstGeom>
          <a:solidFill>
            <a:srgbClr val="c844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5"/>
          <p:cNvSpPr/>
          <p:nvPr/>
        </p:nvSpPr>
        <p:spPr>
          <a:xfrm>
            <a:off x="1005840" y="4206240"/>
            <a:ext cx="95997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cfc6b4"/>
                </a:solidFill>
                <a:latin typeface="Calibri"/>
                <a:ea typeface="Calibri"/>
              </a:rPr>
              <a:t>Comment une harpe électrique cible le frelon en épargnant l'abeille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6"/>
          <p:cNvSpPr/>
          <p:nvPr/>
        </p:nvSpPr>
        <p:spPr>
          <a:xfrm>
            <a:off x="8595360" y="914400"/>
            <a:ext cx="3656160" cy="50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0" spc="-1" strike="noStrike">
                <a:solidFill>
                  <a:srgbClr val="33260f"/>
                </a:solidFill>
                <a:latin typeface="Georgia"/>
                <a:ea typeface="Georgia"/>
              </a:rPr>
              <a:t>1</a:t>
            </a:r>
            <a:endParaRPr b="0" lang="fr-FR" sz="30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502920" y="457200"/>
            <a:ext cx="144720" cy="711720"/>
          </a:xfrm>
          <a:prstGeom prst="rect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777240" y="420480"/>
            <a:ext cx="10605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1" strike="noStrike">
                <a:solidFill>
                  <a:srgbClr val="9c6e12"/>
                </a:solidFill>
                <a:latin typeface="Calibri"/>
                <a:ea typeface="Calibri"/>
              </a:rPr>
              <a:t>PARTIE 1 · LE PRINCIPE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777240" y="658440"/>
            <a:ext cx="10879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3190e"/>
                </a:solidFill>
                <a:latin typeface="Georgia"/>
                <a:ea typeface="Georgia"/>
              </a:rPr>
              <a:t>Un filtre électrique sélectif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1" name="Image 0" descr="/tmp/assets/harp_full.jpg"/>
          <p:cNvPicPr/>
          <p:nvPr/>
        </p:nvPicPr>
        <p:blipFill>
          <a:blip r:embed="rId1"/>
          <a:stretch/>
        </p:blipFill>
        <p:spPr>
          <a:xfrm>
            <a:off x="8092440" y="1798560"/>
            <a:ext cx="3701880" cy="3762360"/>
          </a:xfrm>
          <a:prstGeom prst="rect">
            <a:avLst/>
          </a:prstGeom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</p:pic>
      <p:sp>
        <p:nvSpPr>
          <p:cNvPr id="52" name="Text 3"/>
          <p:cNvSpPr/>
          <p:nvPr/>
        </p:nvSpPr>
        <p:spPr>
          <a:xfrm>
            <a:off x="7863840" y="5989320"/>
            <a:ext cx="415908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c8270"/>
                </a:solidFill>
                <a:latin typeface="Calibri"/>
                <a:ea typeface="Calibri"/>
              </a:rPr>
              <a:t>Harpe montée sur piétement, bac à eau dessous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4"/>
          <p:cNvSpPr/>
          <p:nvPr/>
        </p:nvSpPr>
        <p:spPr>
          <a:xfrm>
            <a:off x="594360" y="1600200"/>
            <a:ext cx="181440" cy="18144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5"/>
          <p:cNvSpPr/>
          <p:nvPr/>
        </p:nvSpPr>
        <p:spPr>
          <a:xfrm>
            <a:off x="914400" y="1508760"/>
            <a:ext cx="67651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3190e"/>
                </a:solidFill>
                <a:latin typeface="Calibri"/>
                <a:ea typeface="Calibri"/>
              </a:rPr>
              <a:t>Des fils verticaux sous 2000 V</a:t>
            </a:r>
            <a:endParaRPr b="0" lang="fr-F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6"/>
          <p:cNvSpPr/>
          <p:nvPr/>
        </p:nvSpPr>
        <p:spPr>
          <a:xfrm>
            <a:off x="914400" y="1865520"/>
            <a:ext cx="69022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15749"/>
                </a:solidFill>
                <a:latin typeface="Calibri"/>
                <a:ea typeface="Calibri"/>
              </a:rPr>
              <a:t>Deux plans de fils inox tendus, portés à haute tension. Le frelon qui les touche ferme le circuit.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7"/>
          <p:cNvSpPr/>
          <p:nvPr/>
        </p:nvSpPr>
        <p:spPr>
          <a:xfrm>
            <a:off x="594360" y="2697480"/>
            <a:ext cx="181440" cy="18144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914400" y="2606040"/>
            <a:ext cx="67651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3190e"/>
                </a:solidFill>
                <a:latin typeface="Calibri"/>
                <a:ea typeface="Calibri"/>
              </a:rPr>
              <a:t>Un pas calculé : 25 mm</a:t>
            </a:r>
            <a:endParaRPr b="0" lang="fr-F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9"/>
          <p:cNvSpPr/>
          <p:nvPr/>
        </p:nvSpPr>
        <p:spPr>
          <a:xfrm>
            <a:off x="914400" y="2962800"/>
            <a:ext cx="69022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15749"/>
                </a:solidFill>
                <a:latin typeface="Calibri"/>
                <a:ea typeface="Calibri"/>
              </a:rPr>
              <a:t>Inférieur à l'envergure du frelon asiatique (≈ 36–40 mm), mais supérieur à celle de l'abeille (16 mm) : l'abeille passe, le frelon non (ça, c’est la théorie !).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Shape 10"/>
          <p:cNvSpPr/>
          <p:nvPr/>
        </p:nvSpPr>
        <p:spPr>
          <a:xfrm>
            <a:off x="594360" y="3794760"/>
            <a:ext cx="181440" cy="18144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11"/>
          <p:cNvSpPr/>
          <p:nvPr/>
        </p:nvSpPr>
        <p:spPr>
          <a:xfrm>
            <a:off x="914400" y="3703320"/>
            <a:ext cx="67651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3190e"/>
                </a:solidFill>
                <a:latin typeface="Calibri"/>
                <a:ea typeface="Calibri"/>
              </a:rPr>
              <a:t>La décharge</a:t>
            </a:r>
            <a:endParaRPr b="0" lang="fr-F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12"/>
          <p:cNvSpPr/>
          <p:nvPr/>
        </p:nvSpPr>
        <p:spPr>
          <a:xfrm>
            <a:off x="914400" y="4060080"/>
            <a:ext cx="69022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15749"/>
                </a:solidFill>
                <a:latin typeface="Calibri"/>
                <a:ea typeface="Calibri"/>
              </a:rPr>
              <a:t>Au contact des ailes, la décharge paralyse ou détruit les muscles de vol selon l'énergie appliquée.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13"/>
          <p:cNvSpPr/>
          <p:nvPr/>
        </p:nvSpPr>
        <p:spPr>
          <a:xfrm>
            <a:off x="594360" y="4892040"/>
            <a:ext cx="181440" cy="18144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14"/>
          <p:cNvSpPr/>
          <p:nvPr/>
        </p:nvSpPr>
        <p:spPr>
          <a:xfrm>
            <a:off x="914400" y="4800600"/>
            <a:ext cx="67651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3190e"/>
                </a:solidFill>
                <a:latin typeface="Calibri"/>
                <a:ea typeface="Calibri"/>
              </a:rPr>
              <a:t>Le bac à eau</a:t>
            </a:r>
            <a:endParaRPr b="0" lang="fr-FR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15"/>
          <p:cNvSpPr/>
          <p:nvPr/>
        </p:nvSpPr>
        <p:spPr>
          <a:xfrm>
            <a:off x="914400" y="5157360"/>
            <a:ext cx="69022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15749"/>
                </a:solidFill>
                <a:latin typeface="Calibri"/>
                <a:ea typeface="Calibri"/>
              </a:rPr>
              <a:t>Sous la harpe, un bac d'eau additionnée de liquide vaisselle noie le frelon étourdi (mouille les ailes à coup sûr).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6"/>
          <p:cNvSpPr/>
          <p:nvPr/>
        </p:nvSpPr>
        <p:spPr>
          <a:xfrm>
            <a:off x="11475720" y="6437520"/>
            <a:ext cx="108360" cy="10836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7"/>
          <p:cNvSpPr/>
          <p:nvPr/>
        </p:nvSpPr>
        <p:spPr>
          <a:xfrm>
            <a:off x="10424160" y="6327720"/>
            <a:ext cx="9586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c8270"/>
                </a:solidFill>
                <a:latin typeface="Calibri"/>
                <a:ea typeface="Calibri"/>
              </a:rPr>
              <a:t>1 / 17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8"/>
          <p:cNvSpPr/>
          <p:nvPr/>
        </p:nvSpPr>
        <p:spPr>
          <a:xfrm>
            <a:off x="502920" y="6327720"/>
            <a:ext cx="54849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99f8c"/>
                </a:solidFill>
                <a:latin typeface="Calibri"/>
                <a:ea typeface="Calibri"/>
              </a:rPr>
              <a:t>Harpe anti-frelons asiatiques - © J.N. Simonnet - 2026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502920" y="457200"/>
            <a:ext cx="144720" cy="711720"/>
          </a:xfrm>
          <a:prstGeom prst="rect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777240" y="420480"/>
            <a:ext cx="10605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1" strike="noStrike">
                <a:solidFill>
                  <a:srgbClr val="9c6e12"/>
                </a:solidFill>
                <a:latin typeface="Calibri"/>
                <a:ea typeface="Calibri"/>
              </a:rPr>
              <a:t>PARTIE 1 · LE PRINCIPE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777240" y="658440"/>
            <a:ext cx="10879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3190e"/>
                </a:solidFill>
                <a:latin typeface="Georgia"/>
                <a:ea typeface="Georgia"/>
              </a:rPr>
              <a:t>Le système complet : tout au solaire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Shape 3"/>
          <p:cNvSpPr/>
          <p:nvPr/>
        </p:nvSpPr>
        <p:spPr>
          <a:xfrm>
            <a:off x="640080" y="1691640"/>
            <a:ext cx="2330280" cy="1050120"/>
          </a:xfrm>
          <a:prstGeom prst="roundRect">
            <a:avLst>
              <a:gd name="adj" fmla="val 6957"/>
            </a:avLst>
          </a:prstGeom>
          <a:solidFill>
            <a:srgbClr val="e0a526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4"/>
          <p:cNvSpPr/>
          <p:nvPr/>
        </p:nvSpPr>
        <p:spPr>
          <a:xfrm>
            <a:off x="640080" y="1691640"/>
            <a:ext cx="2330280" cy="10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3190e"/>
                </a:solidFill>
                <a:latin typeface="Calibri"/>
                <a:ea typeface="Calibri"/>
              </a:rPr>
              <a:t>Panneau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3190e"/>
                </a:solidFill>
                <a:latin typeface="Calibri"/>
                <a:ea typeface="Calibri"/>
              </a:rPr>
              <a:t>solaire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2971800" y="1691640"/>
            <a:ext cx="501480" cy="10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9c6e12"/>
                </a:solidFill>
                <a:latin typeface="Calibri"/>
                <a:ea typeface="Calibri"/>
              </a:rPr>
              <a:t>→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Shape 6"/>
          <p:cNvSpPr/>
          <p:nvPr/>
        </p:nvSpPr>
        <p:spPr>
          <a:xfrm>
            <a:off x="3474720" y="1691640"/>
            <a:ext cx="2330280" cy="1050120"/>
          </a:xfrm>
          <a:prstGeom prst="roundRect">
            <a:avLst>
              <a:gd name="adj" fmla="val 6957"/>
            </a:avLst>
          </a:prstGeom>
          <a:solidFill>
            <a:srgbClr val="e0a526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7"/>
          <p:cNvSpPr/>
          <p:nvPr/>
        </p:nvSpPr>
        <p:spPr>
          <a:xfrm>
            <a:off x="3474720" y="1691640"/>
            <a:ext cx="2330280" cy="10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3190e"/>
                </a:solidFill>
                <a:latin typeface="Calibri"/>
                <a:ea typeface="Calibri"/>
              </a:rPr>
              <a:t>Régulateur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3190e"/>
                </a:solidFill>
                <a:latin typeface="Calibri"/>
                <a:ea typeface="Calibri"/>
              </a:rPr>
              <a:t>DC/DC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5806440" y="1691640"/>
            <a:ext cx="501480" cy="10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9c6e12"/>
                </a:solidFill>
                <a:latin typeface="Calibri"/>
                <a:ea typeface="Calibri"/>
              </a:rPr>
              <a:t>→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9"/>
          <p:cNvSpPr/>
          <p:nvPr/>
        </p:nvSpPr>
        <p:spPr>
          <a:xfrm>
            <a:off x="6309360" y="1691640"/>
            <a:ext cx="2330280" cy="1050120"/>
          </a:xfrm>
          <a:prstGeom prst="roundRect">
            <a:avLst>
              <a:gd name="adj" fmla="val 6957"/>
            </a:avLst>
          </a:prstGeom>
          <a:solidFill>
            <a:srgbClr val="c8442e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6309360" y="1691640"/>
            <a:ext cx="2330280" cy="10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Générateur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HT 2 kV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8641080" y="1691640"/>
            <a:ext cx="501480" cy="10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9c6e12"/>
                </a:solidFill>
                <a:latin typeface="Calibri"/>
                <a:ea typeface="Calibri"/>
              </a:rPr>
              <a:t>→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2"/>
          <p:cNvSpPr/>
          <p:nvPr/>
        </p:nvSpPr>
        <p:spPr>
          <a:xfrm>
            <a:off x="9144000" y="1691640"/>
            <a:ext cx="2330280" cy="1050120"/>
          </a:xfrm>
          <a:prstGeom prst="roundRect">
            <a:avLst>
              <a:gd name="adj" fmla="val 6957"/>
            </a:avLst>
          </a:prstGeom>
          <a:solidFill>
            <a:srgbClr val="5e7d3e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13"/>
          <p:cNvSpPr/>
          <p:nvPr/>
        </p:nvSpPr>
        <p:spPr>
          <a:xfrm>
            <a:off x="9144000" y="1691640"/>
            <a:ext cx="2330280" cy="10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3 harpes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(pour 5 ruches)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4"/>
          <p:cNvSpPr/>
          <p:nvPr/>
        </p:nvSpPr>
        <p:spPr>
          <a:xfrm>
            <a:off x="640080" y="3154680"/>
            <a:ext cx="54849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9c6e12"/>
                </a:solidFill>
                <a:latin typeface="Calibri"/>
                <a:ea typeface="Calibri"/>
              </a:rPr>
              <a:t>Pas de batterie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5"/>
          <p:cNvSpPr/>
          <p:nvPr/>
        </p:nvSpPr>
        <p:spPr>
          <a:xfrm>
            <a:off x="640080" y="3314160"/>
            <a:ext cx="979884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615749"/>
                </a:solidFill>
                <a:latin typeface="Calibri"/>
                <a:ea typeface="Calibri"/>
              </a:rPr>
              <a:t>Ni le frelon ni l'abeille ne volent la nuit : inutile d'alimenter la HT après le coucher du soleil. Supprimer la batterie réduit le coût et simplifie grandement l'entretien (pas de recharge de la batterie).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16"/>
          <p:cNvSpPr/>
          <p:nvPr/>
        </p:nvSpPr>
        <p:spPr>
          <a:xfrm>
            <a:off x="640080" y="4493160"/>
            <a:ext cx="54849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9c6e12"/>
                </a:solidFill>
                <a:latin typeface="Calibri"/>
                <a:ea typeface="Calibri"/>
              </a:rPr>
              <a:t>Positionnement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7"/>
          <p:cNvSpPr/>
          <p:nvPr/>
        </p:nvSpPr>
        <p:spPr>
          <a:xfrm>
            <a:off x="640080" y="4904640"/>
            <a:ext cx="96188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615749"/>
                </a:solidFill>
                <a:latin typeface="Calibri"/>
                <a:ea typeface="Calibri"/>
              </a:rPr>
              <a:t>Harpes placées parallèlement aux côtés de la ruche : elles interceptent les frelons qui arrivent par le flanc pour saisir les abeilles devant la planche d'envol.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3"/>
          <p:cNvSpPr/>
          <p:nvPr/>
        </p:nvSpPr>
        <p:spPr>
          <a:xfrm>
            <a:off x="11475720" y="6437520"/>
            <a:ext cx="108360" cy="10836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24"/>
          <p:cNvSpPr/>
          <p:nvPr/>
        </p:nvSpPr>
        <p:spPr>
          <a:xfrm>
            <a:off x="10424160" y="6327720"/>
            <a:ext cx="9586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c8270"/>
                </a:solidFill>
                <a:latin typeface="Calibri"/>
                <a:ea typeface="Calibri"/>
              </a:rPr>
              <a:t>2 / 17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25"/>
          <p:cNvSpPr/>
          <p:nvPr/>
        </p:nvSpPr>
        <p:spPr>
          <a:xfrm>
            <a:off x="502920" y="6327720"/>
            <a:ext cx="54849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99f8c"/>
                </a:solidFill>
                <a:latin typeface="Calibri"/>
                <a:ea typeface="Calibri"/>
              </a:rPr>
              <a:t>Harpe anti-frelons asiatiques - © J.N. Simonnet - 2026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1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0"/>
          <p:cNvSpPr/>
          <p:nvPr/>
        </p:nvSpPr>
        <p:spPr>
          <a:xfrm>
            <a:off x="-1463040" y="-1463040"/>
            <a:ext cx="3016080" cy="3016080"/>
          </a:xfrm>
          <a:prstGeom prst="ellipse">
            <a:avLst/>
          </a:prstGeom>
          <a:solidFill>
            <a:srgbClr val="e0a526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"/>
          <p:cNvSpPr/>
          <p:nvPr/>
        </p:nvSpPr>
        <p:spPr>
          <a:xfrm>
            <a:off x="10881360" y="5212080"/>
            <a:ext cx="2741760" cy="2741760"/>
          </a:xfrm>
          <a:prstGeom prst="ellipse">
            <a:avLst/>
          </a:prstGeom>
          <a:solidFill>
            <a:srgbClr val="e0a52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1005840" y="2331720"/>
            <a:ext cx="7313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389" strike="noStrike">
                <a:solidFill>
                  <a:srgbClr val="e0a526"/>
                </a:solidFill>
                <a:latin typeface="Calibri"/>
                <a:ea typeface="Calibri"/>
              </a:rPr>
              <a:t>PARTIE 2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Shape 4"/>
          <p:cNvSpPr/>
          <p:nvPr/>
        </p:nvSpPr>
        <p:spPr>
          <a:xfrm>
            <a:off x="1005840" y="3977640"/>
            <a:ext cx="1370160" cy="53280"/>
          </a:xfrm>
          <a:prstGeom prst="rect">
            <a:avLst/>
          </a:prstGeom>
          <a:solidFill>
            <a:srgbClr val="c844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5"/>
          <p:cNvSpPr/>
          <p:nvPr/>
        </p:nvSpPr>
        <p:spPr>
          <a:xfrm>
            <a:off x="1005840" y="4206240"/>
            <a:ext cx="95997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cfc6b4"/>
                </a:solidFill>
                <a:latin typeface="Calibri"/>
                <a:ea typeface="Calibri"/>
              </a:rPr>
              <a:t>Ce que conseillent les Groupements de Défense Sanitaire Apicole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8595360" y="914400"/>
            <a:ext cx="3656160" cy="50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0" spc="-1" strike="noStrike">
                <a:solidFill>
                  <a:srgbClr val="33260f"/>
                </a:solidFill>
                <a:latin typeface="Georgia"/>
                <a:ea typeface="Georgia"/>
              </a:rPr>
              <a:t>2</a:t>
            </a:r>
            <a:endParaRPr b="0" lang="fr-FR" sz="30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3"/>
          <p:cNvSpPr/>
          <p:nvPr/>
        </p:nvSpPr>
        <p:spPr>
          <a:xfrm>
            <a:off x="960120" y="2743200"/>
            <a:ext cx="10056960" cy="11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Georgia"/>
                <a:ea typeface="Georgia"/>
              </a:rPr>
              <a:t>Les recommandations des GDSA</a:t>
            </a:r>
            <a:endParaRPr b="0" lang="fr-FR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502920" y="457200"/>
            <a:ext cx="144720" cy="711720"/>
          </a:xfrm>
          <a:prstGeom prst="rect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"/>
          <p:cNvSpPr/>
          <p:nvPr/>
        </p:nvSpPr>
        <p:spPr>
          <a:xfrm>
            <a:off x="777240" y="420480"/>
            <a:ext cx="10605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1" strike="noStrike">
                <a:solidFill>
                  <a:srgbClr val="9c6e12"/>
                </a:solidFill>
                <a:latin typeface="Calibri"/>
                <a:ea typeface="Calibri"/>
              </a:rPr>
              <a:t>PARTIE 2 · GDSA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2"/>
          <p:cNvSpPr/>
          <p:nvPr/>
        </p:nvSpPr>
        <p:spPr>
          <a:xfrm>
            <a:off x="777240" y="658440"/>
            <a:ext cx="10879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3190e"/>
                </a:solidFill>
                <a:latin typeface="Georgia"/>
                <a:ea typeface="Georgia"/>
              </a:rPr>
              <a:t>Trois guides de référence en ligne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3"/>
          <p:cNvSpPr/>
          <p:nvPr/>
        </p:nvSpPr>
        <p:spPr>
          <a:xfrm>
            <a:off x="640080" y="1600200"/>
            <a:ext cx="3610440" cy="343872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4"/>
          <p:cNvSpPr/>
          <p:nvPr/>
        </p:nvSpPr>
        <p:spPr>
          <a:xfrm>
            <a:off x="640080" y="1600200"/>
            <a:ext cx="3610440" cy="775800"/>
          </a:xfrm>
          <a:prstGeom prst="rect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5"/>
          <p:cNvSpPr/>
          <p:nvPr/>
        </p:nvSpPr>
        <p:spPr>
          <a:xfrm>
            <a:off x="640080" y="1664280"/>
            <a:ext cx="36104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23190e"/>
                </a:solidFill>
                <a:latin typeface="Georgia"/>
                <a:ea typeface="Georgia"/>
              </a:rPr>
              <a:t>GDSA 29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6"/>
          <p:cNvSpPr/>
          <p:nvPr/>
        </p:nvSpPr>
        <p:spPr>
          <a:xfrm>
            <a:off x="640080" y="2084760"/>
            <a:ext cx="36104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89" strike="noStrike">
                <a:solidFill>
                  <a:srgbClr val="9c6e12"/>
                </a:solidFill>
                <a:latin typeface="Calibri"/>
                <a:ea typeface="Calibri"/>
              </a:rPr>
              <a:t>Finistère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7"/>
          <p:cNvSpPr/>
          <p:nvPr/>
        </p:nvSpPr>
        <p:spPr>
          <a:xfrm rot="21594600">
            <a:off x="752760" y="2600640"/>
            <a:ext cx="1406520" cy="171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15749"/>
                </a:solidFill>
                <a:latin typeface="Calibri"/>
                <a:ea typeface="Calibri"/>
              </a:rPr>
              <a:t>Propose un kit. Pas entre fils de 24 mm, montage sans ressorts. Montage avec isolateurs. Electrocution du frelon qui tombe dans un bac d’eau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8"/>
          <p:cNvSpPr/>
          <p:nvPr/>
        </p:nvSpPr>
        <p:spPr>
          <a:xfrm>
            <a:off x="640080" y="4650840"/>
            <a:ext cx="36104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50" spc="-1" strike="noStrike">
                <a:solidFill>
                  <a:srgbClr val="5e7d3e"/>
                </a:solidFill>
                <a:latin typeface="Calibri"/>
                <a:ea typeface="Calibri"/>
              </a:rPr>
              <a:t>gdsa29.fr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9"/>
          <p:cNvSpPr/>
          <p:nvPr/>
        </p:nvSpPr>
        <p:spPr>
          <a:xfrm>
            <a:off x="4498920" y="1600200"/>
            <a:ext cx="3610440" cy="343872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10"/>
          <p:cNvSpPr/>
          <p:nvPr/>
        </p:nvSpPr>
        <p:spPr>
          <a:xfrm>
            <a:off x="4498920" y="1600200"/>
            <a:ext cx="3610440" cy="775800"/>
          </a:xfrm>
          <a:prstGeom prst="rect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11"/>
          <p:cNvSpPr/>
          <p:nvPr/>
        </p:nvSpPr>
        <p:spPr>
          <a:xfrm>
            <a:off x="4498920" y="1664280"/>
            <a:ext cx="36104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23190e"/>
                </a:solidFill>
                <a:latin typeface="Georgia"/>
                <a:ea typeface="Georgia"/>
              </a:rPr>
              <a:t>GDSA 21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2"/>
          <p:cNvSpPr/>
          <p:nvPr/>
        </p:nvSpPr>
        <p:spPr>
          <a:xfrm>
            <a:off x="4498920" y="2084760"/>
            <a:ext cx="36104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89" strike="noStrike">
                <a:solidFill>
                  <a:srgbClr val="9c6e12"/>
                </a:solidFill>
                <a:latin typeface="Calibri"/>
                <a:ea typeface="Calibri"/>
              </a:rPr>
              <a:t>Côte-d'Or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13"/>
          <p:cNvSpPr/>
          <p:nvPr/>
        </p:nvSpPr>
        <p:spPr>
          <a:xfrm>
            <a:off x="4791600" y="2462040"/>
            <a:ext cx="1327320" cy="15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15749"/>
                </a:solidFill>
                <a:latin typeface="Calibri"/>
                <a:ea typeface="Calibri"/>
              </a:rPr>
              <a:t>Tréteaux + réglettes plastique percées + ressorts. Tension 1800V, puis kit commercial.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15749"/>
                </a:solidFill>
                <a:latin typeface="Calibri"/>
                <a:ea typeface="Calibri"/>
              </a:rPr>
              <a:t>Pas des fils 26–29 mm, ressorts inox pour la tension, module HT ~1800 V, condensateur pour  meilleure efficacité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4"/>
          <p:cNvSpPr/>
          <p:nvPr/>
        </p:nvSpPr>
        <p:spPr>
          <a:xfrm>
            <a:off x="4498920" y="4680000"/>
            <a:ext cx="36104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50" spc="-1" strike="noStrike">
                <a:solidFill>
                  <a:srgbClr val="5e7d3e"/>
                </a:solidFill>
                <a:latin typeface="Calibri"/>
                <a:ea typeface="Calibri"/>
              </a:rPr>
              <a:t>gdsa21.fr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15"/>
          <p:cNvSpPr/>
          <p:nvPr/>
        </p:nvSpPr>
        <p:spPr>
          <a:xfrm>
            <a:off x="8357760" y="1600200"/>
            <a:ext cx="3610440" cy="343872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Shape 16"/>
          <p:cNvSpPr/>
          <p:nvPr/>
        </p:nvSpPr>
        <p:spPr>
          <a:xfrm>
            <a:off x="8357760" y="1600200"/>
            <a:ext cx="3610440" cy="775800"/>
          </a:xfrm>
          <a:prstGeom prst="rect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7"/>
          <p:cNvSpPr/>
          <p:nvPr/>
        </p:nvSpPr>
        <p:spPr>
          <a:xfrm>
            <a:off x="8357760" y="1664280"/>
            <a:ext cx="36104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23190e"/>
                </a:solidFill>
                <a:latin typeface="Georgia"/>
                <a:ea typeface="Georgia"/>
              </a:rPr>
              <a:t>Abeilles 95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8"/>
          <p:cNvSpPr/>
          <p:nvPr/>
        </p:nvSpPr>
        <p:spPr>
          <a:xfrm>
            <a:off x="8357760" y="2084760"/>
            <a:ext cx="36104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89" strike="noStrike">
                <a:solidFill>
                  <a:srgbClr val="9c6e12"/>
                </a:solidFill>
                <a:latin typeface="Calibri"/>
                <a:ea typeface="Calibri"/>
              </a:rPr>
              <a:t>Val-d'Oise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19"/>
          <p:cNvSpPr/>
          <p:nvPr/>
        </p:nvSpPr>
        <p:spPr>
          <a:xfrm>
            <a:off x="8640000" y="2520000"/>
            <a:ext cx="1428840" cy="155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615749"/>
                </a:solidFill>
                <a:latin typeface="Calibri"/>
                <a:ea typeface="Calibri"/>
              </a:rPr>
              <a:t>Version initiale à base de gaines électriques (pas de 24 mm), puis base tréteau + punaises pour tableau de liège ou pièces imprimées en 3D. HT utilisant le même module que ma réalisation.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20"/>
          <p:cNvSpPr/>
          <p:nvPr/>
        </p:nvSpPr>
        <p:spPr>
          <a:xfrm>
            <a:off x="8357760" y="4686840"/>
            <a:ext cx="36104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50" spc="-1" strike="noStrike">
                <a:solidFill>
                  <a:srgbClr val="5e7d3e"/>
                </a:solidFill>
                <a:latin typeface="Calibri"/>
                <a:ea typeface="Calibri"/>
              </a:rPr>
              <a:t>abeilles95.fr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21"/>
          <p:cNvSpPr/>
          <p:nvPr/>
        </p:nvSpPr>
        <p:spPr>
          <a:xfrm>
            <a:off x="640080" y="5074920"/>
            <a:ext cx="109713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15749"/>
                </a:solidFill>
                <a:latin typeface="Calibri"/>
                <a:ea typeface="Calibri"/>
              </a:rPr>
              <a:t>Conception conseillée par les GDSA : fils espacés de 24–29 mm · ~1800–2000 V continu · bac à eau · protection pluie (dessus + côtés)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23"/>
          <p:cNvSpPr/>
          <p:nvPr/>
        </p:nvSpPr>
        <p:spPr>
          <a:xfrm>
            <a:off x="11475720" y="6437520"/>
            <a:ext cx="108360" cy="10836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24"/>
          <p:cNvSpPr/>
          <p:nvPr/>
        </p:nvSpPr>
        <p:spPr>
          <a:xfrm>
            <a:off x="10424160" y="6327720"/>
            <a:ext cx="9586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c8270"/>
                </a:solidFill>
                <a:latin typeface="Calibri"/>
                <a:ea typeface="Calibri"/>
              </a:rPr>
              <a:t>3 / 17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25"/>
          <p:cNvSpPr/>
          <p:nvPr/>
        </p:nvSpPr>
        <p:spPr>
          <a:xfrm>
            <a:off x="502920" y="6327720"/>
            <a:ext cx="54849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99f8c"/>
                </a:solidFill>
                <a:latin typeface="Calibri"/>
                <a:ea typeface="Calibri"/>
              </a:rPr>
              <a:t>Harpe anti-frelons asiatiques - © J.N. Simonnet - 2026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2340000" y="2520000"/>
            <a:ext cx="1798920" cy="1958760"/>
          </a:xfrm>
          <a:prstGeom prst="rect">
            <a:avLst/>
          </a:prstGeom>
          <a:ln w="0">
            <a:noFill/>
          </a:ln>
        </p:spPr>
      </p:pic>
      <p:pic>
        <p:nvPicPr>
          <p:cNvPr id="122" name="" descr=""/>
          <p:cNvPicPr/>
          <p:nvPr/>
        </p:nvPicPr>
        <p:blipFill>
          <a:blip r:embed="rId2"/>
          <a:stretch/>
        </p:blipFill>
        <p:spPr>
          <a:xfrm>
            <a:off x="6300000" y="2638800"/>
            <a:ext cx="1680120" cy="1680120"/>
          </a:xfrm>
          <a:prstGeom prst="rect">
            <a:avLst/>
          </a:prstGeom>
          <a:ln w="0">
            <a:noFill/>
          </a:ln>
        </p:spPr>
      </p:pic>
      <p:pic>
        <p:nvPicPr>
          <p:cNvPr id="123" name="" descr=""/>
          <p:cNvPicPr/>
          <p:nvPr/>
        </p:nvPicPr>
        <p:blipFill>
          <a:blip r:embed="rId3"/>
          <a:stretch/>
        </p:blipFill>
        <p:spPr>
          <a:xfrm>
            <a:off x="10191960" y="2595600"/>
            <a:ext cx="1686960" cy="1838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502920" y="457200"/>
            <a:ext cx="144720" cy="711720"/>
          </a:xfrm>
          <a:prstGeom prst="rect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1"/>
          <p:cNvSpPr/>
          <p:nvPr/>
        </p:nvSpPr>
        <p:spPr>
          <a:xfrm>
            <a:off x="777240" y="420480"/>
            <a:ext cx="10605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1" strike="noStrike">
                <a:solidFill>
                  <a:srgbClr val="9c6e12"/>
                </a:solidFill>
                <a:latin typeface="Calibri"/>
                <a:ea typeface="Calibri"/>
              </a:rPr>
              <a:t>PARTIE 2 · GDSA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 2"/>
          <p:cNvSpPr/>
          <p:nvPr/>
        </p:nvSpPr>
        <p:spPr>
          <a:xfrm>
            <a:off x="777240" y="658440"/>
            <a:ext cx="10879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3190e"/>
                </a:solidFill>
                <a:latin typeface="Georgia"/>
                <a:ea typeface="Georgia"/>
              </a:rPr>
              <a:t>Limites connues &amp; coût des solutions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3"/>
          <p:cNvSpPr/>
          <p:nvPr/>
        </p:nvSpPr>
        <p:spPr>
          <a:xfrm>
            <a:off x="640080" y="1600200"/>
            <a:ext cx="5484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9c6e12"/>
                </a:solidFill>
                <a:latin typeface="Calibri"/>
                <a:ea typeface="Calibri"/>
              </a:rPr>
              <a:t>Les limites identifiées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4"/>
          <p:cNvSpPr/>
          <p:nvPr/>
        </p:nvSpPr>
        <p:spPr>
          <a:xfrm>
            <a:off x="640080" y="2094120"/>
            <a:ext cx="144720" cy="144720"/>
          </a:xfrm>
          <a:prstGeom prst="ellipse">
            <a:avLst/>
          </a:prstGeom>
          <a:solidFill>
            <a:srgbClr val="c844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5"/>
          <p:cNvSpPr/>
          <p:nvPr/>
        </p:nvSpPr>
        <p:spPr>
          <a:xfrm>
            <a:off x="914400" y="1965960"/>
            <a:ext cx="50734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15749"/>
                </a:solidFill>
                <a:latin typeface="Calibri"/>
                <a:ea typeface="Calibri"/>
              </a:rPr>
              <a:t>La pluie est l'ennemi principal : l'humidité crée des fuites et fait s'écrouler la HT. Porter de l’attention à la protection du bois et à l’isolation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6"/>
          <p:cNvSpPr/>
          <p:nvPr/>
        </p:nvSpPr>
        <p:spPr>
          <a:xfrm>
            <a:off x="640080" y="2752200"/>
            <a:ext cx="144720" cy="144720"/>
          </a:xfrm>
          <a:prstGeom prst="ellipse">
            <a:avLst/>
          </a:prstGeom>
          <a:solidFill>
            <a:srgbClr val="c844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7"/>
          <p:cNvSpPr/>
          <p:nvPr/>
        </p:nvSpPr>
        <p:spPr>
          <a:xfrm>
            <a:off x="914400" y="2624400"/>
            <a:ext cx="50734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15749"/>
                </a:solidFill>
                <a:latin typeface="Calibri"/>
                <a:ea typeface="Calibri"/>
              </a:rPr>
              <a:t>Les gaines plastiques se dégradent aux UV : poreuses au bout d'une saison → perte d'isolation.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Shape 8"/>
          <p:cNvSpPr/>
          <p:nvPr/>
        </p:nvSpPr>
        <p:spPr>
          <a:xfrm>
            <a:off x="640080" y="3410640"/>
            <a:ext cx="144720" cy="144720"/>
          </a:xfrm>
          <a:prstGeom prst="ellipse">
            <a:avLst/>
          </a:prstGeom>
          <a:solidFill>
            <a:srgbClr val="c844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9"/>
          <p:cNvSpPr/>
          <p:nvPr/>
        </p:nvSpPr>
        <p:spPr>
          <a:xfrm>
            <a:off x="914400" y="3282840"/>
            <a:ext cx="50734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15749"/>
                </a:solidFill>
                <a:latin typeface="Calibri"/>
                <a:ea typeface="Calibri"/>
              </a:rPr>
              <a:t>Le matériel (panneaux, batteries) peut attirer les voleurs dans les ruchers isolés.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Shape 10"/>
          <p:cNvSpPr/>
          <p:nvPr/>
        </p:nvSpPr>
        <p:spPr>
          <a:xfrm>
            <a:off x="640080" y="4069080"/>
            <a:ext cx="144720" cy="144720"/>
          </a:xfrm>
          <a:prstGeom prst="ellipse">
            <a:avLst/>
          </a:prstGeom>
          <a:solidFill>
            <a:srgbClr val="c844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11"/>
          <p:cNvSpPr/>
          <p:nvPr/>
        </p:nvSpPr>
        <p:spPr>
          <a:xfrm>
            <a:off x="914400" y="3940920"/>
            <a:ext cx="50734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15749"/>
                </a:solidFill>
                <a:latin typeface="Calibri"/>
                <a:ea typeface="Calibri"/>
              </a:rPr>
              <a:t>Porter attention à la tension des fils inox (ne pas passer 1 seul fil, mais tendre des fils individuels connectés, risque de casse), idéalement utiliser des ressorts 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12"/>
          <p:cNvSpPr/>
          <p:nvPr/>
        </p:nvSpPr>
        <p:spPr>
          <a:xfrm>
            <a:off x="640080" y="4727520"/>
            <a:ext cx="144720" cy="144720"/>
          </a:xfrm>
          <a:prstGeom prst="ellipse">
            <a:avLst/>
          </a:prstGeom>
          <a:solidFill>
            <a:srgbClr val="c844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13"/>
          <p:cNvSpPr/>
          <p:nvPr/>
        </p:nvSpPr>
        <p:spPr>
          <a:xfrm>
            <a:off x="914400" y="4599360"/>
            <a:ext cx="50734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15749"/>
                </a:solidFill>
                <a:latin typeface="Calibri"/>
                <a:ea typeface="Calibri"/>
              </a:rPr>
              <a:t>Panneau solaire: perte de puissance significative par temps couvert, il est nécessaire de surdimensionner sa puissance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14"/>
          <p:cNvSpPr/>
          <p:nvPr/>
        </p:nvSpPr>
        <p:spPr>
          <a:xfrm>
            <a:off x="6400800" y="1600200"/>
            <a:ext cx="52106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9c6e12"/>
                </a:solidFill>
                <a:latin typeface="Calibri"/>
                <a:ea typeface="Calibri"/>
              </a:rPr>
              <a:t>Acheter ou fabriquer ?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15"/>
          <p:cNvSpPr/>
          <p:nvPr/>
        </p:nvSpPr>
        <p:spPr>
          <a:xfrm>
            <a:off x="6400800" y="2103120"/>
            <a:ext cx="5164920" cy="91296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16"/>
          <p:cNvSpPr/>
          <p:nvPr/>
        </p:nvSpPr>
        <p:spPr>
          <a:xfrm>
            <a:off x="6400800" y="2103120"/>
            <a:ext cx="126720" cy="912960"/>
          </a:xfrm>
          <a:prstGeom prst="rect">
            <a:avLst/>
          </a:prstGeom>
          <a:solidFill>
            <a:srgbClr val="5e7d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17"/>
          <p:cNvSpPr/>
          <p:nvPr/>
        </p:nvSpPr>
        <p:spPr>
          <a:xfrm>
            <a:off x="6675120" y="2212920"/>
            <a:ext cx="35838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23190e"/>
                </a:solidFill>
                <a:latin typeface="Calibri"/>
                <a:ea typeface="Calibri"/>
              </a:rPr>
              <a:t>Autoconstruction (GDSA + réglettes Naturapi)</a:t>
            </a:r>
            <a:br>
              <a:rPr sz="1350"/>
            </a:b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18"/>
          <p:cNvSpPr/>
          <p:nvPr/>
        </p:nvSpPr>
        <p:spPr>
          <a:xfrm>
            <a:off x="6675120" y="2678040"/>
            <a:ext cx="43038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c8270"/>
                </a:solidFill>
                <a:latin typeface="Calibri"/>
                <a:ea typeface="Calibri"/>
              </a:rPr>
              <a:t>3 harpes châssis bois + électronique + panneau solaire 50W + barrette isolation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19"/>
          <p:cNvSpPr/>
          <p:nvPr/>
        </p:nvSpPr>
        <p:spPr>
          <a:xfrm>
            <a:off x="9692640" y="2103120"/>
            <a:ext cx="178164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5e7d3e"/>
                </a:solidFill>
                <a:latin typeface="Georgia"/>
                <a:ea typeface="Georgia"/>
              </a:rPr>
              <a:t>~ 200 €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20"/>
          <p:cNvSpPr/>
          <p:nvPr/>
        </p:nvSpPr>
        <p:spPr>
          <a:xfrm>
            <a:off x="6400800" y="3182040"/>
            <a:ext cx="5164920" cy="91296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21"/>
          <p:cNvSpPr/>
          <p:nvPr/>
        </p:nvSpPr>
        <p:spPr>
          <a:xfrm>
            <a:off x="6400800" y="3182040"/>
            <a:ext cx="126720" cy="912960"/>
          </a:xfrm>
          <a:prstGeom prst="rect">
            <a:avLst/>
          </a:prstGeom>
          <a:solidFill>
            <a:srgbClr val="9c6e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22"/>
          <p:cNvSpPr/>
          <p:nvPr/>
        </p:nvSpPr>
        <p:spPr>
          <a:xfrm>
            <a:off x="6675120" y="3291840"/>
            <a:ext cx="310752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23190e"/>
                </a:solidFill>
                <a:latin typeface="Calibri"/>
                <a:ea typeface="Calibri"/>
              </a:rPr>
              <a:t>Kit SANVE (3 harpes + élec.)</a:t>
            </a:r>
            <a:br>
              <a:rPr sz="1350"/>
            </a:b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23"/>
          <p:cNvSpPr/>
          <p:nvPr/>
        </p:nvSpPr>
        <p:spPr>
          <a:xfrm>
            <a:off x="6675120" y="3756960"/>
            <a:ext cx="31075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c8270"/>
                </a:solidFill>
                <a:latin typeface="Calibri"/>
                <a:ea typeface="Calibri"/>
              </a:rPr>
              <a:t>site espagnol, panneau solaire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24"/>
          <p:cNvSpPr/>
          <p:nvPr/>
        </p:nvSpPr>
        <p:spPr>
          <a:xfrm>
            <a:off x="9692640" y="3182040"/>
            <a:ext cx="178164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9c6e12"/>
                </a:solidFill>
                <a:latin typeface="Georgia"/>
                <a:ea typeface="Georgia"/>
              </a:rPr>
              <a:t>580 €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Shape 25"/>
          <p:cNvSpPr/>
          <p:nvPr/>
        </p:nvSpPr>
        <p:spPr>
          <a:xfrm>
            <a:off x="6400800" y="4260960"/>
            <a:ext cx="5164920" cy="91296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26"/>
          <p:cNvSpPr/>
          <p:nvPr/>
        </p:nvSpPr>
        <p:spPr>
          <a:xfrm>
            <a:off x="6400800" y="4260960"/>
            <a:ext cx="126720" cy="912960"/>
          </a:xfrm>
          <a:prstGeom prst="rect">
            <a:avLst/>
          </a:prstGeom>
          <a:solidFill>
            <a:srgbClr val="c844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27"/>
          <p:cNvSpPr/>
          <p:nvPr/>
        </p:nvSpPr>
        <p:spPr>
          <a:xfrm>
            <a:off x="6675120" y="4370760"/>
            <a:ext cx="310752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23190e"/>
                </a:solidFill>
                <a:latin typeface="Calibri"/>
                <a:ea typeface="Calibri"/>
              </a:rPr>
              <a:t>Kit 3 harpes NaturAPI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28"/>
          <p:cNvSpPr/>
          <p:nvPr/>
        </p:nvSpPr>
        <p:spPr>
          <a:xfrm>
            <a:off x="6675120" y="4763880"/>
            <a:ext cx="39438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c8270"/>
                </a:solidFill>
                <a:latin typeface="Calibri"/>
                <a:ea typeface="Calibri"/>
              </a:rPr>
              <a:t>3 harpes châssis alu montées + électronique + panneau solaire 20W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29"/>
          <p:cNvSpPr/>
          <p:nvPr/>
        </p:nvSpPr>
        <p:spPr>
          <a:xfrm>
            <a:off x="9692640" y="4260960"/>
            <a:ext cx="178164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c8442e"/>
                </a:solidFill>
                <a:latin typeface="Georgia"/>
                <a:ea typeface="Georgia"/>
              </a:rPr>
              <a:t>479 €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30"/>
          <p:cNvSpPr/>
          <p:nvPr/>
        </p:nvSpPr>
        <p:spPr>
          <a:xfrm>
            <a:off x="2322000" y="5616000"/>
            <a:ext cx="76849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15749"/>
                </a:solidFill>
                <a:latin typeface="Calibri"/>
                <a:ea typeface="Calibri"/>
              </a:rPr>
              <a:t>La fabrication des harpes reste simple : à la portée de tout bricoleur expérimenté (mécanique + électronique simple).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15749"/>
                </a:solidFill>
                <a:latin typeface="Calibri"/>
                <a:ea typeface="Calibri"/>
              </a:rPr>
              <a:t>Environ 1 semaine de travail (temps de séchage vernis compris) + délai de commande ~10J pour l’électronique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31"/>
          <p:cNvSpPr/>
          <p:nvPr/>
        </p:nvSpPr>
        <p:spPr>
          <a:xfrm>
            <a:off x="11475720" y="6437520"/>
            <a:ext cx="108360" cy="10836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32"/>
          <p:cNvSpPr/>
          <p:nvPr/>
        </p:nvSpPr>
        <p:spPr>
          <a:xfrm>
            <a:off x="10424160" y="6327720"/>
            <a:ext cx="9586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c8270"/>
                </a:solidFill>
                <a:latin typeface="Calibri"/>
                <a:ea typeface="Calibri"/>
              </a:rPr>
              <a:t>4 / 17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33"/>
          <p:cNvSpPr/>
          <p:nvPr/>
        </p:nvSpPr>
        <p:spPr>
          <a:xfrm>
            <a:off x="502920" y="6327720"/>
            <a:ext cx="54849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99f8c"/>
                </a:solidFill>
                <a:latin typeface="Calibri"/>
                <a:ea typeface="Calibri"/>
              </a:rPr>
              <a:t>Harpe anti-frelons asiatiques - © J.N. Simonnet - 2026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27"/>
          <p:cNvSpPr/>
          <p:nvPr/>
        </p:nvSpPr>
        <p:spPr>
          <a:xfrm>
            <a:off x="6400800" y="4260960"/>
            <a:ext cx="126720" cy="912960"/>
          </a:xfrm>
          <a:prstGeom prst="rect">
            <a:avLst/>
          </a:prstGeom>
          <a:solidFill>
            <a:srgbClr val="c844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30"/>
          <p:cNvSpPr/>
          <p:nvPr/>
        </p:nvSpPr>
        <p:spPr>
          <a:xfrm>
            <a:off x="6400800" y="4260960"/>
            <a:ext cx="126720" cy="912960"/>
          </a:xfrm>
          <a:prstGeom prst="rect">
            <a:avLst/>
          </a:prstGeom>
          <a:solidFill>
            <a:srgbClr val="c844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hape 32"/>
          <p:cNvSpPr/>
          <p:nvPr/>
        </p:nvSpPr>
        <p:spPr>
          <a:xfrm>
            <a:off x="6400800" y="4260960"/>
            <a:ext cx="126720" cy="912960"/>
          </a:xfrm>
          <a:prstGeom prst="rect">
            <a:avLst/>
          </a:prstGeom>
          <a:solidFill>
            <a:srgbClr val="c844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1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89"/>
          <p:cNvSpPr/>
          <p:nvPr/>
        </p:nvSpPr>
        <p:spPr>
          <a:xfrm>
            <a:off x="-1463040" y="-1463040"/>
            <a:ext cx="3016080" cy="3016080"/>
          </a:xfrm>
          <a:prstGeom prst="ellipse">
            <a:avLst/>
          </a:prstGeom>
          <a:solidFill>
            <a:srgbClr val="e0a526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92"/>
          <p:cNvSpPr/>
          <p:nvPr/>
        </p:nvSpPr>
        <p:spPr>
          <a:xfrm>
            <a:off x="10881360" y="5212080"/>
            <a:ext cx="2741760" cy="2741760"/>
          </a:xfrm>
          <a:prstGeom prst="ellipse">
            <a:avLst/>
          </a:prstGeom>
          <a:solidFill>
            <a:srgbClr val="e0a52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136"/>
          <p:cNvSpPr/>
          <p:nvPr/>
        </p:nvSpPr>
        <p:spPr>
          <a:xfrm>
            <a:off x="1005840" y="2331720"/>
            <a:ext cx="7313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389" strike="noStrike">
                <a:solidFill>
                  <a:srgbClr val="e0a526"/>
                </a:solidFill>
                <a:latin typeface="Calibri"/>
                <a:ea typeface="Calibri"/>
              </a:rPr>
              <a:t>PARTIE 3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137"/>
          <p:cNvSpPr/>
          <p:nvPr/>
        </p:nvSpPr>
        <p:spPr>
          <a:xfrm>
            <a:off x="960120" y="2743200"/>
            <a:ext cx="10056960" cy="11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Georgia"/>
                <a:ea typeface="Georgia"/>
              </a:rPr>
              <a:t>Précautions d'installation</a:t>
            </a:r>
            <a:endParaRPr b="0" lang="fr-F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93"/>
          <p:cNvSpPr/>
          <p:nvPr/>
        </p:nvSpPr>
        <p:spPr>
          <a:xfrm>
            <a:off x="1005840" y="3977640"/>
            <a:ext cx="1370160" cy="53280"/>
          </a:xfrm>
          <a:prstGeom prst="rect">
            <a:avLst/>
          </a:prstGeom>
          <a:solidFill>
            <a:srgbClr val="c844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138"/>
          <p:cNvSpPr/>
          <p:nvPr/>
        </p:nvSpPr>
        <p:spPr>
          <a:xfrm>
            <a:off x="1005840" y="4206240"/>
            <a:ext cx="95997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cfc6b4"/>
                </a:solidFill>
                <a:latin typeface="Calibri"/>
                <a:ea typeface="Calibri"/>
              </a:rPr>
              <a:t>Là où la harpe peut nuire — et comment l'éviter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139"/>
          <p:cNvSpPr/>
          <p:nvPr/>
        </p:nvSpPr>
        <p:spPr>
          <a:xfrm>
            <a:off x="8595360" y="914400"/>
            <a:ext cx="3656160" cy="50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0" spc="-1" strike="noStrike">
                <a:solidFill>
                  <a:srgbClr val="33260f"/>
                </a:solidFill>
                <a:latin typeface="Georgia"/>
                <a:ea typeface="Georgia"/>
              </a:rPr>
              <a:t>3</a:t>
            </a:r>
            <a:endParaRPr b="0" lang="fr-FR" sz="30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39"/>
          <p:cNvSpPr/>
          <p:nvPr/>
        </p:nvSpPr>
        <p:spPr>
          <a:xfrm>
            <a:off x="502920" y="457200"/>
            <a:ext cx="144720" cy="711720"/>
          </a:xfrm>
          <a:prstGeom prst="rect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44"/>
          <p:cNvSpPr/>
          <p:nvPr/>
        </p:nvSpPr>
        <p:spPr>
          <a:xfrm>
            <a:off x="777240" y="420480"/>
            <a:ext cx="10605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1" strike="noStrike">
                <a:solidFill>
                  <a:srgbClr val="9c6e12"/>
                </a:solidFill>
                <a:latin typeface="Calibri"/>
                <a:ea typeface="Calibri"/>
              </a:rPr>
              <a:t>PRÉCAUTIONS D'INSTALLATION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45"/>
          <p:cNvSpPr/>
          <p:nvPr/>
        </p:nvSpPr>
        <p:spPr>
          <a:xfrm>
            <a:off x="777240" y="658440"/>
            <a:ext cx="10879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3190e"/>
                </a:solidFill>
                <a:latin typeface="Georgia"/>
                <a:ea typeface="Georgia"/>
              </a:rPr>
              <a:t>Le point d'attention majeur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40"/>
          <p:cNvSpPr/>
          <p:nvPr/>
        </p:nvSpPr>
        <p:spPr>
          <a:xfrm>
            <a:off x="640080" y="1554480"/>
            <a:ext cx="10698840" cy="964440"/>
          </a:xfrm>
          <a:prstGeom prst="rect">
            <a:avLst/>
          </a:prstGeom>
          <a:solidFill>
            <a:srgbClr val="fbebe6"/>
          </a:solidFill>
          <a:ln w="19050">
            <a:solidFill>
              <a:srgbClr val="c8442e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42"/>
          <p:cNvSpPr/>
          <p:nvPr/>
        </p:nvSpPr>
        <p:spPr>
          <a:xfrm>
            <a:off x="640080" y="1554480"/>
            <a:ext cx="163080" cy="964440"/>
          </a:xfrm>
          <a:prstGeom prst="rect">
            <a:avLst/>
          </a:prstGeom>
          <a:solidFill>
            <a:srgbClr val="c844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46"/>
          <p:cNvSpPr/>
          <p:nvPr/>
        </p:nvSpPr>
        <p:spPr>
          <a:xfrm>
            <a:off x="960120" y="1675080"/>
            <a:ext cx="101988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c8442e"/>
                </a:solidFill>
                <a:latin typeface="Calibri"/>
                <a:ea typeface="Calibri"/>
              </a:rPr>
              <a:t>⚠  </a:t>
            </a:r>
            <a:r>
              <a:rPr b="1" lang="en-US" sz="2000" spc="-1" strike="noStrike">
                <a:solidFill>
                  <a:srgbClr val="c8442e"/>
                </a:solidFill>
                <a:latin typeface="Calibri"/>
                <a:ea typeface="Calibri"/>
              </a:rPr>
              <a:t>Ne jamais utiliser pour une ruche ou ruchette contenant un essaim artificiel récent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47"/>
          <p:cNvSpPr/>
          <p:nvPr/>
        </p:nvSpPr>
        <p:spPr>
          <a:xfrm>
            <a:off x="1068120" y="1991880"/>
            <a:ext cx="1019880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95412f"/>
                </a:solidFill>
                <a:latin typeface="Calibri"/>
                <a:ea typeface="Calibri"/>
              </a:rPr>
              <a:t>La reine vierge n'a pas encore fait son vol de fécondation. </a:t>
            </a:r>
            <a:r>
              <a:rPr b="1" lang="en-US" sz="1500" spc="-1" strike="noStrike">
                <a:solidFill>
                  <a:srgbClr val="7a2a1c"/>
                </a:solidFill>
                <a:latin typeface="Calibri"/>
                <a:ea typeface="Calibri"/>
              </a:rPr>
              <a:t>Son envergure est comparable à celle du frelon asiatique</a:t>
            </a:r>
            <a:r>
              <a:rPr b="0" lang="en-US" sz="1500" spc="-1" strike="noStrike">
                <a:solidFill>
                  <a:srgbClr val="95412f"/>
                </a:solidFill>
                <a:latin typeface="Calibri"/>
                <a:ea typeface="Calibri"/>
              </a:rPr>
              <a:t>.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48"/>
          <p:cNvSpPr/>
          <p:nvPr/>
        </p:nvSpPr>
        <p:spPr>
          <a:xfrm>
            <a:off x="4694040" y="3054600"/>
            <a:ext cx="48448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9c6e12"/>
                </a:solidFill>
                <a:latin typeface="Calibri"/>
                <a:ea typeface="Calibri"/>
              </a:rPr>
              <a:t>Bonnes règles de placement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Shape 43"/>
          <p:cNvSpPr/>
          <p:nvPr/>
        </p:nvSpPr>
        <p:spPr>
          <a:xfrm>
            <a:off x="720000" y="3852360"/>
            <a:ext cx="309600" cy="30960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51"/>
          <p:cNvSpPr/>
          <p:nvPr/>
        </p:nvSpPr>
        <p:spPr>
          <a:xfrm>
            <a:off x="720000" y="3852360"/>
            <a:ext cx="3096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3190e"/>
                </a:solidFill>
                <a:latin typeface="Georgia"/>
                <a:ea typeface="Georgia"/>
              </a:rPr>
              <a:t>1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52"/>
          <p:cNvSpPr/>
          <p:nvPr/>
        </p:nvSpPr>
        <p:spPr>
          <a:xfrm>
            <a:off x="1177200" y="3770280"/>
            <a:ext cx="43876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3190e"/>
                </a:solidFill>
                <a:latin typeface="Calibri"/>
                <a:ea typeface="Calibri"/>
              </a:rPr>
              <a:t>Une harpe pour 5 ruches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53"/>
          <p:cNvSpPr/>
          <p:nvPr/>
        </p:nvSpPr>
        <p:spPr>
          <a:xfrm>
            <a:off x="1177200" y="4071960"/>
            <a:ext cx="43876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15749"/>
                </a:solidFill>
                <a:latin typeface="Calibri"/>
                <a:ea typeface="Calibri"/>
              </a:rPr>
              <a:t>aux extrémités d'un alignement, perpendiculaire à la ligne de ruches.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44"/>
          <p:cNvSpPr/>
          <p:nvPr/>
        </p:nvSpPr>
        <p:spPr>
          <a:xfrm>
            <a:off x="720000" y="4766760"/>
            <a:ext cx="309600" cy="30960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54"/>
          <p:cNvSpPr/>
          <p:nvPr/>
        </p:nvSpPr>
        <p:spPr>
          <a:xfrm>
            <a:off x="720000" y="4766760"/>
            <a:ext cx="3096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3190e"/>
                </a:solidFill>
                <a:latin typeface="Georgia"/>
                <a:ea typeface="Georgia"/>
              </a:rPr>
              <a:t>2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55"/>
          <p:cNvSpPr/>
          <p:nvPr/>
        </p:nvSpPr>
        <p:spPr>
          <a:xfrm>
            <a:off x="1177200" y="4684680"/>
            <a:ext cx="43876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3190e"/>
                </a:solidFill>
                <a:latin typeface="Calibri"/>
                <a:ea typeface="Calibri"/>
              </a:rPr>
              <a:t>Utiliser harpes et pièges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56"/>
          <p:cNvSpPr/>
          <p:nvPr/>
        </p:nvSpPr>
        <p:spPr>
          <a:xfrm>
            <a:off x="1177200" y="4986360"/>
            <a:ext cx="43876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15749"/>
                </a:solidFill>
                <a:latin typeface="Calibri"/>
                <a:ea typeface="Calibri"/>
              </a:rPr>
              <a:t>un couloir de grillage à ~1 m devant les ruches peut être utile pour oriente leur vol vers la harpe.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45"/>
          <p:cNvSpPr/>
          <p:nvPr/>
        </p:nvSpPr>
        <p:spPr>
          <a:xfrm>
            <a:off x="6903720" y="3779280"/>
            <a:ext cx="309600" cy="30960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57"/>
          <p:cNvSpPr/>
          <p:nvPr/>
        </p:nvSpPr>
        <p:spPr>
          <a:xfrm>
            <a:off x="6903720" y="3779280"/>
            <a:ext cx="3096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3190e"/>
                </a:solidFill>
                <a:latin typeface="Georgia"/>
                <a:ea typeface="Georgia"/>
              </a:rPr>
              <a:t>3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58"/>
          <p:cNvSpPr/>
          <p:nvPr/>
        </p:nvSpPr>
        <p:spPr>
          <a:xfrm>
            <a:off x="7360920" y="3697200"/>
            <a:ext cx="43876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3190e"/>
                </a:solidFill>
                <a:latin typeface="Calibri"/>
                <a:ea typeface="Calibri"/>
              </a:rPr>
              <a:t>Parallèle au flanc des ruches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59"/>
          <p:cNvSpPr/>
          <p:nvPr/>
        </p:nvSpPr>
        <p:spPr>
          <a:xfrm>
            <a:off x="7360920" y="3998880"/>
            <a:ext cx="43876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15749"/>
                </a:solidFill>
                <a:latin typeface="Calibri"/>
                <a:ea typeface="Calibri"/>
              </a:rPr>
              <a:t>pour intercepter les frelons qui arrivent par le côté, devant la planche d'envol.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Shape 46"/>
          <p:cNvSpPr/>
          <p:nvPr/>
        </p:nvSpPr>
        <p:spPr>
          <a:xfrm>
            <a:off x="6903720" y="4693680"/>
            <a:ext cx="309600" cy="30960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60"/>
          <p:cNvSpPr/>
          <p:nvPr/>
        </p:nvSpPr>
        <p:spPr>
          <a:xfrm>
            <a:off x="6903720" y="4693680"/>
            <a:ext cx="3096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3190e"/>
                </a:solidFill>
                <a:latin typeface="Georgia"/>
                <a:ea typeface="Georgia"/>
              </a:rPr>
              <a:t>4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61"/>
          <p:cNvSpPr/>
          <p:nvPr/>
        </p:nvSpPr>
        <p:spPr>
          <a:xfrm>
            <a:off x="7360920" y="4611600"/>
            <a:ext cx="43876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3190e"/>
                </a:solidFill>
                <a:latin typeface="Calibri"/>
                <a:ea typeface="Calibri"/>
              </a:rPr>
              <a:t>Entretenir régulièrement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62"/>
          <p:cNvSpPr/>
          <p:nvPr/>
        </p:nvSpPr>
        <p:spPr>
          <a:xfrm>
            <a:off x="7360920" y="4913280"/>
            <a:ext cx="43876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15749"/>
                </a:solidFill>
                <a:latin typeface="Calibri"/>
                <a:ea typeface="Calibri"/>
              </a:rPr>
              <a:t>retirer souvent les frelons ; signaler la zone par un panneau « Danger Haute Tension ».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47"/>
          <p:cNvSpPr/>
          <p:nvPr/>
        </p:nvSpPr>
        <p:spPr>
          <a:xfrm>
            <a:off x="11475720" y="6437520"/>
            <a:ext cx="108360" cy="10836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63"/>
          <p:cNvSpPr/>
          <p:nvPr/>
        </p:nvSpPr>
        <p:spPr>
          <a:xfrm>
            <a:off x="8595360" y="6327720"/>
            <a:ext cx="27874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c8270"/>
                </a:solidFill>
                <a:latin typeface="Calibri"/>
                <a:ea typeface="Calibri"/>
              </a:rPr>
              <a:t>12 / 17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64"/>
          <p:cNvSpPr/>
          <p:nvPr/>
        </p:nvSpPr>
        <p:spPr>
          <a:xfrm>
            <a:off x="502920" y="6327720"/>
            <a:ext cx="54849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99f8c"/>
                </a:solidFill>
                <a:latin typeface="Calibri"/>
                <a:ea typeface="Calibri"/>
              </a:rPr>
              <a:t>Harpe anti-frelons asiatiques - © J.N. Simonnet - 2026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48"/>
          <p:cNvSpPr/>
          <p:nvPr/>
        </p:nvSpPr>
        <p:spPr>
          <a:xfrm>
            <a:off x="502920" y="457200"/>
            <a:ext cx="144720" cy="711720"/>
          </a:xfrm>
          <a:prstGeom prst="rect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65"/>
          <p:cNvSpPr/>
          <p:nvPr/>
        </p:nvSpPr>
        <p:spPr>
          <a:xfrm>
            <a:off x="777240" y="420480"/>
            <a:ext cx="10605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1" strike="noStrike">
                <a:solidFill>
                  <a:srgbClr val="9c6e12"/>
                </a:solidFill>
                <a:latin typeface="Calibri"/>
                <a:ea typeface="Calibri"/>
              </a:rPr>
              <a:t>PRÉCAUTIONS D'INSTALLATION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66"/>
          <p:cNvSpPr/>
          <p:nvPr/>
        </p:nvSpPr>
        <p:spPr>
          <a:xfrm>
            <a:off x="777240" y="658440"/>
            <a:ext cx="10879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3190e"/>
                </a:solidFill>
                <a:latin typeface="Georgia"/>
                <a:ea typeface="Georgia"/>
              </a:rPr>
              <a:t>Le choix du bac est critique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67"/>
          <p:cNvSpPr/>
          <p:nvPr/>
        </p:nvSpPr>
        <p:spPr>
          <a:xfrm>
            <a:off x="640080" y="1481400"/>
            <a:ext cx="73137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615749"/>
                </a:solidFill>
                <a:latin typeface="Calibri"/>
                <a:ea typeface="Calibri"/>
              </a:rPr>
              <a:t>Sous la harpe, le liquide du bac noie le frelon étourdi — mais un mauvais choix piège aussi les abeilles. Retour d'expérience (octobre 2025) :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Shape 49"/>
          <p:cNvSpPr/>
          <p:nvPr/>
        </p:nvSpPr>
        <p:spPr>
          <a:xfrm>
            <a:off x="640080" y="2240280"/>
            <a:ext cx="6198840" cy="91296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Shape 50"/>
          <p:cNvSpPr/>
          <p:nvPr/>
        </p:nvSpPr>
        <p:spPr>
          <a:xfrm>
            <a:off x="640080" y="2240280"/>
            <a:ext cx="126720" cy="912960"/>
          </a:xfrm>
          <a:prstGeom prst="rect">
            <a:avLst/>
          </a:prstGeom>
          <a:solidFill>
            <a:srgbClr val="c844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68"/>
          <p:cNvSpPr/>
          <p:nvPr/>
        </p:nvSpPr>
        <p:spPr>
          <a:xfrm>
            <a:off x="914400" y="2350080"/>
            <a:ext cx="27417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3190e"/>
                </a:solidFill>
                <a:latin typeface="Calibri"/>
                <a:ea typeface="Calibri"/>
              </a:rPr>
              <a:t>Eau pure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69"/>
          <p:cNvSpPr/>
          <p:nvPr/>
        </p:nvSpPr>
        <p:spPr>
          <a:xfrm>
            <a:off x="914400" y="2743200"/>
            <a:ext cx="274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89" strike="noStrike">
                <a:solidFill>
                  <a:srgbClr val="c8442e"/>
                </a:solidFill>
                <a:latin typeface="Calibri"/>
                <a:ea typeface="Calibri"/>
              </a:rPr>
              <a:t>À ÉVITER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70"/>
          <p:cNvSpPr/>
          <p:nvPr/>
        </p:nvSpPr>
        <p:spPr>
          <a:xfrm>
            <a:off x="3199320" y="2240280"/>
            <a:ext cx="383904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15749"/>
                </a:solidFill>
                <a:latin typeface="Calibri"/>
                <a:ea typeface="Calibri"/>
              </a:rPr>
              <a:t>≈ </a:t>
            </a:r>
            <a:r>
              <a:rPr b="0" lang="en-US" sz="1250" spc="-1" strike="noStrike">
                <a:solidFill>
                  <a:srgbClr val="615749"/>
                </a:solidFill>
                <a:latin typeface="Calibri"/>
                <a:ea typeface="Calibri"/>
              </a:rPr>
              <a:t>50 abeilles noyées dès le lendemain (venues boire).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51"/>
          <p:cNvSpPr/>
          <p:nvPr/>
        </p:nvSpPr>
        <p:spPr>
          <a:xfrm>
            <a:off x="640080" y="3319200"/>
            <a:ext cx="6198840" cy="91296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Shape 52"/>
          <p:cNvSpPr/>
          <p:nvPr/>
        </p:nvSpPr>
        <p:spPr>
          <a:xfrm>
            <a:off x="640080" y="3319200"/>
            <a:ext cx="126720" cy="912960"/>
          </a:xfrm>
          <a:prstGeom prst="rect">
            <a:avLst/>
          </a:prstGeom>
          <a:solidFill>
            <a:srgbClr val="9c6e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71"/>
          <p:cNvSpPr/>
          <p:nvPr/>
        </p:nvSpPr>
        <p:spPr>
          <a:xfrm>
            <a:off x="914400" y="3429000"/>
            <a:ext cx="27417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3190e"/>
                </a:solidFill>
                <a:latin typeface="Calibri"/>
                <a:ea typeface="Calibri"/>
              </a:rPr>
              <a:t>Huile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72"/>
          <p:cNvSpPr/>
          <p:nvPr/>
        </p:nvSpPr>
        <p:spPr>
          <a:xfrm>
            <a:off x="914400" y="3822120"/>
            <a:ext cx="274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89" strike="noStrike">
                <a:solidFill>
                  <a:srgbClr val="9c6e12"/>
                </a:solidFill>
                <a:latin typeface="Calibri"/>
                <a:ea typeface="Calibri"/>
              </a:rPr>
              <a:t>INSUFFISANT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73"/>
          <p:cNvSpPr/>
          <p:nvPr/>
        </p:nvSpPr>
        <p:spPr>
          <a:xfrm>
            <a:off x="3199320" y="3319200"/>
            <a:ext cx="383904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15749"/>
                </a:solidFill>
                <a:latin typeface="Calibri"/>
                <a:ea typeface="Calibri"/>
              </a:rPr>
              <a:t>Encore une dizaine d'abeilles engluées.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53"/>
          <p:cNvSpPr/>
          <p:nvPr/>
        </p:nvSpPr>
        <p:spPr>
          <a:xfrm>
            <a:off x="640080" y="4398120"/>
            <a:ext cx="6198840" cy="91296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54"/>
          <p:cNvSpPr/>
          <p:nvPr/>
        </p:nvSpPr>
        <p:spPr>
          <a:xfrm>
            <a:off x="640080" y="4398120"/>
            <a:ext cx="126720" cy="912960"/>
          </a:xfrm>
          <a:prstGeom prst="rect">
            <a:avLst/>
          </a:prstGeom>
          <a:solidFill>
            <a:srgbClr val="5e7d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74"/>
          <p:cNvSpPr/>
          <p:nvPr/>
        </p:nvSpPr>
        <p:spPr>
          <a:xfrm>
            <a:off x="914400" y="4507920"/>
            <a:ext cx="27417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3190e"/>
                </a:solidFill>
                <a:latin typeface="Calibri"/>
                <a:ea typeface="Calibri"/>
              </a:rPr>
              <a:t>Eau + liquide vaisselle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75"/>
          <p:cNvSpPr/>
          <p:nvPr/>
        </p:nvSpPr>
        <p:spPr>
          <a:xfrm>
            <a:off x="914400" y="4901040"/>
            <a:ext cx="274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89" strike="noStrike">
                <a:solidFill>
                  <a:srgbClr val="5e7d3e"/>
                </a:solidFill>
                <a:latin typeface="Calibri"/>
                <a:ea typeface="Calibri"/>
              </a:rPr>
              <a:t>RECOMMANDÉ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76"/>
          <p:cNvSpPr/>
          <p:nvPr/>
        </p:nvSpPr>
        <p:spPr>
          <a:xfrm>
            <a:off x="3199320" y="4398120"/>
            <a:ext cx="383904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15749"/>
                </a:solidFill>
                <a:latin typeface="Calibri"/>
                <a:ea typeface="Calibri"/>
              </a:rPr>
              <a:t>Limite fortement — sans supprimer totalement — les captures d'abeilles.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Shape 55"/>
          <p:cNvSpPr/>
          <p:nvPr/>
        </p:nvSpPr>
        <p:spPr>
          <a:xfrm>
            <a:off x="640080" y="5532120"/>
            <a:ext cx="10338840" cy="406800"/>
          </a:xfrm>
          <a:prstGeom prst="rect">
            <a:avLst/>
          </a:prstGeom>
          <a:solidFill>
            <a:srgbClr val="2319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77"/>
          <p:cNvSpPr/>
          <p:nvPr/>
        </p:nvSpPr>
        <p:spPr>
          <a:xfrm>
            <a:off x="868680" y="5532120"/>
            <a:ext cx="9930240" cy="40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0a526"/>
                </a:solidFill>
                <a:latin typeface="Calibri"/>
                <a:ea typeface="Calibri"/>
              </a:rPr>
              <a:t>À retenir  </a:t>
            </a:r>
            <a:r>
              <a:rPr b="0" lang="en-US" sz="1250" spc="-1" strike="noStrike">
                <a:solidFill>
                  <a:srgbClr val="e9e1cf"/>
                </a:solidFill>
                <a:latin typeface="Calibri"/>
                <a:ea typeface="Calibri"/>
              </a:rPr>
              <a:t>préférer un produit non parfumé (savon glycériné type vaisselle Palmolive) ; ne pas placer la harpe sur le passage des abeilles.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56"/>
          <p:cNvSpPr/>
          <p:nvPr/>
        </p:nvSpPr>
        <p:spPr>
          <a:xfrm>
            <a:off x="11475720" y="6437520"/>
            <a:ext cx="108360" cy="10836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78"/>
          <p:cNvSpPr/>
          <p:nvPr/>
        </p:nvSpPr>
        <p:spPr>
          <a:xfrm>
            <a:off x="8595360" y="6327720"/>
            <a:ext cx="27874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c8270"/>
                </a:solidFill>
                <a:latin typeface="Calibri"/>
                <a:ea typeface="Calibri"/>
              </a:rPr>
              <a:t>13 / 17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79"/>
          <p:cNvSpPr/>
          <p:nvPr/>
        </p:nvSpPr>
        <p:spPr>
          <a:xfrm>
            <a:off x="502920" y="6327720"/>
            <a:ext cx="54849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99f8c"/>
                </a:solidFill>
                <a:latin typeface="Calibri"/>
                <a:ea typeface="Calibri"/>
              </a:rPr>
              <a:t>Harpe anti-frelons asiatiques - © J.N. Simonnet - 2026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9" name="" descr=""/>
          <p:cNvPicPr/>
          <p:nvPr/>
        </p:nvPicPr>
        <p:blipFill>
          <a:blip r:embed="rId1"/>
          <a:stretch/>
        </p:blipFill>
        <p:spPr>
          <a:xfrm>
            <a:off x="7020000" y="2270520"/>
            <a:ext cx="5029920" cy="2948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1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36"/>
          <p:cNvSpPr/>
          <p:nvPr/>
        </p:nvSpPr>
        <p:spPr>
          <a:xfrm>
            <a:off x="-1463040" y="-1463040"/>
            <a:ext cx="3016080" cy="3016080"/>
          </a:xfrm>
          <a:prstGeom prst="ellipse">
            <a:avLst/>
          </a:prstGeom>
          <a:solidFill>
            <a:srgbClr val="e0a526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37"/>
          <p:cNvSpPr/>
          <p:nvPr/>
        </p:nvSpPr>
        <p:spPr>
          <a:xfrm>
            <a:off x="10881360" y="5212080"/>
            <a:ext cx="2741760" cy="2741760"/>
          </a:xfrm>
          <a:prstGeom prst="ellipse">
            <a:avLst/>
          </a:prstGeom>
          <a:solidFill>
            <a:srgbClr val="e0a52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40"/>
          <p:cNvSpPr/>
          <p:nvPr/>
        </p:nvSpPr>
        <p:spPr>
          <a:xfrm>
            <a:off x="1005840" y="2331720"/>
            <a:ext cx="7313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389" strike="noStrike">
                <a:solidFill>
                  <a:srgbClr val="e0a526"/>
                </a:solidFill>
                <a:latin typeface="Calibri"/>
                <a:ea typeface="Calibri"/>
              </a:rPr>
              <a:t>PARTIE 4</a:t>
            </a:r>
            <a:r>
              <a:rPr b="1" lang="en-US" sz="1600" spc="290" strike="noStrike">
                <a:solidFill>
                  <a:srgbClr val="e0a526"/>
                </a:solidFill>
                <a:latin typeface="Calibri"/>
                <a:ea typeface="Calibri"/>
              </a:rPr>
              <a:t> · EXPÉRIMENTATION — OCTOBRE 2025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41"/>
          <p:cNvSpPr/>
          <p:nvPr/>
        </p:nvSpPr>
        <p:spPr>
          <a:xfrm>
            <a:off x="960120" y="2743200"/>
            <a:ext cx="10056960" cy="11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Georgia"/>
                <a:ea typeface="Georgia"/>
              </a:rPr>
              <a:t>Résultats de capture</a:t>
            </a:r>
            <a:endParaRPr b="0" lang="fr-F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Shape 38"/>
          <p:cNvSpPr/>
          <p:nvPr/>
        </p:nvSpPr>
        <p:spPr>
          <a:xfrm>
            <a:off x="1005840" y="3977640"/>
            <a:ext cx="1370160" cy="53280"/>
          </a:xfrm>
          <a:prstGeom prst="rect">
            <a:avLst/>
          </a:prstGeom>
          <a:solidFill>
            <a:srgbClr val="c844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42"/>
          <p:cNvSpPr/>
          <p:nvPr/>
        </p:nvSpPr>
        <p:spPr>
          <a:xfrm>
            <a:off x="1005840" y="4206240"/>
            <a:ext cx="95997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cfc6b4"/>
                </a:solidFill>
                <a:latin typeface="Calibri"/>
                <a:ea typeface="Calibri"/>
              </a:rPr>
              <a:t>Premiers comptages en conditions réelles, à Beaumont (63)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43"/>
          <p:cNvSpPr/>
          <p:nvPr/>
        </p:nvSpPr>
        <p:spPr>
          <a:xfrm>
            <a:off x="8595360" y="914400"/>
            <a:ext cx="3656160" cy="50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0" spc="-1" strike="noStrike">
                <a:solidFill>
                  <a:srgbClr val="33260f"/>
                </a:solidFill>
                <a:latin typeface="Georgia"/>
                <a:ea typeface="Georgia"/>
              </a:rPr>
              <a:t>4</a:t>
            </a:r>
            <a:endParaRPr b="0" lang="fr-FR" sz="30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60"/>
          <p:cNvSpPr/>
          <p:nvPr/>
        </p:nvSpPr>
        <p:spPr>
          <a:xfrm>
            <a:off x="502920" y="457200"/>
            <a:ext cx="144720" cy="711720"/>
          </a:xfrm>
          <a:prstGeom prst="rect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84"/>
          <p:cNvSpPr/>
          <p:nvPr/>
        </p:nvSpPr>
        <p:spPr>
          <a:xfrm>
            <a:off x="777240" y="420480"/>
            <a:ext cx="10605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1" strike="noStrike">
                <a:solidFill>
                  <a:srgbClr val="9c6e12"/>
                </a:solidFill>
                <a:latin typeface="Calibri"/>
                <a:ea typeface="Calibri"/>
              </a:rPr>
              <a:t>PARTIE 4 · RÉSULTATS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85"/>
          <p:cNvSpPr/>
          <p:nvPr/>
        </p:nvSpPr>
        <p:spPr>
          <a:xfrm>
            <a:off x="777240" y="658440"/>
            <a:ext cx="10879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3190e"/>
                </a:solidFill>
                <a:latin typeface="Georgia"/>
                <a:ea typeface="Georgia"/>
              </a:rPr>
              <a:t>L'expérimentation en conditions réelles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86"/>
          <p:cNvSpPr/>
          <p:nvPr/>
        </p:nvSpPr>
        <p:spPr>
          <a:xfrm>
            <a:off x="640080" y="1554480"/>
            <a:ext cx="56678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9c6e12"/>
                </a:solidFill>
                <a:latin typeface="Calibri"/>
                <a:ea typeface="Calibri"/>
              </a:rPr>
              <a:t>Pourquoi cet essai ?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87"/>
          <p:cNvSpPr/>
          <p:nvPr/>
        </p:nvSpPr>
        <p:spPr>
          <a:xfrm>
            <a:off x="640080" y="1965960"/>
            <a:ext cx="5759280" cy="146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8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615749"/>
                </a:solidFill>
                <a:latin typeface="Calibri"/>
                <a:ea typeface="Calibri"/>
              </a:rPr>
              <a:t>En octobre 2024, l'infestation à Beaumont (63) était très forte : malgré la destruction d'un nid à 100 m, les frelons ont envahi et détruit une colonie le 8 novembre. En octobre 2025, pression encore significative (~60 frelons/semaine sur 2 pièges) — d'où l'essai des harpes.</a:t>
            </a:r>
            <a:endParaRPr b="0" lang="fr-FR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61"/>
          <p:cNvSpPr/>
          <p:nvPr/>
        </p:nvSpPr>
        <p:spPr>
          <a:xfrm>
            <a:off x="640080" y="3611880"/>
            <a:ext cx="5759280" cy="223884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88"/>
          <p:cNvSpPr/>
          <p:nvPr/>
        </p:nvSpPr>
        <p:spPr>
          <a:xfrm>
            <a:off x="868680" y="3767400"/>
            <a:ext cx="53020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9c6e12"/>
                </a:solidFill>
                <a:latin typeface="Calibri"/>
                <a:ea typeface="Calibri"/>
              </a:rPr>
              <a:t>Ce que dit le plan national de lutte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62"/>
          <p:cNvSpPr/>
          <p:nvPr/>
        </p:nvSpPr>
        <p:spPr>
          <a:xfrm>
            <a:off x="896040" y="4206240"/>
            <a:ext cx="126720" cy="126720"/>
          </a:xfrm>
          <a:prstGeom prst="ellipse">
            <a:avLst/>
          </a:prstGeom>
          <a:solidFill>
            <a:srgbClr val="5e7d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89"/>
          <p:cNvSpPr/>
          <p:nvPr/>
        </p:nvSpPr>
        <p:spPr>
          <a:xfrm>
            <a:off x="1134000" y="4105800"/>
            <a:ext cx="5073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15749"/>
                </a:solidFill>
                <a:latin typeface="Calibri"/>
                <a:ea typeface="Calibri"/>
              </a:rPr>
              <a:t>Harpes en complément des muselières et restrictions d'entrée.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Shape 63"/>
          <p:cNvSpPr/>
          <p:nvPr/>
        </p:nvSpPr>
        <p:spPr>
          <a:xfrm>
            <a:off x="896040" y="4617720"/>
            <a:ext cx="126720" cy="126720"/>
          </a:xfrm>
          <a:prstGeom prst="ellipse">
            <a:avLst/>
          </a:prstGeom>
          <a:solidFill>
            <a:srgbClr val="5e7d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90"/>
          <p:cNvSpPr/>
          <p:nvPr/>
        </p:nvSpPr>
        <p:spPr>
          <a:xfrm>
            <a:off x="1134000" y="4517280"/>
            <a:ext cx="5073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15749"/>
                </a:solidFill>
                <a:latin typeface="Calibri"/>
                <a:ea typeface="Calibri"/>
              </a:rPr>
              <a:t>Le stress des colonies disparaît ~8 jours après la mise en place.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64"/>
          <p:cNvSpPr/>
          <p:nvPr/>
        </p:nvSpPr>
        <p:spPr>
          <a:xfrm>
            <a:off x="896040" y="5029200"/>
            <a:ext cx="126720" cy="126720"/>
          </a:xfrm>
          <a:prstGeom prst="ellipse">
            <a:avLst/>
          </a:prstGeom>
          <a:solidFill>
            <a:srgbClr val="5e7d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91"/>
          <p:cNvSpPr/>
          <p:nvPr/>
        </p:nvSpPr>
        <p:spPr>
          <a:xfrm>
            <a:off x="1134000" y="4928760"/>
            <a:ext cx="5073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15749"/>
                </a:solidFill>
                <a:latin typeface="Calibri"/>
                <a:ea typeface="Calibri"/>
              </a:rPr>
              <a:t>Une harpe pour 5 ruches, aux extrémités de l'alignement.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65"/>
          <p:cNvSpPr/>
          <p:nvPr/>
        </p:nvSpPr>
        <p:spPr>
          <a:xfrm>
            <a:off x="896040" y="5440680"/>
            <a:ext cx="126720" cy="126720"/>
          </a:xfrm>
          <a:prstGeom prst="ellipse">
            <a:avLst/>
          </a:prstGeom>
          <a:solidFill>
            <a:srgbClr val="5e7d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92"/>
          <p:cNvSpPr/>
          <p:nvPr/>
        </p:nvSpPr>
        <p:spPr>
          <a:xfrm>
            <a:off x="1134000" y="5340240"/>
            <a:ext cx="5073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15749"/>
                </a:solidFill>
                <a:latin typeface="Calibri"/>
                <a:ea typeface="Calibri"/>
              </a:rPr>
              <a:t>Efficacité : jusqu'à 200 frelons capturés par jour.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2" name="Image 6" descr="/tmp/assets2/harp_action.jpg"/>
          <p:cNvPicPr/>
          <p:nvPr/>
        </p:nvPicPr>
        <p:blipFill>
          <a:blip r:embed="rId1"/>
          <a:stretch/>
        </p:blipFill>
        <p:spPr>
          <a:xfrm>
            <a:off x="6996960" y="1554480"/>
            <a:ext cx="4429800" cy="2467440"/>
          </a:xfrm>
          <a:prstGeom prst="rect">
            <a:avLst/>
          </a:prstGeom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</p:pic>
      <p:sp>
        <p:nvSpPr>
          <p:cNvPr id="243" name="Text 93"/>
          <p:cNvSpPr/>
          <p:nvPr/>
        </p:nvSpPr>
        <p:spPr>
          <a:xfrm>
            <a:off x="6720840" y="3977640"/>
            <a:ext cx="49820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c8270"/>
                </a:solidFill>
                <a:latin typeface="Calibri"/>
                <a:ea typeface="Calibri"/>
              </a:rPr>
              <a:t>Les trois harpes en action devant le rucher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4" name="Image 7" descr="/tmp/assets2/last_box.jpg"/>
          <p:cNvPicPr/>
          <p:nvPr/>
        </p:nvPicPr>
        <p:blipFill>
          <a:blip r:embed="rId2"/>
          <a:stretch/>
        </p:blipFill>
        <p:spPr>
          <a:xfrm>
            <a:off x="7901280" y="4343400"/>
            <a:ext cx="2621160" cy="1507320"/>
          </a:xfrm>
          <a:prstGeom prst="rect">
            <a:avLst/>
          </a:prstGeom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</p:pic>
      <p:sp>
        <p:nvSpPr>
          <p:cNvPr id="245" name="Text 94"/>
          <p:cNvSpPr/>
          <p:nvPr/>
        </p:nvSpPr>
        <p:spPr>
          <a:xfrm>
            <a:off x="6720840" y="5852160"/>
            <a:ext cx="498204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c8270"/>
                </a:solidFill>
                <a:latin typeface="Calibri"/>
                <a:ea typeface="Calibri"/>
              </a:rPr>
              <a:t>Le boîtier électronique installé et raccordé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Shape 66"/>
          <p:cNvSpPr/>
          <p:nvPr/>
        </p:nvSpPr>
        <p:spPr>
          <a:xfrm>
            <a:off x="11475720" y="6437520"/>
            <a:ext cx="108360" cy="10836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95"/>
          <p:cNvSpPr/>
          <p:nvPr/>
        </p:nvSpPr>
        <p:spPr>
          <a:xfrm>
            <a:off x="8595360" y="6327720"/>
            <a:ext cx="27874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c8270"/>
                </a:solidFill>
                <a:latin typeface="Calibri"/>
                <a:ea typeface="Calibri"/>
              </a:rPr>
              <a:t>14 / 17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96"/>
          <p:cNvSpPr/>
          <p:nvPr/>
        </p:nvSpPr>
        <p:spPr>
          <a:xfrm>
            <a:off x="502920" y="6327720"/>
            <a:ext cx="54849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99f8c"/>
                </a:solidFill>
                <a:latin typeface="Calibri"/>
                <a:ea typeface="Calibri"/>
              </a:rPr>
              <a:t>Harpe anti-frelons asiatiques - © J.N. Simonnet - 2026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Shape 67"/>
          <p:cNvSpPr/>
          <p:nvPr/>
        </p:nvSpPr>
        <p:spPr>
          <a:xfrm>
            <a:off x="502920" y="457200"/>
            <a:ext cx="144720" cy="711720"/>
          </a:xfrm>
          <a:prstGeom prst="rect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97"/>
          <p:cNvSpPr/>
          <p:nvPr/>
        </p:nvSpPr>
        <p:spPr>
          <a:xfrm>
            <a:off x="777240" y="420480"/>
            <a:ext cx="10605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1" strike="noStrike">
                <a:solidFill>
                  <a:srgbClr val="9c6e12"/>
                </a:solidFill>
                <a:latin typeface="Calibri"/>
                <a:ea typeface="Calibri"/>
              </a:rPr>
              <a:t>PARTIE 4 · RÉSULTATS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98"/>
          <p:cNvSpPr/>
          <p:nvPr/>
        </p:nvSpPr>
        <p:spPr>
          <a:xfrm>
            <a:off x="777240" y="658440"/>
            <a:ext cx="10879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3190e"/>
                </a:solidFill>
                <a:latin typeface="Georgia"/>
                <a:ea typeface="Georgia"/>
              </a:rPr>
              <a:t>Bilan de capture sur un mois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52" name="Table 2"/>
          <p:cNvGraphicFramePr/>
          <p:nvPr/>
        </p:nvGraphicFramePr>
        <p:xfrm>
          <a:off x="594360" y="1554480"/>
          <a:ext cx="10926720" cy="2878920"/>
        </p:xfrm>
        <a:graphic>
          <a:graphicData uri="http://schemas.openxmlformats.org/drawingml/2006/table">
            <a:tbl>
              <a:tblPr/>
              <a:tblGrid>
                <a:gridCol w="1143000"/>
                <a:gridCol w="1005840"/>
                <a:gridCol w="1463040"/>
                <a:gridCol w="1463040"/>
                <a:gridCol w="1463040"/>
                <a:gridCol w="1463040"/>
                <a:gridCol w="1463040"/>
                <a:gridCol w="1463040"/>
              </a:tblGrid>
              <a:tr h="365760"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Date</a:t>
                      </a:r>
                      <a:endParaRPr b="0" lang="fr-FR" sz="11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23190e"/>
                    </a:solidFill>
                  </a:tcPr>
                </a:tc>
                <a:tc rowSpan="2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Période</a:t>
                      </a:r>
                      <a:endParaRPr b="0" lang="fr-FR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(jours)</a:t>
                      </a:r>
                      <a:endParaRPr b="0" lang="fr-FR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23190e"/>
                    </a:solidFill>
                  </a:tcPr>
                </a:tc>
                <a:tc gridSpan="3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Sur la période</a:t>
                      </a:r>
                      <a:endParaRPr b="0" lang="fr-F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9c6e12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Captures journalières</a:t>
                      </a:r>
                      <a:endParaRPr b="0" lang="fr-F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9c6e12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2904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Pièges</a:t>
                      </a:r>
                      <a:endParaRPr b="0" lang="fr-FR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33260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Harpes</a:t>
                      </a:r>
                      <a:endParaRPr b="0" lang="fr-FR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33260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Abeilles</a:t>
                      </a:r>
                      <a:endParaRPr b="0" lang="fr-FR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33260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Pièges</a:t>
                      </a:r>
                      <a:endParaRPr b="0" lang="fr-FR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33260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Harpes</a:t>
                      </a:r>
                      <a:endParaRPr b="0" lang="fr-FR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33260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Abeilles</a:t>
                      </a:r>
                      <a:endParaRPr b="0" lang="fr-FR" sz="10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33260f"/>
                    </a:solidFill>
                  </a:tcPr>
                </a:tc>
              </a:tr>
              <a:tr h="310680">
                <a:tc gridSpan="8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i="1" lang="en-US" sz="1100" spc="-1" strike="noStrike">
                          <a:solidFill>
                            <a:srgbClr val="9c6e12"/>
                          </a:solidFill>
                          <a:latin typeface="Calibri"/>
                          <a:ea typeface="Calibri"/>
                        </a:rPr>
                        <a:t>07 oct — Installation des harpes</a:t>
                      </a:r>
                      <a:endParaRPr b="0" lang="fr-F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f3e7cb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23190e"/>
                          </a:solidFill>
                          <a:latin typeface="Calibri"/>
                          <a:ea typeface="Calibri"/>
                        </a:rPr>
                        <a:t>07 oct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7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64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n/a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n/a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9,1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n/a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n/a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23190e"/>
                          </a:solidFill>
                          <a:latin typeface="Calibri"/>
                          <a:ea typeface="Calibri"/>
                        </a:rPr>
                        <a:t>11 oct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4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20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9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n/a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5,0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2,3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n/a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23190e"/>
                          </a:solidFill>
                          <a:latin typeface="Calibri"/>
                          <a:ea typeface="Calibri"/>
                        </a:rPr>
                        <a:t>13 oct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36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17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224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18,0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8,5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112,0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50" spc="-1" strike="noStrike">
                          <a:solidFill>
                            <a:srgbClr val="23190e"/>
                          </a:solidFill>
                          <a:latin typeface="Calibri"/>
                          <a:ea typeface="Calibri"/>
                        </a:rPr>
                        <a:t>06 nov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24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44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26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258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1,8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1,1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10,8</a:t>
                      </a:r>
                      <a:endParaRPr b="0" lang="fr-FR" sz="11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</a:tr>
              <a:tr h="310680">
                <a:tc gridSpan="8"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i="1" lang="en-US" sz="1100" spc="-1" strike="noStrike">
                          <a:solidFill>
                            <a:srgbClr val="9c6e12"/>
                          </a:solidFill>
                          <a:latin typeface="Calibri"/>
                          <a:ea typeface="Calibri"/>
                        </a:rPr>
                        <a:t>06 nov — Intervention : destruction d'un nid à 100 m</a:t>
                      </a:r>
                      <a:endParaRPr b="0" lang="fr-FR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f3e7cb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sp>
        <p:nvSpPr>
          <p:cNvPr id="253" name="Shape 68"/>
          <p:cNvSpPr/>
          <p:nvPr/>
        </p:nvSpPr>
        <p:spPr>
          <a:xfrm>
            <a:off x="594360" y="4617720"/>
            <a:ext cx="3583080" cy="137016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69"/>
          <p:cNvSpPr/>
          <p:nvPr/>
        </p:nvSpPr>
        <p:spPr>
          <a:xfrm>
            <a:off x="594360" y="4617720"/>
            <a:ext cx="126720" cy="1370160"/>
          </a:xfrm>
          <a:prstGeom prst="rect">
            <a:avLst/>
          </a:prstGeom>
          <a:solidFill>
            <a:srgbClr val="9c6e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99"/>
          <p:cNvSpPr/>
          <p:nvPr/>
        </p:nvSpPr>
        <p:spPr>
          <a:xfrm>
            <a:off x="777240" y="4736520"/>
            <a:ext cx="32630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9c6e12"/>
                </a:solidFill>
                <a:latin typeface="Georgia"/>
                <a:ea typeface="Georgia"/>
              </a:rPr>
              <a:t>216</a:t>
            </a:r>
            <a:endParaRPr b="0" lang="fr-FR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100"/>
          <p:cNvSpPr/>
          <p:nvPr/>
        </p:nvSpPr>
        <p:spPr>
          <a:xfrm>
            <a:off x="822960" y="5413320"/>
            <a:ext cx="31716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15749"/>
                </a:solidFill>
                <a:latin typeface="Calibri"/>
                <a:ea typeface="Calibri"/>
              </a:rPr>
              <a:t>frelons capturés en un mois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70"/>
          <p:cNvSpPr/>
          <p:nvPr/>
        </p:nvSpPr>
        <p:spPr>
          <a:xfrm>
            <a:off x="4343400" y="4617720"/>
            <a:ext cx="3583080" cy="137016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Shape 71"/>
          <p:cNvSpPr/>
          <p:nvPr/>
        </p:nvSpPr>
        <p:spPr>
          <a:xfrm>
            <a:off x="4343400" y="4617720"/>
            <a:ext cx="126720" cy="1370160"/>
          </a:xfrm>
          <a:prstGeom prst="rect">
            <a:avLst/>
          </a:prstGeom>
          <a:solidFill>
            <a:srgbClr val="5e7d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101"/>
          <p:cNvSpPr/>
          <p:nvPr/>
        </p:nvSpPr>
        <p:spPr>
          <a:xfrm>
            <a:off x="4526280" y="4736520"/>
            <a:ext cx="32630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5e7d3e"/>
                </a:solidFill>
                <a:latin typeface="Georgia"/>
                <a:ea typeface="Georgia"/>
              </a:rPr>
              <a:t>× 2</a:t>
            </a:r>
            <a:endParaRPr b="0" lang="fr-FR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102"/>
          <p:cNvSpPr/>
          <p:nvPr/>
        </p:nvSpPr>
        <p:spPr>
          <a:xfrm>
            <a:off x="4572000" y="5413320"/>
            <a:ext cx="31716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15749"/>
                </a:solidFill>
                <a:latin typeface="Calibri"/>
                <a:ea typeface="Calibri"/>
              </a:rPr>
              <a:t>les pièges capturent 2× plus que les harpes (</a:t>
            </a:r>
            <a:r>
              <a:rPr b="1" lang="en-US" sz="1150" spc="-1" strike="noStrike">
                <a:solidFill>
                  <a:srgbClr val="615749"/>
                </a:solidFill>
                <a:latin typeface="Calibri"/>
                <a:ea typeface="Calibri"/>
              </a:rPr>
              <a:t>attention, il y a eu des arrêts de fonctionnement du fait d’un panneau solaire insuffisant</a:t>
            </a:r>
            <a:r>
              <a:rPr b="0" lang="en-US" sz="1150" spc="-1" strike="noStrike">
                <a:solidFill>
                  <a:srgbClr val="615749"/>
                </a:solidFill>
                <a:latin typeface="Calibri"/>
                <a:ea typeface="Calibri"/>
              </a:rPr>
              <a:t>)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Shape 72"/>
          <p:cNvSpPr/>
          <p:nvPr/>
        </p:nvSpPr>
        <p:spPr>
          <a:xfrm>
            <a:off x="8092440" y="4617720"/>
            <a:ext cx="3583080" cy="137016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73"/>
          <p:cNvSpPr/>
          <p:nvPr/>
        </p:nvSpPr>
        <p:spPr>
          <a:xfrm>
            <a:off x="8092440" y="4617720"/>
            <a:ext cx="126720" cy="1370160"/>
          </a:xfrm>
          <a:prstGeom prst="rect">
            <a:avLst/>
          </a:prstGeom>
          <a:solidFill>
            <a:srgbClr val="c844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103"/>
          <p:cNvSpPr/>
          <p:nvPr/>
        </p:nvSpPr>
        <p:spPr>
          <a:xfrm>
            <a:off x="8275320" y="4736520"/>
            <a:ext cx="326304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c8442e"/>
                </a:solidFill>
                <a:latin typeface="Georgia"/>
                <a:ea typeface="Georgia"/>
              </a:rPr>
              <a:t>12 W</a:t>
            </a:r>
            <a:endParaRPr b="0" lang="fr-FR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104"/>
          <p:cNvSpPr/>
          <p:nvPr/>
        </p:nvSpPr>
        <p:spPr>
          <a:xfrm>
            <a:off x="8321040" y="5413320"/>
            <a:ext cx="317160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15749"/>
                </a:solidFill>
                <a:latin typeface="Calibri"/>
                <a:ea typeface="Calibri"/>
              </a:rPr>
              <a:t>panneau sous-dimensionné : harpes à l'arrêt par temps couvert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105"/>
          <p:cNvSpPr/>
          <p:nvPr/>
        </p:nvSpPr>
        <p:spPr>
          <a:xfrm>
            <a:off x="594360" y="6053400"/>
            <a:ext cx="10971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c8270"/>
                </a:solidFill>
                <a:latin typeface="Calibri"/>
                <a:ea typeface="Calibri"/>
              </a:rPr>
              <a:t>Période marquée par de nombreux jours de pluie / temps couvert : efficacité non maximale.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74"/>
          <p:cNvSpPr/>
          <p:nvPr/>
        </p:nvSpPr>
        <p:spPr>
          <a:xfrm>
            <a:off x="11475720" y="6437520"/>
            <a:ext cx="108360" cy="10836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106"/>
          <p:cNvSpPr/>
          <p:nvPr/>
        </p:nvSpPr>
        <p:spPr>
          <a:xfrm>
            <a:off x="8595360" y="6327720"/>
            <a:ext cx="27874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c8270"/>
                </a:solidFill>
                <a:latin typeface="Calibri"/>
                <a:ea typeface="Calibri"/>
              </a:rPr>
              <a:t>15 / 17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107"/>
          <p:cNvSpPr/>
          <p:nvPr/>
        </p:nvSpPr>
        <p:spPr>
          <a:xfrm>
            <a:off x="502920" y="6327720"/>
            <a:ext cx="54849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99f8c"/>
                </a:solidFill>
                <a:latin typeface="Calibri"/>
                <a:ea typeface="Calibri"/>
              </a:rPr>
              <a:t>Harpe anti-frelons asiatiques - © J.N. Simonnet - 2026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Shape 75"/>
          <p:cNvSpPr/>
          <p:nvPr/>
        </p:nvSpPr>
        <p:spPr>
          <a:xfrm>
            <a:off x="502920" y="457200"/>
            <a:ext cx="144720" cy="711720"/>
          </a:xfrm>
          <a:prstGeom prst="rect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108"/>
          <p:cNvSpPr/>
          <p:nvPr/>
        </p:nvSpPr>
        <p:spPr>
          <a:xfrm>
            <a:off x="777240" y="420480"/>
            <a:ext cx="10605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1" strike="noStrike">
                <a:solidFill>
                  <a:srgbClr val="9c6e12"/>
                </a:solidFill>
                <a:latin typeface="Calibri"/>
                <a:ea typeface="Calibri"/>
              </a:rPr>
              <a:t>PARTIE 4 · RÉSULTATS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109"/>
          <p:cNvSpPr/>
          <p:nvPr/>
        </p:nvSpPr>
        <p:spPr>
          <a:xfrm>
            <a:off x="777240" y="658440"/>
            <a:ext cx="10879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3190e"/>
                </a:solidFill>
                <a:latin typeface="Georgia"/>
                <a:ea typeface="Georgia"/>
              </a:rPr>
              <a:t>Captures détaillées sur une semaine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72" name="Table 1"/>
          <p:cNvGraphicFramePr/>
          <p:nvPr/>
        </p:nvGraphicFramePr>
        <p:xfrm>
          <a:off x="594360" y="1554480"/>
          <a:ext cx="7039080" cy="3120480"/>
        </p:xfrm>
        <a:graphic>
          <a:graphicData uri="http://schemas.openxmlformats.org/drawingml/2006/table">
            <a:tbl>
              <a:tblPr/>
              <a:tblGrid>
                <a:gridCol w="1173240"/>
                <a:gridCol w="1173240"/>
                <a:gridCol w="1173240"/>
                <a:gridCol w="1173240"/>
                <a:gridCol w="1173240"/>
                <a:gridCol w="1173240"/>
              </a:tblGrid>
              <a:tr h="365760">
                <a:tc rowSpan="2"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Insecte</a:t>
                      </a:r>
                      <a:endParaRPr b="0" lang="fr-FR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23190e"/>
                    </a:solidFill>
                  </a:tcPr>
                </a:tc>
                <a:tc gridSpan="2"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Pièges</a:t>
                      </a:r>
                      <a:endParaRPr b="0" lang="fr-FR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9c6e12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Harpes</a:t>
                      </a:r>
                      <a:endParaRPr b="0" lang="fr-FR" sz="125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9c6e12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29040">
                <a:tc vMerge="1">
                  <a:txBody>
                    <a:bodyPr lIns="90000" rIns="90000" tIns="45000" bIns="45000" anchor="t">
                      <a:noAutofit/>
                    </a:bodyPr>
                    <a:p>
                      <a:endParaRPr b="0" lang="fr-FR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Gauche</a:t>
                      </a:r>
                      <a:endParaRPr b="0" lang="fr-F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33260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Droite</a:t>
                      </a:r>
                      <a:endParaRPr b="0" lang="fr-F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33260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Gauche</a:t>
                      </a:r>
                      <a:endParaRPr b="0" lang="fr-F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33260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Milieu</a:t>
                      </a:r>
                      <a:endParaRPr b="0" lang="fr-F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33260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Droite</a:t>
                      </a:r>
                      <a:endParaRPr b="0" lang="fr-FR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33260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23190e"/>
                          </a:solidFill>
                          <a:latin typeface="Calibri"/>
                          <a:ea typeface="Calibri"/>
                        </a:rPr>
                        <a:t>Frelons asiatiques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23190e"/>
                          </a:solidFill>
                          <a:latin typeface="Calibri"/>
                          <a:ea typeface="Calibri"/>
                        </a:rPr>
                        <a:t>26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23190e"/>
                          </a:solidFill>
                          <a:latin typeface="Calibri"/>
                          <a:ea typeface="Calibri"/>
                        </a:rPr>
                        <a:t>10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9c6e12"/>
                          </a:solidFill>
                          <a:latin typeface="Calibri"/>
                          <a:ea typeface="Calibri"/>
                        </a:rPr>
                        <a:t>6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fdf4d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9c6e12"/>
                          </a:solidFill>
                          <a:latin typeface="Calibri"/>
                          <a:ea typeface="Calibri"/>
                        </a:rPr>
                        <a:t>6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fdf4d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9c6e12"/>
                          </a:solidFill>
                          <a:latin typeface="Calibri"/>
                          <a:ea typeface="Calibri"/>
                        </a:rPr>
                        <a:t>5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fdf4de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23190e"/>
                          </a:solidFill>
                          <a:latin typeface="Calibri"/>
                          <a:ea typeface="Calibri"/>
                        </a:rPr>
                        <a:t>Frelons européens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–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–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–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–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23190e"/>
                          </a:solidFill>
                          <a:latin typeface="Calibri"/>
                          <a:ea typeface="Calibri"/>
                        </a:rPr>
                        <a:t>Abeilles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c8442e"/>
                          </a:solidFill>
                          <a:latin typeface="Calibri"/>
                          <a:ea typeface="Calibri"/>
                        </a:rPr>
                        <a:t>128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fbebe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c8442e"/>
                          </a:solidFill>
                          <a:latin typeface="Calibri"/>
                          <a:ea typeface="Calibri"/>
                        </a:rPr>
                        <a:t>38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fbebe6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c8442e"/>
                          </a:solidFill>
                          <a:latin typeface="Calibri"/>
                          <a:ea typeface="Calibri"/>
                        </a:rPr>
                        <a:t>58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fbebe6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23190e"/>
                          </a:solidFill>
                          <a:latin typeface="Calibri"/>
                          <a:ea typeface="Calibri"/>
                        </a:rPr>
                        <a:t>Faux-bourdons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–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–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23190e"/>
                          </a:solidFill>
                          <a:latin typeface="Calibri"/>
                          <a:ea typeface="Calibri"/>
                        </a:rPr>
                        <a:t>Guêpes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3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5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1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–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2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50" spc="-1" strike="noStrike">
                          <a:solidFill>
                            <a:srgbClr val="23190e"/>
                          </a:solidFill>
                          <a:latin typeface="Calibri"/>
                          <a:ea typeface="Calibri"/>
                        </a:rPr>
                        <a:t>Sauterelle / cloportes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–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–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–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–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250" spc="-1" strike="noStrike">
                          <a:solidFill>
                            <a:srgbClr val="615749"/>
                          </a:solidFill>
                          <a:latin typeface="Calibri"/>
                          <a:ea typeface="Calibri"/>
                        </a:rPr>
                        <a:t>1 / 2</a:t>
                      </a:r>
                      <a:endParaRPr b="0" lang="fr-FR" sz="12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7e0d2"/>
                      </a:solidFill>
                      <a:prstDash val="solid"/>
                    </a:lnL>
                    <a:lnR w="12240">
                      <a:solidFill>
                        <a:srgbClr val="e7e0d2"/>
                      </a:solidFill>
                      <a:prstDash val="solid"/>
                    </a:lnR>
                    <a:lnT w="12240">
                      <a:solidFill>
                        <a:srgbClr val="e7e0d2"/>
                      </a:solidFill>
                      <a:prstDash val="solid"/>
                    </a:lnT>
                    <a:lnB w="12240">
                      <a:solidFill>
                        <a:srgbClr val="e7e0d2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3" name="Text 110"/>
          <p:cNvSpPr/>
          <p:nvPr/>
        </p:nvSpPr>
        <p:spPr>
          <a:xfrm>
            <a:off x="594360" y="5074920"/>
            <a:ext cx="70394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c8270"/>
                </a:solidFill>
                <a:latin typeface="Calibri"/>
                <a:ea typeface="Calibri"/>
              </a:rPr>
              <a:t>Harpe droite : 1 fondatrice capturée (corps 35 mm, envergure 40 mm).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111"/>
          <p:cNvSpPr/>
          <p:nvPr/>
        </p:nvSpPr>
        <p:spPr>
          <a:xfrm>
            <a:off x="7863840" y="1600200"/>
            <a:ext cx="38847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9c6e12"/>
                </a:solidFill>
                <a:latin typeface="Calibri"/>
                <a:ea typeface="Calibri"/>
              </a:rPr>
              <a:t>Ce que révèlent ces chiffres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Shape 76"/>
          <p:cNvSpPr/>
          <p:nvPr/>
        </p:nvSpPr>
        <p:spPr>
          <a:xfrm>
            <a:off x="7863840" y="2103120"/>
            <a:ext cx="3884760" cy="95868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Shape 77"/>
          <p:cNvSpPr/>
          <p:nvPr/>
        </p:nvSpPr>
        <p:spPr>
          <a:xfrm>
            <a:off x="7863840" y="2103120"/>
            <a:ext cx="108360" cy="958680"/>
          </a:xfrm>
          <a:prstGeom prst="rect">
            <a:avLst/>
          </a:prstGeom>
          <a:solidFill>
            <a:srgbClr val="5e7d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112"/>
          <p:cNvSpPr/>
          <p:nvPr/>
        </p:nvSpPr>
        <p:spPr>
          <a:xfrm>
            <a:off x="8092440" y="2212920"/>
            <a:ext cx="35647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3190e"/>
                </a:solidFill>
                <a:latin typeface="Calibri"/>
                <a:ea typeface="Calibri"/>
              </a:rPr>
              <a:t>La harpe du milieu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113"/>
          <p:cNvSpPr/>
          <p:nvPr/>
        </p:nvSpPr>
        <p:spPr>
          <a:xfrm>
            <a:off x="8092440" y="2523600"/>
            <a:ext cx="35647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15749"/>
                </a:solidFill>
                <a:latin typeface="Calibri"/>
                <a:ea typeface="Calibri"/>
              </a:rPr>
              <a:t>capture le plus de frelons et le moins d'abeilles : la meilleure position.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78"/>
          <p:cNvSpPr/>
          <p:nvPr/>
        </p:nvSpPr>
        <p:spPr>
          <a:xfrm>
            <a:off x="7863840" y="3246120"/>
            <a:ext cx="3884760" cy="95868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79"/>
          <p:cNvSpPr/>
          <p:nvPr/>
        </p:nvSpPr>
        <p:spPr>
          <a:xfrm>
            <a:off x="7863840" y="3246120"/>
            <a:ext cx="108360" cy="958680"/>
          </a:xfrm>
          <a:prstGeom prst="rect">
            <a:avLst/>
          </a:prstGeom>
          <a:solidFill>
            <a:srgbClr val="c844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114"/>
          <p:cNvSpPr/>
          <p:nvPr/>
        </p:nvSpPr>
        <p:spPr>
          <a:xfrm>
            <a:off x="8092440" y="3355920"/>
            <a:ext cx="35647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3190e"/>
                </a:solidFill>
                <a:latin typeface="Calibri"/>
                <a:ea typeface="Calibri"/>
              </a:rPr>
              <a:t>Trop d'abeilles capturées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115"/>
          <p:cNvSpPr/>
          <p:nvPr/>
        </p:nvSpPr>
        <p:spPr>
          <a:xfrm>
            <a:off x="8092440" y="3666600"/>
            <a:ext cx="35647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15749"/>
                </a:solidFill>
                <a:latin typeface="Calibri"/>
                <a:ea typeface="Calibri"/>
              </a:rPr>
              <a:t>128 sur la seule harpe de gauche : elle est trop proche de l'entrée de la ruche.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80"/>
          <p:cNvSpPr/>
          <p:nvPr/>
        </p:nvSpPr>
        <p:spPr>
          <a:xfrm>
            <a:off x="7863840" y="4389120"/>
            <a:ext cx="3884760" cy="95868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81"/>
          <p:cNvSpPr/>
          <p:nvPr/>
        </p:nvSpPr>
        <p:spPr>
          <a:xfrm>
            <a:off x="7863840" y="4389120"/>
            <a:ext cx="108360" cy="958680"/>
          </a:xfrm>
          <a:prstGeom prst="rect">
            <a:avLst/>
          </a:prstGeom>
          <a:solidFill>
            <a:srgbClr val="9c6e1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116"/>
          <p:cNvSpPr/>
          <p:nvPr/>
        </p:nvSpPr>
        <p:spPr>
          <a:xfrm>
            <a:off x="8092440" y="4498920"/>
            <a:ext cx="35647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3190e"/>
                </a:solidFill>
                <a:latin typeface="Calibri"/>
                <a:ea typeface="Calibri"/>
              </a:rPr>
              <a:t>Les pièges restent utiles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117"/>
          <p:cNvSpPr/>
          <p:nvPr/>
        </p:nvSpPr>
        <p:spPr>
          <a:xfrm>
            <a:off x="8092440" y="4809600"/>
            <a:ext cx="35647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15749"/>
                </a:solidFill>
                <a:latin typeface="Calibri"/>
                <a:ea typeface="Calibri"/>
              </a:rPr>
              <a:t>ils captent ici plus de frelons que les harpes sur la même semaine.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Shape 82"/>
          <p:cNvSpPr/>
          <p:nvPr/>
        </p:nvSpPr>
        <p:spPr>
          <a:xfrm>
            <a:off x="11475720" y="6437520"/>
            <a:ext cx="108360" cy="10836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118"/>
          <p:cNvSpPr/>
          <p:nvPr/>
        </p:nvSpPr>
        <p:spPr>
          <a:xfrm>
            <a:off x="8595360" y="6327720"/>
            <a:ext cx="27874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c8270"/>
                </a:solidFill>
                <a:latin typeface="Calibri"/>
                <a:ea typeface="Calibri"/>
              </a:rPr>
              <a:t>16 / 17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119"/>
          <p:cNvSpPr/>
          <p:nvPr/>
        </p:nvSpPr>
        <p:spPr>
          <a:xfrm>
            <a:off x="502920" y="6327720"/>
            <a:ext cx="54849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99f8c"/>
                </a:solidFill>
                <a:latin typeface="Calibri"/>
                <a:ea typeface="Calibri"/>
              </a:rPr>
              <a:t>Harpe anti-frelons asiatiques - © J.N. Simonnet - 2026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Shape 83"/>
          <p:cNvSpPr/>
          <p:nvPr/>
        </p:nvSpPr>
        <p:spPr>
          <a:xfrm>
            <a:off x="502920" y="457200"/>
            <a:ext cx="144720" cy="711720"/>
          </a:xfrm>
          <a:prstGeom prst="rect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120"/>
          <p:cNvSpPr/>
          <p:nvPr/>
        </p:nvSpPr>
        <p:spPr>
          <a:xfrm>
            <a:off x="777240" y="420480"/>
            <a:ext cx="10605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1" strike="noStrike">
                <a:solidFill>
                  <a:srgbClr val="9c6e12"/>
                </a:solidFill>
                <a:latin typeface="Calibri"/>
                <a:ea typeface="Calibri"/>
              </a:rPr>
              <a:t>PARTIE 4 · RÉSULTATS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121"/>
          <p:cNvSpPr/>
          <p:nvPr/>
        </p:nvSpPr>
        <p:spPr>
          <a:xfrm>
            <a:off x="777240" y="658440"/>
            <a:ext cx="10879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3190e"/>
                </a:solidFill>
                <a:latin typeface="Georgia"/>
                <a:ea typeface="Georgia"/>
              </a:rPr>
              <a:t>Enseignements &amp; suite à donner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122"/>
          <p:cNvSpPr/>
          <p:nvPr/>
        </p:nvSpPr>
        <p:spPr>
          <a:xfrm>
            <a:off x="640080" y="1554480"/>
            <a:ext cx="54849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9c6e12"/>
                </a:solidFill>
                <a:latin typeface="Calibri"/>
                <a:ea typeface="Calibri"/>
              </a:rPr>
              <a:t>Ce que l'on retient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Shape 84"/>
          <p:cNvSpPr/>
          <p:nvPr/>
        </p:nvSpPr>
        <p:spPr>
          <a:xfrm>
            <a:off x="658440" y="2048400"/>
            <a:ext cx="135720" cy="13572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 123"/>
          <p:cNvSpPr/>
          <p:nvPr/>
        </p:nvSpPr>
        <p:spPr>
          <a:xfrm>
            <a:off x="914400" y="1938600"/>
            <a:ext cx="521064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15749"/>
                </a:solidFill>
                <a:latin typeface="Calibri"/>
                <a:ea typeface="Calibri"/>
              </a:rPr>
              <a:t>Les abeilles traversent les harpes, mais certaines heurtent les fils et chutent, assommées, dans le bac.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85"/>
          <p:cNvSpPr/>
          <p:nvPr/>
        </p:nvSpPr>
        <p:spPr>
          <a:xfrm>
            <a:off x="658440" y="2917080"/>
            <a:ext cx="135720" cy="13572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124"/>
          <p:cNvSpPr/>
          <p:nvPr/>
        </p:nvSpPr>
        <p:spPr>
          <a:xfrm>
            <a:off x="914400" y="2807280"/>
            <a:ext cx="521064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15749"/>
                </a:solidFill>
                <a:latin typeface="Calibri"/>
                <a:ea typeface="Calibri"/>
              </a:rPr>
              <a:t>Pic d'abeilles le 6/11 sur la harpe de gauche (proche de l'entrée) : possible mortalité d'abeilles d'été rendue visible.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Shape 86"/>
          <p:cNvSpPr/>
          <p:nvPr/>
        </p:nvSpPr>
        <p:spPr>
          <a:xfrm>
            <a:off x="658440" y="3785760"/>
            <a:ext cx="135720" cy="13572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125"/>
          <p:cNvSpPr/>
          <p:nvPr/>
        </p:nvSpPr>
        <p:spPr>
          <a:xfrm>
            <a:off x="914400" y="3675960"/>
            <a:ext cx="521064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15749"/>
                </a:solidFill>
                <a:latin typeface="Calibri"/>
                <a:ea typeface="Calibri"/>
              </a:rPr>
              <a:t>Météo limitante : pluie et temps couvert + panneau 12 W → harpes souvent non alimentées.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87"/>
          <p:cNvSpPr/>
          <p:nvPr/>
        </p:nvSpPr>
        <p:spPr>
          <a:xfrm>
            <a:off x="640080" y="4663440"/>
            <a:ext cx="5484960" cy="1461600"/>
          </a:xfrm>
          <a:prstGeom prst="rect">
            <a:avLst/>
          </a:prstGeom>
          <a:solidFill>
            <a:srgbClr val="2319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126"/>
          <p:cNvSpPr/>
          <p:nvPr/>
        </p:nvSpPr>
        <p:spPr>
          <a:xfrm>
            <a:off x="868680" y="4773240"/>
            <a:ext cx="50277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526"/>
                </a:solidFill>
                <a:latin typeface="Calibri"/>
                <a:ea typeface="Calibri"/>
              </a:rPr>
              <a:t>Suite à donner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127"/>
          <p:cNvSpPr/>
          <p:nvPr/>
        </p:nvSpPr>
        <p:spPr>
          <a:xfrm>
            <a:off x="868680" y="5120640"/>
            <a:ext cx="5073480" cy="95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9e1cf"/>
                </a:solidFill>
                <a:latin typeface="Calibri"/>
                <a:ea typeface="Calibri"/>
              </a:rPr>
              <a:t>Écarter les ruches de gauche · produit non parfumé (savon glycériné) · dégager la harpe centrale et rapprocher la barrière · filmer pour vérifier l'hypothèse · tester une harpe horizontale sous le plancher.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3" name="Image 8" descr="/tmp/assets2/bees_accum.jpg"/>
          <p:cNvPicPr/>
          <p:nvPr/>
        </p:nvPicPr>
        <p:blipFill>
          <a:blip r:embed="rId1"/>
          <a:stretch/>
        </p:blipFill>
        <p:spPr>
          <a:xfrm>
            <a:off x="6436800" y="1554480"/>
            <a:ext cx="5184720" cy="2101680"/>
          </a:xfrm>
          <a:prstGeom prst="rect">
            <a:avLst/>
          </a:prstGeom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</p:pic>
      <p:sp>
        <p:nvSpPr>
          <p:cNvPr id="304" name="Text 128"/>
          <p:cNvSpPr/>
          <p:nvPr/>
        </p:nvSpPr>
        <p:spPr>
          <a:xfrm>
            <a:off x="6355080" y="3657600"/>
            <a:ext cx="53478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c8270"/>
                </a:solidFill>
                <a:latin typeface="Calibri"/>
                <a:ea typeface="Calibri"/>
              </a:rPr>
              <a:t>Accumulation d'abeilles sur la harpe de gauche (6 nov.)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5" name="Image 9" descr="/tmp/assets2/new_layout.jpg"/>
          <p:cNvPicPr/>
          <p:nvPr/>
        </p:nvPicPr>
        <p:blipFill>
          <a:blip r:embed="rId2"/>
          <a:stretch/>
        </p:blipFill>
        <p:spPr>
          <a:xfrm>
            <a:off x="6593760" y="4069080"/>
            <a:ext cx="4870440" cy="2010240"/>
          </a:xfrm>
          <a:prstGeom prst="rect">
            <a:avLst/>
          </a:prstGeom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</p:pic>
      <p:sp>
        <p:nvSpPr>
          <p:cNvPr id="306" name="Text 129"/>
          <p:cNvSpPr/>
          <p:nvPr/>
        </p:nvSpPr>
        <p:spPr>
          <a:xfrm>
            <a:off x="6355080" y="6053400"/>
            <a:ext cx="53478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c8270"/>
                </a:solidFill>
                <a:latin typeface="Calibri"/>
                <a:ea typeface="Calibri"/>
              </a:rPr>
              <a:t>Nouvelle disposition : harpe centrale dégagée, barrière rapprochée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Shape 88"/>
          <p:cNvSpPr/>
          <p:nvPr/>
        </p:nvSpPr>
        <p:spPr>
          <a:xfrm>
            <a:off x="11475720" y="6437520"/>
            <a:ext cx="108360" cy="10836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130"/>
          <p:cNvSpPr/>
          <p:nvPr/>
        </p:nvSpPr>
        <p:spPr>
          <a:xfrm>
            <a:off x="8595360" y="6327720"/>
            <a:ext cx="27874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c8270"/>
                </a:solidFill>
                <a:latin typeface="Calibri"/>
                <a:ea typeface="Calibri"/>
              </a:rPr>
              <a:t>17 / 17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131"/>
          <p:cNvSpPr/>
          <p:nvPr/>
        </p:nvSpPr>
        <p:spPr>
          <a:xfrm>
            <a:off x="502920" y="6327720"/>
            <a:ext cx="54849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99f8c"/>
                </a:solidFill>
                <a:latin typeface="Calibri"/>
                <a:ea typeface="Calibri"/>
              </a:rPr>
              <a:t>Harpe anti-frelons asiatiques - © J.N. Simonnet - 2026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319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0"/>
          <p:cNvSpPr/>
          <p:nvPr/>
        </p:nvSpPr>
        <p:spPr>
          <a:xfrm>
            <a:off x="-1463040" y="-1463040"/>
            <a:ext cx="3016080" cy="3016080"/>
          </a:xfrm>
          <a:prstGeom prst="ellipse">
            <a:avLst/>
          </a:prstGeom>
          <a:solidFill>
            <a:srgbClr val="e0a526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1"/>
          <p:cNvSpPr/>
          <p:nvPr/>
        </p:nvSpPr>
        <p:spPr>
          <a:xfrm>
            <a:off x="10881360" y="5212080"/>
            <a:ext cx="2741760" cy="2741760"/>
          </a:xfrm>
          <a:prstGeom prst="ellipse">
            <a:avLst/>
          </a:prstGeom>
          <a:solidFill>
            <a:srgbClr val="e0a526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2"/>
          <p:cNvSpPr/>
          <p:nvPr/>
        </p:nvSpPr>
        <p:spPr>
          <a:xfrm>
            <a:off x="1005840" y="2331720"/>
            <a:ext cx="73137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389" strike="noStrike">
                <a:solidFill>
                  <a:srgbClr val="e0a526"/>
                </a:solidFill>
                <a:latin typeface="Calibri"/>
                <a:ea typeface="Calibri"/>
              </a:rPr>
              <a:t>PARTIE 5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3"/>
          <p:cNvSpPr/>
          <p:nvPr/>
        </p:nvSpPr>
        <p:spPr>
          <a:xfrm>
            <a:off x="960120" y="2743200"/>
            <a:ext cx="10056960" cy="11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Georgia"/>
                <a:ea typeface="Georgia"/>
              </a:rPr>
              <a:t>Fabriquer soi-même</a:t>
            </a:r>
            <a:endParaRPr b="0" lang="fr-F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4"/>
          <p:cNvSpPr/>
          <p:nvPr/>
        </p:nvSpPr>
        <p:spPr>
          <a:xfrm>
            <a:off x="1005840" y="3977640"/>
            <a:ext cx="1370160" cy="53280"/>
          </a:xfrm>
          <a:prstGeom prst="rect">
            <a:avLst/>
          </a:prstGeom>
          <a:solidFill>
            <a:srgbClr val="c844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5"/>
          <p:cNvSpPr/>
          <p:nvPr/>
        </p:nvSpPr>
        <p:spPr>
          <a:xfrm>
            <a:off x="1005840" y="4206240"/>
            <a:ext cx="95997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cfc6b4"/>
                </a:solidFill>
                <a:latin typeface="Calibri"/>
                <a:ea typeface="Calibri"/>
              </a:rPr>
              <a:t>Critères de conception, points d'attention et réalisation</a:t>
            </a:r>
            <a:endParaRPr b="0" lang="fr-F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Text 6"/>
          <p:cNvSpPr/>
          <p:nvPr/>
        </p:nvSpPr>
        <p:spPr>
          <a:xfrm>
            <a:off x="8595360" y="914400"/>
            <a:ext cx="3656160" cy="50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0" spc="-1" strike="noStrike">
                <a:solidFill>
                  <a:srgbClr val="33260f"/>
                </a:solidFill>
                <a:latin typeface="Georgia"/>
                <a:ea typeface="Georgia"/>
              </a:rPr>
              <a:t>5</a:t>
            </a:r>
            <a:endParaRPr b="0" lang="fr-FR" sz="30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Shape 0"/>
          <p:cNvSpPr/>
          <p:nvPr/>
        </p:nvSpPr>
        <p:spPr>
          <a:xfrm>
            <a:off x="502920" y="457200"/>
            <a:ext cx="144720" cy="711720"/>
          </a:xfrm>
          <a:prstGeom prst="rect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 1"/>
          <p:cNvSpPr/>
          <p:nvPr/>
        </p:nvSpPr>
        <p:spPr>
          <a:xfrm>
            <a:off x="777240" y="420480"/>
            <a:ext cx="10605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1" strike="noStrike">
                <a:solidFill>
                  <a:srgbClr val="9c6e12"/>
                </a:solidFill>
                <a:latin typeface="Calibri"/>
                <a:ea typeface="Calibri"/>
              </a:rPr>
              <a:t>PARTIE 3 · CONCEPTION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Text 2"/>
          <p:cNvSpPr/>
          <p:nvPr/>
        </p:nvSpPr>
        <p:spPr>
          <a:xfrm>
            <a:off x="777240" y="658440"/>
            <a:ext cx="10879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3190e"/>
                </a:solidFill>
                <a:latin typeface="Georgia"/>
                <a:ea typeface="Georgia"/>
              </a:rPr>
              <a:t>Le point d'attention n°1 : l'isolation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 3"/>
          <p:cNvSpPr/>
          <p:nvPr/>
        </p:nvSpPr>
        <p:spPr>
          <a:xfrm>
            <a:off x="640080" y="1481400"/>
            <a:ext cx="109713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615749"/>
                </a:solidFill>
                <a:latin typeface="Calibri"/>
                <a:ea typeface="Calibri"/>
              </a:rPr>
              <a:t>Une isolation irréprochable conditionne un fonctionnement durable — surtout après la pluie : le bois mouillé met des heures à sécher et fait s’écrouler la HT pendant ce temps.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Shape 4"/>
          <p:cNvSpPr/>
          <p:nvPr/>
        </p:nvSpPr>
        <p:spPr>
          <a:xfrm>
            <a:off x="640080" y="2331720"/>
            <a:ext cx="3290400" cy="1415880"/>
          </a:xfrm>
          <a:prstGeom prst="rect">
            <a:avLst/>
          </a:prstGeom>
          <a:solidFill>
            <a:srgbClr val="fbebe6"/>
          </a:solidFill>
          <a:ln w="12700">
            <a:solidFill>
              <a:srgbClr val="c844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5"/>
          <p:cNvSpPr/>
          <p:nvPr/>
        </p:nvSpPr>
        <p:spPr>
          <a:xfrm>
            <a:off x="640080" y="2395800"/>
            <a:ext cx="329040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c8442e"/>
                </a:solidFill>
                <a:latin typeface="Georgia"/>
                <a:ea typeface="Georgia"/>
              </a:rPr>
              <a:t>≈ </a:t>
            </a:r>
            <a:r>
              <a:rPr b="1" lang="en-US" sz="3400" spc="-1" strike="noStrike">
                <a:solidFill>
                  <a:srgbClr val="c8442e"/>
                </a:solidFill>
                <a:latin typeface="Georgia"/>
                <a:ea typeface="Georgia"/>
              </a:rPr>
              <a:t>4 Ω</a:t>
            </a:r>
            <a:endParaRPr b="0" lang="fr-FR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 6"/>
          <p:cNvSpPr/>
          <p:nvPr/>
        </p:nvSpPr>
        <p:spPr>
          <a:xfrm>
            <a:off x="777240" y="3035880"/>
            <a:ext cx="301608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a2a1c"/>
                </a:solidFill>
                <a:latin typeface="Calibri"/>
                <a:ea typeface="Calibri"/>
              </a:rPr>
              <a:t>Résistance d'un pont de bois mouillé (2,5 cm) — suffit à écrouler la HT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7"/>
          <p:cNvSpPr/>
          <p:nvPr/>
        </p:nvSpPr>
        <p:spPr>
          <a:xfrm>
            <a:off x="4069080" y="2331720"/>
            <a:ext cx="3290400" cy="141588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 8"/>
          <p:cNvSpPr/>
          <p:nvPr/>
        </p:nvSpPr>
        <p:spPr>
          <a:xfrm>
            <a:off x="4069080" y="2395800"/>
            <a:ext cx="329040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400" spc="-1" strike="noStrike">
                <a:solidFill>
                  <a:srgbClr val="9c6e12"/>
                </a:solidFill>
                <a:latin typeface="Georgia"/>
                <a:ea typeface="Georgia"/>
              </a:rPr>
              <a:t>2,5 mm</a:t>
            </a:r>
            <a:endParaRPr b="0" lang="fr-FR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 9"/>
          <p:cNvSpPr/>
          <p:nvPr/>
        </p:nvSpPr>
        <p:spPr>
          <a:xfrm>
            <a:off x="4206240" y="3035880"/>
            <a:ext cx="301608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15749"/>
                </a:solidFill>
                <a:latin typeface="Calibri"/>
                <a:ea typeface="Calibri"/>
              </a:rPr>
              <a:t>Écart entre plans de fils — l'air </a:t>
            </a:r>
            <a:r>
              <a:rPr b="1" lang="en-US" sz="1100" spc="-1" strike="noStrike">
                <a:solidFill>
                  <a:srgbClr val="615749"/>
                </a:solidFill>
                <a:latin typeface="Calibri"/>
                <a:ea typeface="Calibri"/>
              </a:rPr>
              <a:t>sec</a:t>
            </a:r>
            <a:r>
              <a:rPr b="0" lang="en-US" sz="1100" spc="-1" strike="noStrike">
                <a:solidFill>
                  <a:srgbClr val="615749"/>
                </a:solidFill>
                <a:latin typeface="Calibri"/>
                <a:ea typeface="Calibri"/>
              </a:rPr>
              <a:t> (3 kV/mm) isole largement les 2 kV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 10"/>
          <p:cNvSpPr/>
          <p:nvPr/>
        </p:nvSpPr>
        <p:spPr>
          <a:xfrm>
            <a:off x="640080" y="4069080"/>
            <a:ext cx="67651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9c6e12"/>
                </a:solidFill>
                <a:latin typeface="Calibri"/>
                <a:ea typeface="Calibri"/>
              </a:rPr>
              <a:t>Les mesures prises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Shape 11"/>
          <p:cNvSpPr/>
          <p:nvPr/>
        </p:nvSpPr>
        <p:spPr>
          <a:xfrm>
            <a:off x="658440" y="4572000"/>
            <a:ext cx="135720" cy="135720"/>
          </a:xfrm>
          <a:prstGeom prst="ellipse">
            <a:avLst/>
          </a:prstGeom>
          <a:solidFill>
            <a:srgbClr val="5e7d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 12"/>
          <p:cNvSpPr/>
          <p:nvPr/>
        </p:nvSpPr>
        <p:spPr>
          <a:xfrm>
            <a:off x="914400" y="4480560"/>
            <a:ext cx="64908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15749"/>
                </a:solidFill>
                <a:latin typeface="Calibri"/>
                <a:ea typeface="Calibri"/>
              </a:rPr>
              <a:t>Pièces plastique partout où le bois toucherait les fils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13"/>
          <p:cNvSpPr/>
          <p:nvPr/>
        </p:nvSpPr>
        <p:spPr>
          <a:xfrm>
            <a:off x="658440" y="5029200"/>
            <a:ext cx="135720" cy="135720"/>
          </a:xfrm>
          <a:prstGeom prst="ellipse">
            <a:avLst/>
          </a:prstGeom>
          <a:solidFill>
            <a:srgbClr val="5e7d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14"/>
          <p:cNvSpPr/>
          <p:nvPr/>
        </p:nvSpPr>
        <p:spPr>
          <a:xfrm>
            <a:off x="914400" y="4937760"/>
            <a:ext cx="64908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15749"/>
                </a:solidFill>
                <a:latin typeface="Calibri"/>
                <a:ea typeface="Calibri"/>
              </a:rPr>
              <a:t>≥ </a:t>
            </a:r>
            <a:r>
              <a:rPr b="0" lang="en-US" sz="1250" spc="-1" strike="noStrike">
                <a:solidFill>
                  <a:srgbClr val="615749"/>
                </a:solidFill>
                <a:latin typeface="Calibri"/>
                <a:ea typeface="Calibri"/>
              </a:rPr>
              <a:t>3 couches de vernis marin sur tout le bois (durabilité + isolation)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Shape 15"/>
          <p:cNvSpPr/>
          <p:nvPr/>
        </p:nvSpPr>
        <p:spPr>
          <a:xfrm>
            <a:off x="658440" y="5486400"/>
            <a:ext cx="135720" cy="135720"/>
          </a:xfrm>
          <a:prstGeom prst="ellipse">
            <a:avLst/>
          </a:prstGeom>
          <a:solidFill>
            <a:srgbClr val="5e7d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16"/>
          <p:cNvSpPr/>
          <p:nvPr/>
        </p:nvSpPr>
        <p:spPr>
          <a:xfrm>
            <a:off x="914400" y="5394960"/>
            <a:ext cx="64908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15749"/>
                </a:solidFill>
                <a:latin typeface="Calibri"/>
                <a:ea typeface="Calibri"/>
              </a:rPr>
              <a:t>Manchons thermo-rétractables là où les fils sont proches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Shape 17"/>
          <p:cNvSpPr/>
          <p:nvPr/>
        </p:nvSpPr>
        <p:spPr>
          <a:xfrm>
            <a:off x="658440" y="5943600"/>
            <a:ext cx="135720" cy="135720"/>
          </a:xfrm>
          <a:prstGeom prst="ellipse">
            <a:avLst/>
          </a:prstGeom>
          <a:solidFill>
            <a:srgbClr val="5e7d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18"/>
          <p:cNvSpPr/>
          <p:nvPr/>
        </p:nvSpPr>
        <p:spPr>
          <a:xfrm>
            <a:off x="914400" y="5852160"/>
            <a:ext cx="64908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15749"/>
                </a:solidFill>
                <a:latin typeface="Calibri"/>
                <a:ea typeface="Calibri"/>
              </a:rPr>
              <a:t>Chapeau anti-pluie + pas d'accumulation d'eau (évaporation rapide)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6" name="Image 0" descr="/tmp/assets/bar_isolators.jpg"/>
          <p:cNvPicPr/>
          <p:nvPr/>
        </p:nvPicPr>
        <p:blipFill>
          <a:blip r:embed="rId1"/>
          <a:stretch/>
        </p:blipFill>
        <p:spPr>
          <a:xfrm>
            <a:off x="7635240" y="2356920"/>
            <a:ext cx="4113360" cy="1403640"/>
          </a:xfrm>
          <a:prstGeom prst="rect">
            <a:avLst/>
          </a:prstGeom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</p:pic>
      <p:pic>
        <p:nvPicPr>
          <p:cNvPr id="337" name="Image 1" descr="/tmp/assets/isolator_3d.jpg"/>
          <p:cNvPicPr/>
          <p:nvPr/>
        </p:nvPicPr>
        <p:blipFill>
          <a:blip r:embed="rId2"/>
          <a:stretch/>
        </p:blipFill>
        <p:spPr>
          <a:xfrm>
            <a:off x="7984440" y="4428000"/>
            <a:ext cx="2595240" cy="1827360"/>
          </a:xfrm>
          <a:prstGeom prst="rect">
            <a:avLst/>
          </a:prstGeom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</p:pic>
      <p:sp>
        <p:nvSpPr>
          <p:cNvPr id="338" name="Text 19"/>
          <p:cNvSpPr/>
          <p:nvPr/>
        </p:nvSpPr>
        <p:spPr>
          <a:xfrm>
            <a:off x="7225560" y="6211080"/>
            <a:ext cx="41133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c8270"/>
                </a:solidFill>
                <a:latin typeface="Calibri"/>
                <a:ea typeface="Calibri"/>
              </a:rPr>
              <a:t>Barre transversale isolée · isolateur imprimé en 3D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Shape 20"/>
          <p:cNvSpPr/>
          <p:nvPr/>
        </p:nvSpPr>
        <p:spPr>
          <a:xfrm>
            <a:off x="11475720" y="6437520"/>
            <a:ext cx="108360" cy="10836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21"/>
          <p:cNvSpPr/>
          <p:nvPr/>
        </p:nvSpPr>
        <p:spPr>
          <a:xfrm>
            <a:off x="10424160" y="6327720"/>
            <a:ext cx="9586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c8270"/>
                </a:solidFill>
                <a:latin typeface="Calibri"/>
                <a:ea typeface="Calibri"/>
              </a:rPr>
              <a:t>5 / 17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 22"/>
          <p:cNvSpPr/>
          <p:nvPr/>
        </p:nvSpPr>
        <p:spPr>
          <a:xfrm>
            <a:off x="502920" y="6327720"/>
            <a:ext cx="54849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99f8c"/>
                </a:solidFill>
                <a:latin typeface="Calibri"/>
                <a:ea typeface="Calibri"/>
              </a:rPr>
              <a:t>Harpe anti-frelons asiatiques - © J.N. Simonnet - 2026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0"/>
          <p:cNvSpPr/>
          <p:nvPr/>
        </p:nvSpPr>
        <p:spPr>
          <a:xfrm>
            <a:off x="502920" y="457200"/>
            <a:ext cx="144720" cy="711720"/>
          </a:xfrm>
          <a:prstGeom prst="rect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1"/>
          <p:cNvSpPr/>
          <p:nvPr/>
        </p:nvSpPr>
        <p:spPr>
          <a:xfrm>
            <a:off x="777240" y="420480"/>
            <a:ext cx="10605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1" strike="noStrike">
                <a:solidFill>
                  <a:srgbClr val="9c6e12"/>
                </a:solidFill>
                <a:latin typeface="Calibri"/>
                <a:ea typeface="Calibri"/>
              </a:rPr>
              <a:t>PARTIE 3 · CONCEPTION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 2"/>
          <p:cNvSpPr/>
          <p:nvPr/>
        </p:nvSpPr>
        <p:spPr>
          <a:xfrm>
            <a:off x="777240" y="658440"/>
            <a:ext cx="10879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3190e"/>
                </a:solidFill>
                <a:latin typeface="Georgia"/>
                <a:ea typeface="Georgia"/>
              </a:rPr>
              <a:t>Mes améliorations sur le design d'origine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3"/>
          <p:cNvSpPr/>
          <p:nvPr/>
        </p:nvSpPr>
        <p:spPr>
          <a:xfrm>
            <a:off x="640080" y="1554480"/>
            <a:ext cx="3564720" cy="141588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Shape 4"/>
          <p:cNvSpPr/>
          <p:nvPr/>
        </p:nvSpPr>
        <p:spPr>
          <a:xfrm>
            <a:off x="841320" y="1755720"/>
            <a:ext cx="382680" cy="38268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 5"/>
          <p:cNvSpPr/>
          <p:nvPr/>
        </p:nvSpPr>
        <p:spPr>
          <a:xfrm>
            <a:off x="841320" y="175572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3190e"/>
                </a:solidFill>
                <a:latin typeface="Georgia"/>
                <a:ea typeface="Georgia"/>
              </a:rPr>
              <a:t>1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6"/>
          <p:cNvSpPr/>
          <p:nvPr/>
        </p:nvSpPr>
        <p:spPr>
          <a:xfrm>
            <a:off x="1371600" y="1737360"/>
            <a:ext cx="26503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3190e"/>
                </a:solidFill>
                <a:latin typeface="Calibri"/>
                <a:ea typeface="Calibri"/>
              </a:rPr>
              <a:t>Pièces imprimées en 3D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 7"/>
          <p:cNvSpPr/>
          <p:nvPr/>
        </p:nvSpPr>
        <p:spPr>
          <a:xfrm>
            <a:off x="859680" y="2267640"/>
            <a:ext cx="312588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15749"/>
                </a:solidFill>
                <a:latin typeface="Calibri"/>
                <a:ea typeface="Calibri"/>
              </a:rPr>
              <a:t>Espacement précis (±0,5 mm) et durabilité : fini la gaine annelée détruite par les UV.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8"/>
          <p:cNvSpPr/>
          <p:nvPr/>
        </p:nvSpPr>
        <p:spPr>
          <a:xfrm>
            <a:off x="4453200" y="1554480"/>
            <a:ext cx="3564720" cy="141588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Shape 9"/>
          <p:cNvSpPr/>
          <p:nvPr/>
        </p:nvSpPr>
        <p:spPr>
          <a:xfrm>
            <a:off x="4654440" y="1755720"/>
            <a:ext cx="382680" cy="38268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 10"/>
          <p:cNvSpPr/>
          <p:nvPr/>
        </p:nvSpPr>
        <p:spPr>
          <a:xfrm>
            <a:off x="4654440" y="175572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3190e"/>
                </a:solidFill>
                <a:latin typeface="Georgia"/>
                <a:ea typeface="Georgia"/>
              </a:rPr>
              <a:t>2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11"/>
          <p:cNvSpPr/>
          <p:nvPr/>
        </p:nvSpPr>
        <p:spPr>
          <a:xfrm>
            <a:off x="5184720" y="1737360"/>
            <a:ext cx="26503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3190e"/>
                </a:solidFill>
                <a:latin typeface="Calibri"/>
                <a:ea typeface="Calibri"/>
              </a:rPr>
              <a:t>Sécurité court-circuit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12"/>
          <p:cNvSpPr/>
          <p:nvPr/>
        </p:nvSpPr>
        <p:spPr>
          <a:xfrm>
            <a:off x="4672440" y="2267640"/>
            <a:ext cx="312588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15749"/>
                </a:solidFill>
                <a:latin typeface="Calibri"/>
                <a:ea typeface="Calibri"/>
              </a:rPr>
              <a:t>Un court-circuit détruisait le condensateur 100 nF → simple étourdissement. Protection ajoutée.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13"/>
          <p:cNvSpPr/>
          <p:nvPr/>
        </p:nvSpPr>
        <p:spPr>
          <a:xfrm>
            <a:off x="8266320" y="1554480"/>
            <a:ext cx="3564720" cy="141588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Shape 14"/>
          <p:cNvSpPr/>
          <p:nvPr/>
        </p:nvSpPr>
        <p:spPr>
          <a:xfrm>
            <a:off x="8467200" y="1755720"/>
            <a:ext cx="382680" cy="38268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Text 15"/>
          <p:cNvSpPr/>
          <p:nvPr/>
        </p:nvSpPr>
        <p:spPr>
          <a:xfrm>
            <a:off x="8467200" y="175572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3190e"/>
                </a:solidFill>
                <a:latin typeface="Georgia"/>
                <a:ea typeface="Georgia"/>
              </a:rPr>
              <a:t>3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16"/>
          <p:cNvSpPr/>
          <p:nvPr/>
        </p:nvSpPr>
        <p:spPr>
          <a:xfrm>
            <a:off x="8997840" y="1737360"/>
            <a:ext cx="26503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3190e"/>
                </a:solidFill>
                <a:latin typeface="Calibri"/>
                <a:ea typeface="Calibri"/>
              </a:rPr>
              <a:t>Coupure rapide de la HT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Text 17"/>
          <p:cNvSpPr/>
          <p:nvPr/>
        </p:nvSpPr>
        <p:spPr>
          <a:xfrm>
            <a:off x="8485560" y="2267640"/>
            <a:ext cx="312588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15749"/>
                </a:solidFill>
                <a:latin typeface="Calibri"/>
                <a:ea typeface="Calibri"/>
              </a:rPr>
              <a:t>Sans elle, la HT subsiste 2–3 min après l'arrêt (décharge du condensateur) : risque opérateur.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8"/>
          <p:cNvSpPr/>
          <p:nvPr/>
        </p:nvSpPr>
        <p:spPr>
          <a:xfrm>
            <a:off x="640080" y="3200400"/>
            <a:ext cx="3564720" cy="141588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Shape 19"/>
          <p:cNvSpPr/>
          <p:nvPr/>
        </p:nvSpPr>
        <p:spPr>
          <a:xfrm>
            <a:off x="841320" y="3401640"/>
            <a:ext cx="382680" cy="38268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 20"/>
          <p:cNvSpPr/>
          <p:nvPr/>
        </p:nvSpPr>
        <p:spPr>
          <a:xfrm>
            <a:off x="841320" y="340164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3190e"/>
                </a:solidFill>
                <a:latin typeface="Georgia"/>
                <a:ea typeface="Georgia"/>
              </a:rPr>
              <a:t>4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21"/>
          <p:cNvSpPr/>
          <p:nvPr/>
        </p:nvSpPr>
        <p:spPr>
          <a:xfrm>
            <a:off x="1371600" y="3383280"/>
            <a:ext cx="26503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3190e"/>
                </a:solidFill>
                <a:latin typeface="Calibri"/>
                <a:ea typeface="Calibri"/>
              </a:rPr>
              <a:t>Mesure de la HT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Text 22"/>
          <p:cNvSpPr/>
          <p:nvPr/>
        </p:nvSpPr>
        <p:spPr>
          <a:xfrm>
            <a:off x="859680" y="3913560"/>
            <a:ext cx="312588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15749"/>
                </a:solidFill>
                <a:latin typeface="Calibri"/>
                <a:ea typeface="Calibri"/>
              </a:rPr>
              <a:t>Détecte les déclenchements et, comparée au bac à eau, mesure l'efficacité du dispositif.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23"/>
          <p:cNvSpPr/>
          <p:nvPr/>
        </p:nvSpPr>
        <p:spPr>
          <a:xfrm>
            <a:off x="4453200" y="3200400"/>
            <a:ext cx="3564720" cy="141588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Shape 24"/>
          <p:cNvSpPr/>
          <p:nvPr/>
        </p:nvSpPr>
        <p:spPr>
          <a:xfrm>
            <a:off x="4654440" y="3401640"/>
            <a:ext cx="382680" cy="38268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Text 25"/>
          <p:cNvSpPr/>
          <p:nvPr/>
        </p:nvSpPr>
        <p:spPr>
          <a:xfrm>
            <a:off x="4654440" y="340164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3190e"/>
                </a:solidFill>
                <a:latin typeface="Georgia"/>
                <a:ea typeface="Georgia"/>
              </a:rPr>
              <a:t>5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 26"/>
          <p:cNvSpPr/>
          <p:nvPr/>
        </p:nvSpPr>
        <p:spPr>
          <a:xfrm>
            <a:off x="5184720" y="3383280"/>
            <a:ext cx="26503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3190e"/>
                </a:solidFill>
                <a:latin typeface="Calibri"/>
                <a:ea typeface="Calibri"/>
              </a:rPr>
              <a:t>Condensateur 470 nF / 2 kV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 27"/>
          <p:cNvSpPr/>
          <p:nvPr/>
        </p:nvSpPr>
        <p:spPr>
          <a:xfrm>
            <a:off x="4672440" y="3913560"/>
            <a:ext cx="312588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15749"/>
                </a:solidFill>
                <a:latin typeface="Calibri"/>
                <a:ea typeface="Calibri"/>
              </a:rPr>
              <a:t>Augmente l'énergie de décharge : tue le frelon au lieu de seulement l'étourdir.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28"/>
          <p:cNvSpPr/>
          <p:nvPr/>
        </p:nvSpPr>
        <p:spPr>
          <a:xfrm>
            <a:off x="8266320" y="3200400"/>
            <a:ext cx="3564720" cy="141588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Shape 29"/>
          <p:cNvSpPr/>
          <p:nvPr/>
        </p:nvSpPr>
        <p:spPr>
          <a:xfrm>
            <a:off x="8467200" y="3401640"/>
            <a:ext cx="382680" cy="38268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Text 30"/>
          <p:cNvSpPr/>
          <p:nvPr/>
        </p:nvSpPr>
        <p:spPr>
          <a:xfrm>
            <a:off x="8467200" y="3401640"/>
            <a:ext cx="3826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3190e"/>
                </a:solidFill>
                <a:latin typeface="Georgia"/>
                <a:ea typeface="Georgia"/>
              </a:rPr>
              <a:t>6</a:t>
            </a:r>
            <a:endParaRPr b="0" lang="fr-F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31"/>
          <p:cNvSpPr/>
          <p:nvPr/>
        </p:nvSpPr>
        <p:spPr>
          <a:xfrm>
            <a:off x="8997840" y="3383280"/>
            <a:ext cx="26503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3190e"/>
                </a:solidFill>
                <a:latin typeface="Calibri"/>
                <a:ea typeface="Calibri"/>
              </a:rPr>
              <a:t>Objet connecté (LoRaWAN)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32"/>
          <p:cNvSpPr/>
          <p:nvPr/>
        </p:nvSpPr>
        <p:spPr>
          <a:xfrm>
            <a:off x="8485560" y="3913560"/>
            <a:ext cx="312588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615749"/>
                </a:solidFill>
                <a:latin typeface="Calibri"/>
                <a:ea typeface="Calibri"/>
              </a:rPr>
              <a:t>Suivi de l'activité du frelon dans le temps et de l'efficacité, à distance.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Shape 33"/>
          <p:cNvSpPr/>
          <p:nvPr/>
        </p:nvSpPr>
        <p:spPr>
          <a:xfrm>
            <a:off x="11475720" y="6437520"/>
            <a:ext cx="108360" cy="10836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 34"/>
          <p:cNvSpPr/>
          <p:nvPr/>
        </p:nvSpPr>
        <p:spPr>
          <a:xfrm>
            <a:off x="10424160" y="6327720"/>
            <a:ext cx="9586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c8270"/>
                </a:solidFill>
                <a:latin typeface="Calibri"/>
                <a:ea typeface="Calibri"/>
              </a:rPr>
              <a:t>6 / 17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 35"/>
          <p:cNvSpPr/>
          <p:nvPr/>
        </p:nvSpPr>
        <p:spPr>
          <a:xfrm>
            <a:off x="502920" y="6327720"/>
            <a:ext cx="54849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99f8c"/>
                </a:solidFill>
                <a:latin typeface="Calibri"/>
                <a:ea typeface="Calibri"/>
              </a:rPr>
              <a:t>Harpe anti-frelons asiatiques - © J.N. Simonnet - 2026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0"/>
          <p:cNvSpPr/>
          <p:nvPr/>
        </p:nvSpPr>
        <p:spPr>
          <a:xfrm>
            <a:off x="502920" y="457200"/>
            <a:ext cx="144720" cy="711720"/>
          </a:xfrm>
          <a:prstGeom prst="rect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Text 1"/>
          <p:cNvSpPr/>
          <p:nvPr/>
        </p:nvSpPr>
        <p:spPr>
          <a:xfrm>
            <a:off x="777240" y="420480"/>
            <a:ext cx="10605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1" strike="noStrike">
                <a:solidFill>
                  <a:srgbClr val="9c6e12"/>
                </a:solidFill>
                <a:latin typeface="Calibri"/>
                <a:ea typeface="Calibri"/>
              </a:rPr>
              <a:t>PARTIE 3 · MÉCANIQUE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Text 2"/>
          <p:cNvSpPr/>
          <p:nvPr/>
        </p:nvSpPr>
        <p:spPr>
          <a:xfrm>
            <a:off x="777240" y="658440"/>
            <a:ext cx="10879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3190e"/>
                </a:solidFill>
                <a:latin typeface="Georgia"/>
                <a:ea typeface="Georgia"/>
              </a:rPr>
              <a:t>Construire les harpes : l'essentiel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Shape 3"/>
          <p:cNvSpPr/>
          <p:nvPr/>
        </p:nvSpPr>
        <p:spPr>
          <a:xfrm>
            <a:off x="640080" y="1554480"/>
            <a:ext cx="2668680" cy="1141560"/>
          </a:xfrm>
          <a:prstGeom prst="rect">
            <a:avLst/>
          </a:prstGeom>
          <a:solidFill>
            <a:srgbClr val="2319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 4"/>
          <p:cNvSpPr/>
          <p:nvPr/>
        </p:nvSpPr>
        <p:spPr>
          <a:xfrm>
            <a:off x="640080" y="1627560"/>
            <a:ext cx="26686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e0a526"/>
                </a:solidFill>
                <a:latin typeface="Georgia"/>
                <a:ea typeface="Georgia"/>
              </a:rPr>
              <a:t>3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5"/>
          <p:cNvSpPr/>
          <p:nvPr/>
        </p:nvSpPr>
        <p:spPr>
          <a:xfrm>
            <a:off x="731520" y="2240280"/>
            <a:ext cx="24858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9e1cf"/>
                </a:solidFill>
                <a:latin typeface="Calibri"/>
                <a:ea typeface="Calibri"/>
              </a:rPr>
              <a:t>harpes pour 5 ruches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Shape 6"/>
          <p:cNvSpPr/>
          <p:nvPr/>
        </p:nvSpPr>
        <p:spPr>
          <a:xfrm>
            <a:off x="3493080" y="1554480"/>
            <a:ext cx="2668680" cy="1141560"/>
          </a:xfrm>
          <a:prstGeom prst="rect">
            <a:avLst/>
          </a:prstGeom>
          <a:solidFill>
            <a:srgbClr val="2319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 7"/>
          <p:cNvSpPr/>
          <p:nvPr/>
        </p:nvSpPr>
        <p:spPr>
          <a:xfrm>
            <a:off x="3493080" y="1627560"/>
            <a:ext cx="26686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e0a526"/>
                </a:solidFill>
                <a:latin typeface="Georgia"/>
                <a:ea typeface="Georgia"/>
              </a:rPr>
              <a:t>72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Text 8"/>
          <p:cNvSpPr/>
          <p:nvPr/>
        </p:nvSpPr>
        <p:spPr>
          <a:xfrm>
            <a:off x="3584520" y="2240280"/>
            <a:ext cx="24858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9e1cf"/>
                </a:solidFill>
                <a:latin typeface="Calibri"/>
                <a:ea typeface="Calibri"/>
              </a:rPr>
              <a:t>isolateurs 3D (24/harpe)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Shape 9"/>
          <p:cNvSpPr/>
          <p:nvPr/>
        </p:nvSpPr>
        <p:spPr>
          <a:xfrm>
            <a:off x="6346080" y="1554480"/>
            <a:ext cx="2668680" cy="1141560"/>
          </a:xfrm>
          <a:prstGeom prst="rect">
            <a:avLst/>
          </a:prstGeom>
          <a:solidFill>
            <a:srgbClr val="2319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 10"/>
          <p:cNvSpPr/>
          <p:nvPr/>
        </p:nvSpPr>
        <p:spPr>
          <a:xfrm>
            <a:off x="6346080" y="1627560"/>
            <a:ext cx="26686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e0a526"/>
                </a:solidFill>
                <a:latin typeface="Georgia"/>
                <a:ea typeface="Georgia"/>
              </a:rPr>
              <a:t>48 m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 11"/>
          <p:cNvSpPr/>
          <p:nvPr/>
        </p:nvSpPr>
        <p:spPr>
          <a:xfrm>
            <a:off x="6437520" y="2240280"/>
            <a:ext cx="24858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9e1cf"/>
                </a:solidFill>
                <a:latin typeface="Calibri"/>
                <a:ea typeface="Calibri"/>
              </a:rPr>
              <a:t>de fil inox 0,5 mm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Shape 12"/>
          <p:cNvSpPr/>
          <p:nvPr/>
        </p:nvSpPr>
        <p:spPr>
          <a:xfrm>
            <a:off x="9198720" y="1554480"/>
            <a:ext cx="2668680" cy="1141560"/>
          </a:xfrm>
          <a:prstGeom prst="rect">
            <a:avLst/>
          </a:prstGeom>
          <a:solidFill>
            <a:srgbClr val="2319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13"/>
          <p:cNvSpPr/>
          <p:nvPr/>
        </p:nvSpPr>
        <p:spPr>
          <a:xfrm>
            <a:off x="9198720" y="1627560"/>
            <a:ext cx="266868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e0a526"/>
                </a:solidFill>
                <a:latin typeface="Georgia"/>
                <a:ea typeface="Georgia"/>
              </a:rPr>
              <a:t>3 j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Text 14"/>
          <p:cNvSpPr/>
          <p:nvPr/>
        </p:nvSpPr>
        <p:spPr>
          <a:xfrm>
            <a:off x="9290160" y="2240280"/>
            <a:ext cx="248580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e9e1cf"/>
                </a:solidFill>
                <a:latin typeface="Calibri"/>
                <a:ea typeface="Calibri"/>
              </a:rPr>
              <a:t>de travail (séchage vernis)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 15"/>
          <p:cNvSpPr/>
          <p:nvPr/>
        </p:nvSpPr>
        <p:spPr>
          <a:xfrm>
            <a:off x="640080" y="2971800"/>
            <a:ext cx="56678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9c6e12"/>
                </a:solidFill>
                <a:latin typeface="Calibri"/>
                <a:ea typeface="Calibri"/>
              </a:rPr>
              <a:t>Matériel principal (3 harpes)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Shape 16"/>
          <p:cNvSpPr/>
          <p:nvPr/>
        </p:nvSpPr>
        <p:spPr>
          <a:xfrm>
            <a:off x="658440" y="3474720"/>
            <a:ext cx="135720" cy="13572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 17"/>
          <p:cNvSpPr/>
          <p:nvPr/>
        </p:nvSpPr>
        <p:spPr>
          <a:xfrm>
            <a:off x="914400" y="3383280"/>
            <a:ext cx="53935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15749"/>
                </a:solidFill>
                <a:latin typeface="Calibri"/>
                <a:ea typeface="Calibri"/>
              </a:rPr>
              <a:t>8 tasseaux bois 15×38 mm + planchettes chapeau + planches piétement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Shape 18"/>
          <p:cNvSpPr/>
          <p:nvPr/>
        </p:nvSpPr>
        <p:spPr>
          <a:xfrm>
            <a:off x="658440" y="4023360"/>
            <a:ext cx="135720" cy="13572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Text 19"/>
          <p:cNvSpPr/>
          <p:nvPr/>
        </p:nvSpPr>
        <p:spPr>
          <a:xfrm>
            <a:off x="914400" y="3931920"/>
            <a:ext cx="53935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15749"/>
                </a:solidFill>
                <a:latin typeface="Calibri"/>
                <a:ea typeface="Calibri"/>
              </a:rPr>
              <a:t>Fil inox 0,5 mm, équerres galva, vis ; câble souple 2G0,75 (HT)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20"/>
          <p:cNvSpPr/>
          <p:nvPr/>
        </p:nvSpPr>
        <p:spPr>
          <a:xfrm>
            <a:off x="658440" y="4572000"/>
            <a:ext cx="135720" cy="13572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21"/>
          <p:cNvSpPr/>
          <p:nvPr/>
        </p:nvSpPr>
        <p:spPr>
          <a:xfrm>
            <a:off x="914400" y="4480560"/>
            <a:ext cx="53935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15749"/>
                </a:solidFill>
                <a:latin typeface="Calibri"/>
                <a:ea typeface="Calibri"/>
              </a:rPr>
              <a:t>72 isolateurs imprimés 3D + gaines thermo-rétractables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Shape 22"/>
          <p:cNvSpPr/>
          <p:nvPr/>
        </p:nvSpPr>
        <p:spPr>
          <a:xfrm>
            <a:off x="658440" y="5120640"/>
            <a:ext cx="135720" cy="13572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Text 23"/>
          <p:cNvSpPr/>
          <p:nvPr/>
        </p:nvSpPr>
        <p:spPr>
          <a:xfrm>
            <a:off x="914400" y="5029200"/>
            <a:ext cx="53935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15749"/>
                </a:solidFill>
                <a:latin typeface="Calibri"/>
                <a:ea typeface="Calibri"/>
              </a:rPr>
              <a:t>Vernis marin, plaques « Danger Haute Tension », connecteurs étanches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 24"/>
          <p:cNvSpPr/>
          <p:nvPr/>
        </p:nvSpPr>
        <p:spPr>
          <a:xfrm>
            <a:off x="640080" y="5715000"/>
            <a:ext cx="566784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50" spc="-1" strike="noStrike">
                <a:solidFill>
                  <a:srgbClr val="615749"/>
                </a:solidFill>
                <a:latin typeface="Calibri"/>
                <a:ea typeface="Calibri"/>
              </a:rPr>
              <a:t>Cadre 60 × 60 cm · 11 fils par plan × 2 plans · 14 étapes : vernir, imprimer les isolateurs, monter le cadre &amp; le piétement, enfiler puis tendre les fils, poser le chapeau.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3" name="Image 0" descr="/tmp/assets/frame_wires.jpg"/>
          <p:cNvPicPr/>
          <p:nvPr/>
        </p:nvPicPr>
        <p:blipFill>
          <a:blip r:embed="rId1"/>
          <a:stretch/>
        </p:blipFill>
        <p:spPr>
          <a:xfrm>
            <a:off x="6629400" y="3099960"/>
            <a:ext cx="2467440" cy="3033720"/>
          </a:xfrm>
          <a:prstGeom prst="rect">
            <a:avLst/>
          </a:prstGeom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</p:pic>
      <p:pic>
        <p:nvPicPr>
          <p:cNvPr id="404" name="Image 1" descr="/tmp/assets/inox_bars.jpg"/>
          <p:cNvPicPr/>
          <p:nvPr/>
        </p:nvPicPr>
        <p:blipFill>
          <a:blip r:embed="rId2"/>
          <a:stretch/>
        </p:blipFill>
        <p:spPr>
          <a:xfrm>
            <a:off x="9281160" y="3304440"/>
            <a:ext cx="1095840" cy="2625480"/>
          </a:xfrm>
          <a:prstGeom prst="rect">
            <a:avLst/>
          </a:prstGeom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</p:pic>
      <p:pic>
        <p:nvPicPr>
          <p:cNvPr id="405" name="Image 2" descr="/tmp/assets/warning_plate.jpg"/>
          <p:cNvPicPr/>
          <p:nvPr/>
        </p:nvPicPr>
        <p:blipFill>
          <a:blip r:embed="rId3"/>
          <a:stretch/>
        </p:blipFill>
        <p:spPr>
          <a:xfrm>
            <a:off x="10515600" y="3452400"/>
            <a:ext cx="1233000" cy="2328840"/>
          </a:xfrm>
          <a:prstGeom prst="rect">
            <a:avLst/>
          </a:prstGeom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</p:pic>
      <p:sp>
        <p:nvSpPr>
          <p:cNvPr id="406" name="Shape 25"/>
          <p:cNvSpPr/>
          <p:nvPr/>
        </p:nvSpPr>
        <p:spPr>
          <a:xfrm>
            <a:off x="11475720" y="6437520"/>
            <a:ext cx="108360" cy="10836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Text 26"/>
          <p:cNvSpPr/>
          <p:nvPr/>
        </p:nvSpPr>
        <p:spPr>
          <a:xfrm>
            <a:off x="10424160" y="6327720"/>
            <a:ext cx="9586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c8270"/>
                </a:solidFill>
                <a:latin typeface="Calibri"/>
                <a:ea typeface="Calibri"/>
              </a:rPr>
              <a:t>7 / 17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27"/>
          <p:cNvSpPr/>
          <p:nvPr/>
        </p:nvSpPr>
        <p:spPr>
          <a:xfrm>
            <a:off x="502920" y="6327720"/>
            <a:ext cx="54849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99f8c"/>
                </a:solidFill>
                <a:latin typeface="Calibri"/>
                <a:ea typeface="Calibri"/>
              </a:rPr>
              <a:t>Harpe anti-frelons asiatiques - © J.N. Simonnet - 2026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Shape 0"/>
          <p:cNvSpPr/>
          <p:nvPr/>
        </p:nvSpPr>
        <p:spPr>
          <a:xfrm>
            <a:off x="502920" y="457200"/>
            <a:ext cx="144720" cy="711720"/>
          </a:xfrm>
          <a:prstGeom prst="rect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1"/>
          <p:cNvSpPr/>
          <p:nvPr/>
        </p:nvSpPr>
        <p:spPr>
          <a:xfrm>
            <a:off x="777240" y="420480"/>
            <a:ext cx="10605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1" strike="noStrike">
                <a:solidFill>
                  <a:srgbClr val="9c6e12"/>
                </a:solidFill>
                <a:latin typeface="Calibri"/>
                <a:ea typeface="Calibri"/>
              </a:rPr>
              <a:t>PARTIE 3 · MÉCANIQUE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 2"/>
          <p:cNvSpPr/>
          <p:nvPr/>
        </p:nvSpPr>
        <p:spPr>
          <a:xfrm>
            <a:off x="777240" y="658440"/>
            <a:ext cx="10879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3190e"/>
                </a:solidFill>
                <a:latin typeface="Georgia"/>
                <a:ea typeface="Georgia"/>
              </a:rPr>
              <a:t>La réalisation en images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3"/>
          <p:cNvSpPr/>
          <p:nvPr/>
        </p:nvSpPr>
        <p:spPr>
          <a:xfrm>
            <a:off x="640080" y="1554480"/>
            <a:ext cx="3583080" cy="205596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3" name="Image 0" descr="/tmp/assets/frame_step.jpg"/>
          <p:cNvPicPr/>
          <p:nvPr/>
        </p:nvPicPr>
        <p:blipFill>
          <a:blip r:embed="rId1"/>
          <a:stretch/>
        </p:blipFill>
        <p:spPr>
          <a:xfrm>
            <a:off x="1589400" y="1627560"/>
            <a:ext cx="1684440" cy="1909800"/>
          </a:xfrm>
          <a:prstGeom prst="rect">
            <a:avLst/>
          </a:prstGeom>
          <a:ln w="0">
            <a:noFill/>
          </a:ln>
        </p:spPr>
      </p:pic>
      <p:sp>
        <p:nvSpPr>
          <p:cNvPr id="414" name="Text 4"/>
          <p:cNvSpPr/>
          <p:nvPr/>
        </p:nvSpPr>
        <p:spPr>
          <a:xfrm>
            <a:off x="640080" y="3630240"/>
            <a:ext cx="35830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c8270"/>
                </a:solidFill>
                <a:latin typeface="Calibri"/>
                <a:ea typeface="Calibri"/>
              </a:rPr>
              <a:t>Assemblage du cadre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Shape 5"/>
          <p:cNvSpPr/>
          <p:nvPr/>
        </p:nvSpPr>
        <p:spPr>
          <a:xfrm>
            <a:off x="4480560" y="1554480"/>
            <a:ext cx="3583080" cy="205596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6" name="Image 1" descr="/tmp/assets/bar_isolators.jpg"/>
          <p:cNvPicPr/>
          <p:nvPr/>
        </p:nvPicPr>
        <p:blipFill>
          <a:blip r:embed="rId2"/>
          <a:stretch/>
        </p:blipFill>
        <p:spPr>
          <a:xfrm>
            <a:off x="4553640" y="1996200"/>
            <a:ext cx="3436560" cy="1172520"/>
          </a:xfrm>
          <a:prstGeom prst="rect">
            <a:avLst/>
          </a:prstGeom>
          <a:ln w="0">
            <a:noFill/>
          </a:ln>
        </p:spPr>
      </p:pic>
      <p:sp>
        <p:nvSpPr>
          <p:cNvPr id="417" name="Text 6"/>
          <p:cNvSpPr/>
          <p:nvPr/>
        </p:nvSpPr>
        <p:spPr>
          <a:xfrm>
            <a:off x="4480560" y="3630240"/>
            <a:ext cx="35830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c8270"/>
                </a:solidFill>
                <a:latin typeface="Calibri"/>
                <a:ea typeface="Calibri"/>
              </a:rPr>
              <a:t>Barre + isolateurs 3D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7"/>
          <p:cNvSpPr/>
          <p:nvPr/>
        </p:nvSpPr>
        <p:spPr>
          <a:xfrm>
            <a:off x="8321040" y="1554480"/>
            <a:ext cx="3583080" cy="205596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9" name="Image 2" descr="/tmp/assets/drill_plan.jpg"/>
          <p:cNvPicPr/>
          <p:nvPr/>
        </p:nvPicPr>
        <p:blipFill>
          <a:blip r:embed="rId3"/>
          <a:stretch/>
        </p:blipFill>
        <p:spPr>
          <a:xfrm>
            <a:off x="8394120" y="2167920"/>
            <a:ext cx="3436560" cy="828720"/>
          </a:xfrm>
          <a:prstGeom prst="rect">
            <a:avLst/>
          </a:prstGeom>
          <a:ln w="0">
            <a:noFill/>
          </a:ln>
        </p:spPr>
      </p:pic>
      <p:sp>
        <p:nvSpPr>
          <p:cNvPr id="420" name="Text 8"/>
          <p:cNvSpPr/>
          <p:nvPr/>
        </p:nvSpPr>
        <p:spPr>
          <a:xfrm>
            <a:off x="8321040" y="3630240"/>
            <a:ext cx="35830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c8270"/>
                </a:solidFill>
                <a:latin typeface="Calibri"/>
                <a:ea typeface="Calibri"/>
              </a:rPr>
              <a:t>Plan : passage des fils HT+/HT−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Shape 9"/>
          <p:cNvSpPr/>
          <p:nvPr/>
        </p:nvSpPr>
        <p:spPr>
          <a:xfrm>
            <a:off x="640080" y="4096440"/>
            <a:ext cx="3583080" cy="205596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2" name="Image 3" descr="/tmp/assets/harp_full.jpg"/>
          <p:cNvPicPr/>
          <p:nvPr/>
        </p:nvPicPr>
        <p:blipFill>
          <a:blip r:embed="rId4"/>
          <a:stretch/>
        </p:blipFill>
        <p:spPr>
          <a:xfrm>
            <a:off x="1492200" y="4169520"/>
            <a:ext cx="1878840" cy="1909800"/>
          </a:xfrm>
          <a:prstGeom prst="rect">
            <a:avLst/>
          </a:prstGeom>
          <a:ln w="0">
            <a:noFill/>
          </a:ln>
        </p:spPr>
      </p:pic>
      <p:sp>
        <p:nvSpPr>
          <p:cNvPr id="423" name="Text 10"/>
          <p:cNvSpPr/>
          <p:nvPr/>
        </p:nvSpPr>
        <p:spPr>
          <a:xfrm>
            <a:off x="640080" y="6172200"/>
            <a:ext cx="35830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c8270"/>
                </a:solidFill>
                <a:latin typeface="Calibri"/>
                <a:ea typeface="Calibri"/>
              </a:rPr>
              <a:t>Harpe complète + bac à eau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11"/>
          <p:cNvSpPr/>
          <p:nvPr/>
        </p:nvSpPr>
        <p:spPr>
          <a:xfrm>
            <a:off x="4480560" y="4096440"/>
            <a:ext cx="3583080" cy="205596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5" name="Image 4" descr="/tmp/assets/connectors.jpg"/>
          <p:cNvPicPr/>
          <p:nvPr/>
        </p:nvPicPr>
        <p:blipFill>
          <a:blip r:embed="rId5"/>
          <a:stretch/>
        </p:blipFill>
        <p:spPr>
          <a:xfrm>
            <a:off x="4739760" y="4169520"/>
            <a:ext cx="3064680" cy="1909800"/>
          </a:xfrm>
          <a:prstGeom prst="rect">
            <a:avLst/>
          </a:prstGeom>
          <a:ln w="0">
            <a:noFill/>
          </a:ln>
        </p:spPr>
      </p:pic>
      <p:sp>
        <p:nvSpPr>
          <p:cNvPr id="426" name="Text 12"/>
          <p:cNvSpPr/>
          <p:nvPr/>
        </p:nvSpPr>
        <p:spPr>
          <a:xfrm>
            <a:off x="4480560" y="6172200"/>
            <a:ext cx="35830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c8270"/>
                </a:solidFill>
                <a:latin typeface="Calibri"/>
                <a:ea typeface="Calibri"/>
              </a:rPr>
              <a:t>Connecteurs étanches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Shape 13"/>
          <p:cNvSpPr/>
          <p:nvPr/>
        </p:nvSpPr>
        <p:spPr>
          <a:xfrm>
            <a:off x="8321040" y="4096440"/>
            <a:ext cx="3583080" cy="205596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8" name="Image 5" descr="/tmp/assets/warning_plate.jpg"/>
          <p:cNvPicPr/>
          <p:nvPr/>
        </p:nvPicPr>
        <p:blipFill>
          <a:blip r:embed="rId6"/>
          <a:stretch/>
        </p:blipFill>
        <p:spPr>
          <a:xfrm>
            <a:off x="9606960" y="4169520"/>
            <a:ext cx="1010880" cy="1909800"/>
          </a:xfrm>
          <a:prstGeom prst="rect">
            <a:avLst/>
          </a:prstGeom>
          <a:ln w="0">
            <a:noFill/>
          </a:ln>
        </p:spPr>
      </p:pic>
      <p:sp>
        <p:nvSpPr>
          <p:cNvPr id="429" name="Text 14"/>
          <p:cNvSpPr/>
          <p:nvPr/>
        </p:nvSpPr>
        <p:spPr>
          <a:xfrm>
            <a:off x="8321040" y="6172200"/>
            <a:ext cx="35830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8c8270"/>
                </a:solidFill>
                <a:latin typeface="Calibri"/>
                <a:ea typeface="Calibri"/>
              </a:rPr>
              <a:t>Plaque d'avertissement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15"/>
          <p:cNvSpPr/>
          <p:nvPr/>
        </p:nvSpPr>
        <p:spPr>
          <a:xfrm>
            <a:off x="11475720" y="6437520"/>
            <a:ext cx="108360" cy="10836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Text 16"/>
          <p:cNvSpPr/>
          <p:nvPr/>
        </p:nvSpPr>
        <p:spPr>
          <a:xfrm>
            <a:off x="10424160" y="6327720"/>
            <a:ext cx="9586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c8270"/>
                </a:solidFill>
                <a:latin typeface="Calibri"/>
                <a:ea typeface="Calibri"/>
              </a:rPr>
              <a:t>8 / 17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Text 17"/>
          <p:cNvSpPr/>
          <p:nvPr/>
        </p:nvSpPr>
        <p:spPr>
          <a:xfrm>
            <a:off x="502920" y="6327720"/>
            <a:ext cx="54849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99f8c"/>
                </a:solidFill>
                <a:latin typeface="Calibri"/>
                <a:ea typeface="Calibri"/>
              </a:rPr>
              <a:t>Harpe anti-frelons asiatiques - © J.N. Simonnet - 2026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hape 0"/>
          <p:cNvSpPr/>
          <p:nvPr/>
        </p:nvSpPr>
        <p:spPr>
          <a:xfrm>
            <a:off x="502920" y="457200"/>
            <a:ext cx="144720" cy="711720"/>
          </a:xfrm>
          <a:prstGeom prst="rect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 1"/>
          <p:cNvSpPr/>
          <p:nvPr/>
        </p:nvSpPr>
        <p:spPr>
          <a:xfrm>
            <a:off x="777240" y="420480"/>
            <a:ext cx="10605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1" strike="noStrike">
                <a:solidFill>
                  <a:srgbClr val="9c6e12"/>
                </a:solidFill>
                <a:latin typeface="Calibri"/>
                <a:ea typeface="Calibri"/>
              </a:rPr>
              <a:t>PARTIE 3 · ÉLECTRONIQUE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 2"/>
          <p:cNvSpPr/>
          <p:nvPr/>
        </p:nvSpPr>
        <p:spPr>
          <a:xfrm>
            <a:off x="777240" y="658440"/>
            <a:ext cx="10879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3190e"/>
                </a:solidFill>
                <a:latin typeface="Georgia"/>
                <a:ea typeface="Georgia"/>
              </a:rPr>
              <a:t>L'électronique : la version de base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6" name="Image 0" descr="/tmp/assets/proto_oled.jpg"/>
          <p:cNvPicPr/>
          <p:nvPr/>
        </p:nvPicPr>
        <p:blipFill>
          <a:blip r:embed="rId1"/>
          <a:stretch/>
        </p:blipFill>
        <p:spPr>
          <a:xfrm>
            <a:off x="715680" y="1554480"/>
            <a:ext cx="6522480" cy="3656160"/>
          </a:xfrm>
          <a:prstGeom prst="rect">
            <a:avLst/>
          </a:prstGeom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</p:pic>
      <p:sp>
        <p:nvSpPr>
          <p:cNvPr id="437" name="Text 3"/>
          <p:cNvSpPr/>
          <p:nvPr/>
        </p:nvSpPr>
        <p:spPr>
          <a:xfrm>
            <a:off x="548640" y="5212080"/>
            <a:ext cx="6856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8c8270"/>
                </a:solidFill>
                <a:latin typeface="Calibri"/>
                <a:ea typeface="Calibri"/>
              </a:rPr>
              <a:t>Prototype annoté : modules d'alimentation, booster HT et conditionnement du signal</a:t>
            </a:r>
            <a:endParaRPr b="0" lang="fr-FR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 4"/>
          <p:cNvSpPr/>
          <p:nvPr/>
        </p:nvSpPr>
        <p:spPr>
          <a:xfrm>
            <a:off x="7680960" y="1554480"/>
            <a:ext cx="40219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9c6e12"/>
                </a:solidFill>
                <a:latin typeface="Calibri"/>
                <a:ea typeface="Calibri"/>
              </a:rPr>
              <a:t>La chaîne d'alimentation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5"/>
          <p:cNvSpPr/>
          <p:nvPr/>
        </p:nvSpPr>
        <p:spPr>
          <a:xfrm>
            <a:off x="7699320" y="2048400"/>
            <a:ext cx="144720" cy="14472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 6"/>
          <p:cNvSpPr/>
          <p:nvPr/>
        </p:nvSpPr>
        <p:spPr>
          <a:xfrm>
            <a:off x="7955280" y="1938600"/>
            <a:ext cx="37476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3190e"/>
                </a:solidFill>
                <a:latin typeface="Calibri"/>
                <a:ea typeface="Calibri"/>
              </a:rPr>
              <a:t>Panneau solaire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 7"/>
          <p:cNvSpPr/>
          <p:nvPr/>
        </p:nvSpPr>
        <p:spPr>
          <a:xfrm>
            <a:off x="7955280" y="2231280"/>
            <a:ext cx="37476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15749"/>
                </a:solidFill>
                <a:latin typeface="Calibri"/>
                <a:ea typeface="Calibri"/>
              </a:rPr>
              <a:t>« 50 W » → 2 convertisseurs DC/DC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Shape 8"/>
          <p:cNvSpPr/>
          <p:nvPr/>
        </p:nvSpPr>
        <p:spPr>
          <a:xfrm>
            <a:off x="7699320" y="2706480"/>
            <a:ext cx="144720" cy="14472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 9"/>
          <p:cNvSpPr/>
          <p:nvPr/>
        </p:nvSpPr>
        <p:spPr>
          <a:xfrm>
            <a:off x="7955280" y="2597040"/>
            <a:ext cx="37476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3190e"/>
                </a:solidFill>
                <a:latin typeface="Calibri"/>
                <a:ea typeface="Calibri"/>
              </a:rPr>
              <a:t>DC/DC LM2596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 10"/>
          <p:cNvSpPr/>
          <p:nvPr/>
        </p:nvSpPr>
        <p:spPr>
          <a:xfrm>
            <a:off x="7955280" y="2889360"/>
            <a:ext cx="37476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15749"/>
                </a:solidFill>
                <a:latin typeface="Calibri"/>
                <a:ea typeface="Calibri"/>
              </a:rPr>
              <a:t>2,4 V (booster) et 5 V (électronique)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11"/>
          <p:cNvSpPr/>
          <p:nvPr/>
        </p:nvSpPr>
        <p:spPr>
          <a:xfrm>
            <a:off x="7699320" y="3364920"/>
            <a:ext cx="144720" cy="14472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Text 12"/>
          <p:cNvSpPr/>
          <p:nvPr/>
        </p:nvSpPr>
        <p:spPr>
          <a:xfrm>
            <a:off x="7955280" y="3255120"/>
            <a:ext cx="37476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3190e"/>
                </a:solidFill>
                <a:latin typeface="Calibri"/>
                <a:ea typeface="Calibri"/>
              </a:rPr>
              <a:t>Booster 2 kV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Text 13"/>
          <p:cNvSpPr/>
          <p:nvPr/>
        </p:nvSpPr>
        <p:spPr>
          <a:xfrm>
            <a:off x="7955280" y="3547800"/>
            <a:ext cx="37476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15749"/>
                </a:solidFill>
                <a:latin typeface="Calibri"/>
                <a:ea typeface="Calibri"/>
              </a:rPr>
              <a:t>la haute tension alimentant les harpes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Shape 14"/>
          <p:cNvSpPr/>
          <p:nvPr/>
        </p:nvSpPr>
        <p:spPr>
          <a:xfrm>
            <a:off x="7699320" y="4023360"/>
            <a:ext cx="144720" cy="14472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 15"/>
          <p:cNvSpPr/>
          <p:nvPr/>
        </p:nvSpPr>
        <p:spPr>
          <a:xfrm>
            <a:off x="7955280" y="3913560"/>
            <a:ext cx="37476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23190e"/>
                </a:solidFill>
                <a:latin typeface="Calibri"/>
                <a:ea typeface="Calibri"/>
              </a:rPr>
              <a:t>Condensateur 470 nF/2 kV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 16"/>
          <p:cNvSpPr/>
          <p:nvPr/>
        </p:nvSpPr>
        <p:spPr>
          <a:xfrm>
            <a:off x="7955280" y="4206240"/>
            <a:ext cx="374760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15749"/>
                </a:solidFill>
                <a:latin typeface="Calibri"/>
                <a:ea typeface="Calibri"/>
              </a:rPr>
              <a:t>plus d'énergie : électrocute le frelon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17"/>
          <p:cNvSpPr/>
          <p:nvPr/>
        </p:nvSpPr>
        <p:spPr>
          <a:xfrm>
            <a:off x="7680960" y="4754880"/>
            <a:ext cx="4067640" cy="1415880"/>
          </a:xfrm>
          <a:prstGeom prst="rect">
            <a:avLst/>
          </a:prstGeom>
          <a:solidFill>
            <a:srgbClr val="fbebe6"/>
          </a:solidFill>
          <a:ln w="12700">
            <a:solidFill>
              <a:srgbClr val="c844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18"/>
          <p:cNvSpPr/>
          <p:nvPr/>
        </p:nvSpPr>
        <p:spPr>
          <a:xfrm>
            <a:off x="7680960" y="4754880"/>
            <a:ext cx="126720" cy="1415880"/>
          </a:xfrm>
          <a:prstGeom prst="rect">
            <a:avLst/>
          </a:prstGeom>
          <a:solidFill>
            <a:srgbClr val="c844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19"/>
          <p:cNvSpPr/>
          <p:nvPr/>
        </p:nvSpPr>
        <p:spPr>
          <a:xfrm>
            <a:off x="7918560" y="4864680"/>
            <a:ext cx="37476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c8442e"/>
                </a:solidFill>
                <a:latin typeface="Calibri"/>
                <a:ea typeface="Calibri"/>
              </a:rPr>
              <a:t>Sécurité opérateur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 20"/>
          <p:cNvSpPr/>
          <p:nvPr/>
        </p:nvSpPr>
        <p:spPr>
          <a:xfrm>
            <a:off x="7918560" y="5230440"/>
            <a:ext cx="370188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7a2a1c"/>
                </a:solidFill>
                <a:latin typeface="Calibri"/>
                <a:ea typeface="Calibri"/>
              </a:rPr>
              <a:t>Coupure rapide de la HT à l'arrêt (relais, thyristor ou MOSFET/IGBT) + protection du condensateur de sortie contre les courts-circuits.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Shape 21"/>
          <p:cNvSpPr/>
          <p:nvPr/>
        </p:nvSpPr>
        <p:spPr>
          <a:xfrm>
            <a:off x="11475720" y="6437520"/>
            <a:ext cx="108360" cy="10836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 22"/>
          <p:cNvSpPr/>
          <p:nvPr/>
        </p:nvSpPr>
        <p:spPr>
          <a:xfrm>
            <a:off x="10424160" y="6327720"/>
            <a:ext cx="9586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c8270"/>
                </a:solidFill>
                <a:latin typeface="Calibri"/>
                <a:ea typeface="Calibri"/>
              </a:rPr>
              <a:t>9 / 17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Text 23"/>
          <p:cNvSpPr/>
          <p:nvPr/>
        </p:nvSpPr>
        <p:spPr>
          <a:xfrm>
            <a:off x="502920" y="6327720"/>
            <a:ext cx="54849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99f8c"/>
                </a:solidFill>
                <a:latin typeface="Calibri"/>
                <a:ea typeface="Calibri"/>
              </a:rPr>
              <a:t>Harpe anti-frelons asiatiques - © J.N. Simonnet - 2026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Shape 0"/>
          <p:cNvSpPr/>
          <p:nvPr/>
        </p:nvSpPr>
        <p:spPr>
          <a:xfrm>
            <a:off x="502920" y="457200"/>
            <a:ext cx="144720" cy="711720"/>
          </a:xfrm>
          <a:prstGeom prst="rect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Text 1"/>
          <p:cNvSpPr/>
          <p:nvPr/>
        </p:nvSpPr>
        <p:spPr>
          <a:xfrm>
            <a:off x="777240" y="420480"/>
            <a:ext cx="10605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1" strike="noStrike">
                <a:solidFill>
                  <a:srgbClr val="9c6e12"/>
                </a:solidFill>
                <a:latin typeface="Calibri"/>
                <a:ea typeface="Calibri"/>
              </a:rPr>
              <a:t>PARTIE 3 · ÉLECTRONIQUE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 2"/>
          <p:cNvSpPr/>
          <p:nvPr/>
        </p:nvSpPr>
        <p:spPr>
          <a:xfrm>
            <a:off x="777240" y="658440"/>
            <a:ext cx="10879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3190e"/>
                </a:solidFill>
                <a:latin typeface="Georgia"/>
                <a:ea typeface="Georgia"/>
              </a:rPr>
              <a:t>Choix du panneau &amp; objet connecté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Shape 3"/>
          <p:cNvSpPr/>
          <p:nvPr/>
        </p:nvSpPr>
        <p:spPr>
          <a:xfrm>
            <a:off x="640080" y="1554480"/>
            <a:ext cx="5210640" cy="1553040"/>
          </a:xfrm>
          <a:prstGeom prst="rect">
            <a:avLst/>
          </a:prstGeom>
          <a:solidFill>
            <a:srgbClr val="f4f1ea"/>
          </a:solidFill>
          <a:ln w="12700">
            <a:solidFill>
              <a:srgbClr val="e7e0d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4"/>
          <p:cNvSpPr/>
          <p:nvPr/>
        </p:nvSpPr>
        <p:spPr>
          <a:xfrm>
            <a:off x="868680" y="1691640"/>
            <a:ext cx="47534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9c6e12"/>
                </a:solidFill>
                <a:latin typeface="Calibri"/>
                <a:ea typeface="Calibri"/>
              </a:rPr>
              <a:t>Dimensionnement du panneau solaire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Text 5"/>
          <p:cNvSpPr/>
          <p:nvPr/>
        </p:nvSpPr>
        <p:spPr>
          <a:xfrm>
            <a:off x="868680" y="2103120"/>
            <a:ext cx="47991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15749"/>
                </a:solidFill>
                <a:latin typeface="Calibri"/>
                <a:ea typeface="Calibri"/>
              </a:rPr>
              <a:t>Attention au matériels vendus en ligne : un panneau de 25 x 25 cm ne peut pas délivrer 50W, mais tout au plus 10W.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615749"/>
                </a:solidFill>
                <a:latin typeface="Calibri"/>
                <a:ea typeface="Calibri"/>
              </a:rPr>
              <a:t>Nécessité de le surdimensionner (40 W minimum), car par temps couvert, la puissance peut tomber à 20% seulement.</a:t>
            </a:r>
            <a:endParaRPr b="0" lang="fr-FR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Text 6"/>
          <p:cNvSpPr/>
          <p:nvPr/>
        </p:nvSpPr>
        <p:spPr>
          <a:xfrm>
            <a:off x="640080" y="3337560"/>
            <a:ext cx="52106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9c6e12"/>
                </a:solidFill>
                <a:latin typeface="Calibri"/>
                <a:ea typeface="Calibri"/>
              </a:rPr>
              <a:t>Ce que mesure l'objet connecté</a:t>
            </a:r>
            <a:endParaRPr b="0" lang="fr-F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Shape 7"/>
          <p:cNvSpPr/>
          <p:nvPr/>
        </p:nvSpPr>
        <p:spPr>
          <a:xfrm>
            <a:off x="658440" y="3831480"/>
            <a:ext cx="135720" cy="135720"/>
          </a:xfrm>
          <a:prstGeom prst="ellipse">
            <a:avLst/>
          </a:prstGeom>
          <a:solidFill>
            <a:srgbClr val="5e7d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8"/>
          <p:cNvSpPr/>
          <p:nvPr/>
        </p:nvSpPr>
        <p:spPr>
          <a:xfrm>
            <a:off x="914400" y="3740040"/>
            <a:ext cx="49363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15749"/>
                </a:solidFill>
                <a:latin typeface="Calibri"/>
                <a:ea typeface="Calibri"/>
              </a:rPr>
              <a:t>Haute tension (détection des déclenchements &lt; 1500 V)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Shape 9"/>
          <p:cNvSpPr/>
          <p:nvPr/>
        </p:nvSpPr>
        <p:spPr>
          <a:xfrm>
            <a:off x="658440" y="4334400"/>
            <a:ext cx="135720" cy="135720"/>
          </a:xfrm>
          <a:prstGeom prst="ellipse">
            <a:avLst/>
          </a:prstGeom>
          <a:solidFill>
            <a:srgbClr val="5e7d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 10"/>
          <p:cNvSpPr/>
          <p:nvPr/>
        </p:nvSpPr>
        <p:spPr>
          <a:xfrm>
            <a:off x="914400" y="4242960"/>
            <a:ext cx="49363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15749"/>
                </a:solidFill>
                <a:latin typeface="Calibri"/>
                <a:ea typeface="Calibri"/>
              </a:rPr>
              <a:t>Tension du panneau solaire (jour/nuit, ensoleillement)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Shape 11"/>
          <p:cNvSpPr/>
          <p:nvPr/>
        </p:nvSpPr>
        <p:spPr>
          <a:xfrm>
            <a:off x="658440" y="4837320"/>
            <a:ext cx="135720" cy="135720"/>
          </a:xfrm>
          <a:prstGeom prst="ellipse">
            <a:avLst/>
          </a:prstGeom>
          <a:solidFill>
            <a:srgbClr val="5e7d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Text 12"/>
          <p:cNvSpPr/>
          <p:nvPr/>
        </p:nvSpPr>
        <p:spPr>
          <a:xfrm>
            <a:off x="914400" y="4745880"/>
            <a:ext cx="49363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15749"/>
                </a:solidFill>
                <a:latin typeface="Calibri"/>
                <a:ea typeface="Calibri"/>
              </a:rPr>
              <a:t>Tensions d'alimentation + température (LM35)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Shape 13"/>
          <p:cNvSpPr/>
          <p:nvPr/>
        </p:nvSpPr>
        <p:spPr>
          <a:xfrm>
            <a:off x="658440" y="5340240"/>
            <a:ext cx="135720" cy="135720"/>
          </a:xfrm>
          <a:prstGeom prst="ellipse">
            <a:avLst/>
          </a:prstGeom>
          <a:solidFill>
            <a:srgbClr val="5e7d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Text 14"/>
          <p:cNvSpPr/>
          <p:nvPr/>
        </p:nvSpPr>
        <p:spPr>
          <a:xfrm>
            <a:off x="914400" y="5248800"/>
            <a:ext cx="493632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615749"/>
                </a:solidFill>
                <a:latin typeface="Calibri"/>
                <a:ea typeface="Calibri"/>
              </a:rPr>
              <a:t>Comptage des électrocutions (interruption + compteur journalier)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3" name="Image 0" descr="/tmp/assets/lora32.jpg"/>
          <p:cNvPicPr/>
          <p:nvPr/>
        </p:nvPicPr>
        <p:blipFill>
          <a:blip r:embed="rId1"/>
          <a:stretch/>
        </p:blipFill>
        <p:spPr>
          <a:xfrm>
            <a:off x="6355080" y="1554480"/>
            <a:ext cx="2558880" cy="2467440"/>
          </a:xfrm>
          <a:prstGeom prst="rect">
            <a:avLst/>
          </a:prstGeom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</p:pic>
      <p:sp>
        <p:nvSpPr>
          <p:cNvPr id="474" name="Text 15"/>
          <p:cNvSpPr/>
          <p:nvPr/>
        </p:nvSpPr>
        <p:spPr>
          <a:xfrm>
            <a:off x="6126480" y="4023360"/>
            <a:ext cx="30160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c8270"/>
                </a:solidFill>
                <a:latin typeface="Calibri"/>
                <a:ea typeface="Calibri"/>
              </a:rPr>
              <a:t>ESP32 LORA32 V3 (LoRaWAN SX1262)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5" name="Image 1" descr="/tmp/assets/map.jpg"/>
          <p:cNvPicPr/>
          <p:nvPr/>
        </p:nvPicPr>
        <p:blipFill>
          <a:blip r:embed="rId2"/>
          <a:stretch/>
        </p:blipFill>
        <p:spPr>
          <a:xfrm>
            <a:off x="9144000" y="2024280"/>
            <a:ext cx="2604600" cy="1528200"/>
          </a:xfrm>
          <a:prstGeom prst="rect">
            <a:avLst/>
          </a:prstGeom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8000"/>
              </a:srgbClr>
            </a:outerShdw>
          </a:effectLst>
        </p:spPr>
      </p:pic>
      <p:sp>
        <p:nvSpPr>
          <p:cNvPr id="476" name="Text 16"/>
          <p:cNvSpPr/>
          <p:nvPr/>
        </p:nvSpPr>
        <p:spPr>
          <a:xfrm>
            <a:off x="9144000" y="4023360"/>
            <a:ext cx="2604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8c8270"/>
                </a:solidFill>
                <a:latin typeface="Calibri"/>
                <a:ea typeface="Calibri"/>
              </a:rPr>
              <a:t>Portée gateway ≈ 2,5 km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Shape 17"/>
          <p:cNvSpPr/>
          <p:nvPr/>
        </p:nvSpPr>
        <p:spPr>
          <a:xfrm>
            <a:off x="6263640" y="4526280"/>
            <a:ext cx="5484960" cy="1415880"/>
          </a:xfrm>
          <a:prstGeom prst="rect">
            <a:avLst/>
          </a:prstGeom>
          <a:solidFill>
            <a:srgbClr val="23190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Text 18"/>
          <p:cNvSpPr/>
          <p:nvPr/>
        </p:nvSpPr>
        <p:spPr>
          <a:xfrm>
            <a:off x="6492240" y="4645080"/>
            <a:ext cx="50277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e0a526"/>
                </a:solidFill>
                <a:latin typeface="Calibri"/>
                <a:ea typeface="Calibri"/>
              </a:rPr>
              <a:t>Le bénéfice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Text 19"/>
          <p:cNvSpPr/>
          <p:nvPr/>
        </p:nvSpPr>
        <p:spPr>
          <a:xfrm>
            <a:off x="6492240" y="5029200"/>
            <a:ext cx="50277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9e1cf"/>
                </a:solidFill>
                <a:latin typeface="Calibri"/>
                <a:ea typeface="Calibri"/>
              </a:rPr>
              <a:t>Connaître l'activité du frelon heure par heure et au fil des mois, et mesurer l'efficacité réelle (électrocutions comptées vs frelons dans le bac) — sans se déplacer, via le réseau collaboratif LoRaWAN.</a:t>
            </a:r>
            <a:endParaRPr b="0" lang="fr-FR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20"/>
          <p:cNvSpPr/>
          <p:nvPr/>
        </p:nvSpPr>
        <p:spPr>
          <a:xfrm>
            <a:off x="11475720" y="6437520"/>
            <a:ext cx="108360" cy="10836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 21"/>
          <p:cNvSpPr/>
          <p:nvPr/>
        </p:nvSpPr>
        <p:spPr>
          <a:xfrm>
            <a:off x="10424160" y="6327720"/>
            <a:ext cx="9586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c8270"/>
                </a:solidFill>
                <a:latin typeface="Calibri"/>
                <a:ea typeface="Calibri"/>
              </a:rPr>
              <a:t>10 / 17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Text 22"/>
          <p:cNvSpPr/>
          <p:nvPr/>
        </p:nvSpPr>
        <p:spPr>
          <a:xfrm>
            <a:off x="502920" y="6327720"/>
            <a:ext cx="54849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99f8c"/>
                </a:solidFill>
                <a:latin typeface="Calibri"/>
                <a:ea typeface="Calibri"/>
              </a:rPr>
              <a:t>Harpe anti-frelons asiatiques - © J.N. Simonnet - 2026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Shape 34"/>
          <p:cNvSpPr/>
          <p:nvPr/>
        </p:nvSpPr>
        <p:spPr>
          <a:xfrm>
            <a:off x="502920" y="457200"/>
            <a:ext cx="144720" cy="711720"/>
          </a:xfrm>
          <a:prstGeom prst="rect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 36"/>
          <p:cNvSpPr/>
          <p:nvPr/>
        </p:nvSpPr>
        <p:spPr>
          <a:xfrm>
            <a:off x="777240" y="420480"/>
            <a:ext cx="10605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191" strike="noStrike">
                <a:solidFill>
                  <a:srgbClr val="9c6e12"/>
                </a:solidFill>
                <a:latin typeface="Calibri"/>
                <a:ea typeface="Calibri"/>
              </a:rPr>
              <a:t>PARTIE 3 · BOM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Text 37"/>
          <p:cNvSpPr/>
          <p:nvPr/>
        </p:nvSpPr>
        <p:spPr>
          <a:xfrm>
            <a:off x="777240" y="658440"/>
            <a:ext cx="10879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pc="-1" strike="noStrike">
                <a:solidFill>
                  <a:srgbClr val="23190e"/>
                </a:solidFill>
                <a:latin typeface="Georgia"/>
                <a:ea typeface="Georgia"/>
              </a:rPr>
              <a:t>Détail du coût de construction</a:t>
            </a:r>
            <a:endParaRPr b="0" lang="fr-F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Text 38"/>
          <p:cNvSpPr/>
          <p:nvPr/>
        </p:nvSpPr>
        <p:spPr>
          <a:xfrm>
            <a:off x="2700000" y="34560"/>
            <a:ext cx="109713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615749"/>
                </a:solidFill>
                <a:latin typeface="Calibri"/>
                <a:ea typeface="Calibri"/>
              </a:rPr>
              <a:t>Une isolation irréprochable conditionne un fonctionnement durable — surtout après la pluie : le bois mouillé met des heures à sécher et fait fuir la HT pendant ce temps.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Shape 35"/>
          <p:cNvSpPr/>
          <p:nvPr/>
        </p:nvSpPr>
        <p:spPr>
          <a:xfrm>
            <a:off x="820080" y="5791680"/>
            <a:ext cx="10518840" cy="551520"/>
          </a:xfrm>
          <a:prstGeom prst="rect">
            <a:avLst/>
          </a:prstGeom>
          <a:solidFill>
            <a:srgbClr val="fbebe6"/>
          </a:solidFill>
          <a:ln w="12700">
            <a:solidFill>
              <a:srgbClr val="c844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Text 39"/>
          <p:cNvSpPr/>
          <p:nvPr/>
        </p:nvSpPr>
        <p:spPr>
          <a:xfrm>
            <a:off x="849960" y="5726160"/>
            <a:ext cx="1048896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8442e"/>
                </a:solidFill>
                <a:latin typeface="Georgia"/>
                <a:ea typeface="Georgia"/>
              </a:rPr>
              <a:t>L’option originelle (fabrication additive des isolateurs) est légèrement plus chère que l’utilisation des barrettes KEMP (Naturapi). Avec barrettes Kemp, utiliser des tréteaux à 16€ (Castorama), mais il reste nécessaire de les vernir à 3 couches de vernis marin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Shape 41"/>
          <p:cNvSpPr/>
          <p:nvPr/>
        </p:nvSpPr>
        <p:spPr>
          <a:xfrm>
            <a:off x="11475720" y="6437520"/>
            <a:ext cx="108360" cy="108360"/>
          </a:xfrm>
          <a:prstGeom prst="ellipse">
            <a:avLst/>
          </a:prstGeom>
          <a:solidFill>
            <a:srgbClr val="e0a5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2760" bIns="32760" anchor="t">
            <a:noAutofit/>
          </a:bodyPr>
          <a:p>
            <a:pPr>
              <a:lnSpc>
                <a:spcPct val="100000"/>
              </a:lnSpc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 49"/>
          <p:cNvSpPr/>
          <p:nvPr/>
        </p:nvSpPr>
        <p:spPr>
          <a:xfrm>
            <a:off x="10424160" y="6327720"/>
            <a:ext cx="9586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8c8270"/>
                </a:solidFill>
                <a:latin typeface="Calibri"/>
                <a:ea typeface="Calibri"/>
              </a:rPr>
              <a:t>11 / 17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 50"/>
          <p:cNvSpPr/>
          <p:nvPr/>
        </p:nvSpPr>
        <p:spPr>
          <a:xfrm>
            <a:off x="502920" y="6327720"/>
            <a:ext cx="54849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a99f8c"/>
                </a:solidFill>
                <a:latin typeface="Calibri"/>
                <a:ea typeface="Calibri"/>
              </a:rPr>
              <a:t>Harpe anti-frelons asiatiques  - © J.N. Simonnet - 2026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2" name="" descr=""/>
          <p:cNvPicPr/>
          <p:nvPr/>
        </p:nvPicPr>
        <p:blipFill>
          <a:blip r:embed="rId1"/>
          <a:stretch/>
        </p:blipFill>
        <p:spPr>
          <a:xfrm>
            <a:off x="1765080" y="1298160"/>
            <a:ext cx="8313840" cy="4456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2026-06-04T15:44:42Z</dcterms:created>
  <dc:creator>Jean-Noël</dc:creator>
  <dc:description/>
  <dc:language>fr-FR</dc:language>
  <cp:lastModifiedBy/>
  <dcterms:modified xsi:type="dcterms:W3CDTF">2026-06-23T18:00:36Z</dcterms:modified>
  <cp:revision>11</cp:revision>
  <dc:subject>PptxGenJS Presentation</dc:subject>
  <dc:title>La harpe anti-frelons asiatiques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