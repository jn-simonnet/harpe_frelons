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1.jpeg" ContentType="image/jpeg"/>
  <Override PartName="/ppt/media/image8.jpeg" ContentType="image/jpeg"/>
  <Override PartName="/ppt/media/image10.jpeg" ContentType="image/jpeg"/>
  <Override PartName="/ppt/media/image7.jpeg" ContentType="image/jpeg"/>
  <Override PartName="/ppt/media/image12.jpeg" ContentType="image/jpeg"/>
  <Override PartName="/ppt/media/image9.jpeg" ContentType="image/jpeg"/>
  <Override PartName="/ppt/media/image13.jpeg" ContentType="image/jpeg"/>
  <Override PartName="/ppt/media/image4.png" ContentType="image/png"/>
  <Override PartName="/ppt/media/image5.png" ContentType="image/png"/>
  <Override PartName="/ppt/media/image22.png" ContentType="image/png"/>
  <Override PartName="/ppt/media/image1.jpeg" ContentType="image/jpeg"/>
  <Override PartName="/ppt/media/image6.png" ContentType="image/png"/>
  <Override PartName="/ppt/media/image19.jpeg" ContentType="image/jpeg"/>
  <Override PartName="/ppt/media/image21.jpeg" ContentType="image/jpeg"/>
  <Override PartName="/ppt/media/image20.jpeg" ContentType="image/jpeg"/>
  <Override PartName="/ppt/media/image18.jpeg" ContentType="image/jpeg"/>
  <Override PartName="/ppt/media/image17.jpeg" ContentType="image/jpeg"/>
  <Override PartName="/ppt/media/image16.jpeg" ContentType="image/jpeg"/>
  <Override PartName="/ppt/media/image15.jpeg" ContentType="image/jpeg"/>
  <Override PartName="/ppt/media/image14.jpeg" ContentType="image/jpeg"/>
  <Override PartName="/ppt/media/image3.png" ContentType="image/png"/>
  <Override PartName="/ppt/media/image2.jpeg" ContentType="image/jpeg"/>
  <Override PartName="/ppt/slides/_rels/slide5.xml.rels" ContentType="application/vnd.openxmlformats-package.relationships+xml"/>
  <Override PartName="/ppt/slides/_rels/slide21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2.xml.rels" ContentType="application/vnd.openxmlformats-package.relationships+xml"/>
  <Override PartName="/ppt/slides/_rels/slide16.xml.rels" ContentType="application/vnd.openxmlformats-package.relationships+xml"/>
  <Override PartName="/ppt/slides/_rels/slide1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24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23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22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4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21.xml" ContentType="application/vnd.openxmlformats-officedocument.presentationml.slide+xml"/>
  <Override PartName="/ppt/notesSlides/_rels/notesSlide14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3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20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24.xml.rels" ContentType="application/vnd.openxmlformats-package.relationships+xml"/>
  <Override PartName="/ppt/notesSlides/_rels/notesSlide9.xml.rels" ContentType="application/vnd.openxmlformats-package.relationships+xml"/>
  <Override PartName="/ppt/notesSlides/_rels/notesSlide23.xml.rels" ContentType="application/vnd.openxmlformats-package.relationships+xml"/>
  <Override PartName="/ppt/notesSlides/_rels/notesSlide8.xml.rels" ContentType="application/vnd.openxmlformats-package.relationships+xml"/>
  <Override PartName="/ppt/notesSlides/_rels/notesSlide22.xml.rels" ContentType="application/vnd.openxmlformats-package.relationships+xml"/>
  <Override PartName="/ppt/notesSlides/_rels/notesSlide7.xml.rels" ContentType="application/vnd.openxmlformats-package.relationships+xml"/>
  <Override PartName="/ppt/notesSlides/_rels/notesSlide6.xml.rels" ContentType="application/vnd.openxmlformats-package.relationships+xml"/>
  <Override PartName="/ppt/notesSlides/_rels/notesSlide21.xml.rels" ContentType="application/vnd.openxmlformats-package.relationships+xml"/>
  <Override PartName="/ppt/notesSlides/_rels/notesSlide19.xml.rels" ContentType="application/vnd.openxmlformats-package.relationships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Cliquez pour déplacer la diapo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Cliquez pour modifier le format des notes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&lt;en-tête&gt;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&lt;date/heure&gt;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&lt;pied de page&gt;</a:t>
            </a:r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fr-F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423E2718-4654-4628-BC05-AF6510F0360A}" type="slidenum">
              <a:rPr b="0" lang="fr-FR" sz="1400" spc="-1" strike="noStrike">
                <a:solidFill>
                  <a:srgbClr val="000000"/>
                </a:solidFill>
                <a:latin typeface="Times New Roman"/>
              </a:rPr>
              <a:t>&lt;numéro&gt;</a:t>
            </a:fld>
            <a:endParaRPr b="0" lang="fr-F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4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5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256E739-FA76-4251-9FC7-05522FCB88A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4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8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E27804F-9C4F-4F25-A536-A98F9010423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5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1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C89D8EF-2BF5-481F-AC37-F10EF9E1214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5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4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9F16DDB-094D-4C6A-80F5-06F98ECAE24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5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7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FFDF6C1-5724-4678-91AF-E687473938C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5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0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E207A2D-197A-4FCD-AC74-77549230E49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5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4468148-32DE-4FF5-B730-352C3549462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5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6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0F346FC-8105-4F72-B323-B2E98BE13AB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5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9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9CE9E23-6A57-4D90-82BE-5986E66452C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5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2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236E62B-828C-42FE-BEC3-2496F39E19E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5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5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ED42EC3-A45D-4214-9320-01B5C23FC16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5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BAFE014-CD4F-4B1A-81DE-EAF190B4207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5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1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FF215D4-A12C-4BA2-8B41-C1738BBFFB2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5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4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779E5D6-068F-4EBD-8AE0-52BBCDE425E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5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7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A12BEFC-EE62-4970-B0D3-F81FC27462E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5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0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AE1D2AC-E3CA-4C5C-A021-45C5A3BD627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5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3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400163A-24E9-4ABA-988E-66AECD68402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5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6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7679222-5EDA-4371-B706-30DE4FF545B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5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9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9A010BF-F7D6-4F5A-9D3B-845A5B46243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5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2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B7F2D91-C0EF-4780-91C4-D0A1B5E3CF0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5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5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8184362-1D07-4A24-B319-99165E5A736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5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8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8EF0916-DCB0-46EA-AFCB-1B15B1F8304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5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1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C422F95-4944-4D26-8DDD-53201EB9E28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5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4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AB9EA8F-571E-4B54-BBDA-D715CA28732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&lt;numéro&gt;</a:t>
            </a:fld>
            <a:endParaRPr b="0" lang="fr-F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fr-FR" sz="4400" spc="-1" strike="noStrike">
                <a:solidFill>
                  <a:srgbClr val="000000"/>
                </a:solidFill>
                <a:latin typeface="Arial"/>
              </a:rPr>
              <a:t>Cliquez pour éditer le format du texte-titre</a:t>
            </a:r>
            <a:endParaRPr b="0" lang="fr-F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3200" spc="-1" strike="noStrike">
                <a:solidFill>
                  <a:srgbClr val="000000"/>
                </a:solidFill>
                <a:latin typeface="Arial"/>
              </a:rPr>
              <a:t>Cliquez pour éditer le format du plan de texte</a:t>
            </a:r>
            <a:endParaRPr b="0" lang="fr-F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800" spc="-1" strike="noStrike">
                <a:solidFill>
                  <a:srgbClr val="000000"/>
                </a:solidFill>
                <a:latin typeface="Arial"/>
              </a:rPr>
              <a:t>Second niveau de plan</a:t>
            </a:r>
            <a:endParaRPr b="0" lang="fr-FR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400" spc="-1" strike="noStrike">
                <a:solidFill>
                  <a:srgbClr val="000000"/>
                </a:solidFill>
                <a:latin typeface="Arial"/>
              </a:rPr>
              <a:t>Troisième niveau de plan</a:t>
            </a:r>
            <a:endParaRPr b="0" lang="fr-FR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Quatrième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Cinquième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Sixième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fr-FR" sz="2000" spc="-1" strike="noStrike">
                <a:solidFill>
                  <a:srgbClr val="000000"/>
                </a:solidFill>
                <a:latin typeface="Arial"/>
              </a:rPr>
              <a:t>Septième niveau de plan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7.jpeg"/><Relationship Id="rId2" Type="http://schemas.openxmlformats.org/officeDocument/2006/relationships/image" Target="../media/image8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9.jpeg"/><Relationship Id="rId2" Type="http://schemas.openxmlformats.org/officeDocument/2006/relationships/image" Target="../media/image10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1.jpeg"/><Relationship Id="rId2" Type="http://schemas.openxmlformats.org/officeDocument/2006/relationships/image" Target="../media/image1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3.jpeg"/><Relationship Id="rId2" Type="http://schemas.openxmlformats.org/officeDocument/2006/relationships/image" Target="../media/image14.jpeg"/><Relationship Id="rId3" Type="http://schemas.openxmlformats.org/officeDocument/2006/relationships/image" Target="../media/image15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16.jpeg"/><Relationship Id="rId2" Type="http://schemas.openxmlformats.org/officeDocument/2006/relationships/image" Target="../media/image11.jpeg"/><Relationship Id="rId3" Type="http://schemas.openxmlformats.org/officeDocument/2006/relationships/image" Target="../media/image17.jpeg"/><Relationship Id="rId4" Type="http://schemas.openxmlformats.org/officeDocument/2006/relationships/image" Target="../media/image2.jpeg"/><Relationship Id="rId5" Type="http://schemas.openxmlformats.org/officeDocument/2006/relationships/image" Target="../media/image18.jpeg"/><Relationship Id="rId6" Type="http://schemas.openxmlformats.org/officeDocument/2006/relationships/image" Target="../media/image15.jpe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19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20.jpeg"/><Relationship Id="rId2" Type="http://schemas.openxmlformats.org/officeDocument/2006/relationships/image" Target="../media/image21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31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-1463040" y="-1463040"/>
            <a:ext cx="3016440" cy="3016440"/>
          </a:xfrm>
          <a:prstGeom prst="ellipse">
            <a:avLst/>
          </a:prstGeom>
          <a:solidFill>
            <a:srgbClr val="e0a526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Shape 1"/>
          <p:cNvSpPr/>
          <p:nvPr/>
        </p:nvSpPr>
        <p:spPr>
          <a:xfrm>
            <a:off x="10881360" y="5212080"/>
            <a:ext cx="2742120" cy="2742120"/>
          </a:xfrm>
          <a:prstGeom prst="ellipse">
            <a:avLst/>
          </a:prstGeom>
          <a:solidFill>
            <a:srgbClr val="e0a526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" name="Image 0" descr="/tmp/assets/hornet.jpg"/>
          <p:cNvPicPr/>
          <p:nvPr/>
        </p:nvPicPr>
        <p:blipFill>
          <a:blip r:embed="rId1">
            <a:alphaModFix amt="92000"/>
          </a:blip>
          <a:stretch/>
        </p:blipFill>
        <p:spPr>
          <a:xfrm>
            <a:off x="7315200" y="1855440"/>
            <a:ext cx="4875480" cy="3146040"/>
          </a:xfrm>
          <a:prstGeom prst="rect">
            <a:avLst/>
          </a:prstGeom>
          <a:ln w="0">
            <a:noFill/>
          </a:ln>
        </p:spPr>
      </p:pic>
      <p:sp>
        <p:nvSpPr>
          <p:cNvPr id="11" name="Text 3"/>
          <p:cNvSpPr/>
          <p:nvPr/>
        </p:nvSpPr>
        <p:spPr>
          <a:xfrm>
            <a:off x="731520" y="1417320"/>
            <a:ext cx="63997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293" strike="noStrike">
                <a:solidFill>
                  <a:srgbClr val="e0a526"/>
                </a:solidFill>
                <a:latin typeface="Calibri"/>
                <a:ea typeface="Calibri"/>
              </a:rPr>
              <a:t>APICULTURE · LUTTE BIOLOGIQUE</a:t>
            </a:r>
            <a:endParaRPr b="0" lang="fr-FR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Text 4"/>
          <p:cNvSpPr/>
          <p:nvPr/>
        </p:nvSpPr>
        <p:spPr>
          <a:xfrm>
            <a:off x="731520" y="1828800"/>
            <a:ext cx="6582600" cy="191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98000"/>
              </a:lnSpc>
              <a:tabLst>
                <a:tab algn="l" pos="0"/>
              </a:tabLst>
            </a:pPr>
            <a:r>
              <a:rPr b="1" lang="en-US" sz="4600" spc="-1" strike="noStrike">
                <a:solidFill>
                  <a:srgbClr val="ffffff"/>
                </a:solidFill>
                <a:latin typeface="Georgia"/>
                <a:ea typeface="Georgia"/>
              </a:rPr>
              <a:t>La harpe</a:t>
            </a:r>
            <a:endParaRPr b="0" lang="fr-FR" sz="46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98000"/>
              </a:lnSpc>
              <a:tabLst>
                <a:tab algn="l" pos="0"/>
              </a:tabLst>
            </a:pPr>
            <a:r>
              <a:rPr b="1" lang="en-US" sz="4600" spc="-1" strike="noStrike">
                <a:solidFill>
                  <a:srgbClr val="ffffff"/>
                </a:solidFill>
                <a:latin typeface="Georgia"/>
                <a:ea typeface="Georgia"/>
              </a:rPr>
              <a:t>anti-frelons asiatiques</a:t>
            </a:r>
            <a:endParaRPr b="0" lang="fr-FR" sz="4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Text 5"/>
          <p:cNvSpPr/>
          <p:nvPr/>
        </p:nvSpPr>
        <p:spPr>
          <a:xfrm>
            <a:off x="749880" y="3886200"/>
            <a:ext cx="630828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e9e1cf"/>
                </a:solidFill>
                <a:latin typeface="Calibri"/>
                <a:ea typeface="Calibri"/>
              </a:rPr>
              <a:t>Principe · recommandations des GDSA · fabrication maison</a:t>
            </a:r>
            <a:endParaRPr b="0" lang="fr-FR" sz="17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Shape 6"/>
          <p:cNvSpPr/>
          <p:nvPr/>
        </p:nvSpPr>
        <p:spPr>
          <a:xfrm>
            <a:off x="777240" y="4709160"/>
            <a:ext cx="1187640" cy="44640"/>
          </a:xfrm>
          <a:prstGeom prst="rect">
            <a:avLst/>
          </a:prstGeom>
          <a:solidFill>
            <a:srgbClr val="c844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Text 7"/>
          <p:cNvSpPr/>
          <p:nvPr/>
        </p:nvSpPr>
        <p:spPr>
          <a:xfrm>
            <a:off x="731520" y="4937760"/>
            <a:ext cx="603396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38"/>
                </a:solidFill>
                <a:latin typeface="Calibri"/>
                <a:ea typeface="Calibri"/>
              </a:rPr>
              <a:t>Présentation pour l’atelier Naturapi du 27/6/2026</a:t>
            </a:r>
            <a:endParaRPr b="0" lang="fr-FR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Text 8"/>
          <p:cNvSpPr/>
          <p:nvPr/>
        </p:nvSpPr>
        <p:spPr>
          <a:xfrm>
            <a:off x="731520" y="6126480"/>
            <a:ext cx="45709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8c8270"/>
                </a:solidFill>
                <a:latin typeface="Calibri"/>
                <a:ea typeface="Calibri"/>
              </a:rPr>
              <a:t>Présentation ~45 min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Text 134"/>
          <p:cNvSpPr/>
          <p:nvPr/>
        </p:nvSpPr>
        <p:spPr>
          <a:xfrm>
            <a:off x="9828360" y="6120000"/>
            <a:ext cx="18709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8c8270"/>
                </a:solidFill>
                <a:latin typeface="Calibri"/>
                <a:ea typeface="Calibri"/>
              </a:rPr>
              <a:t>© J.N. Simonnet - 2026</a:t>
            </a:r>
            <a:endParaRPr b="0" lang="fr-FR" sz="12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31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0"/>
          <p:cNvSpPr/>
          <p:nvPr/>
        </p:nvSpPr>
        <p:spPr>
          <a:xfrm>
            <a:off x="-1463040" y="-1463040"/>
            <a:ext cx="3016440" cy="3016440"/>
          </a:xfrm>
          <a:prstGeom prst="ellipse">
            <a:avLst/>
          </a:prstGeom>
          <a:solidFill>
            <a:srgbClr val="e0a526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Text 2"/>
          <p:cNvSpPr/>
          <p:nvPr/>
        </p:nvSpPr>
        <p:spPr>
          <a:xfrm>
            <a:off x="731520" y="208080"/>
            <a:ext cx="7314120" cy="82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400" spc="-1" strike="noStrike">
                <a:solidFill>
                  <a:srgbClr val="ffffff"/>
                </a:solidFill>
                <a:latin typeface="Georgia"/>
                <a:ea typeface="Georgia"/>
              </a:rPr>
              <a:t>Sommaire</a:t>
            </a:r>
            <a:endParaRPr b="0" lang="fr-FR" sz="3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" name="Shape 3"/>
          <p:cNvSpPr/>
          <p:nvPr/>
        </p:nvSpPr>
        <p:spPr>
          <a:xfrm>
            <a:off x="777240" y="985320"/>
            <a:ext cx="1004760" cy="44640"/>
          </a:xfrm>
          <a:prstGeom prst="rect">
            <a:avLst/>
          </a:prstGeom>
          <a:solidFill>
            <a:srgbClr val="e0a5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720" bIns="72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Shape 4"/>
          <p:cNvSpPr/>
          <p:nvPr/>
        </p:nvSpPr>
        <p:spPr>
          <a:xfrm>
            <a:off x="822960" y="1442520"/>
            <a:ext cx="840240" cy="84024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Text 5"/>
          <p:cNvSpPr/>
          <p:nvPr/>
        </p:nvSpPr>
        <p:spPr>
          <a:xfrm>
            <a:off x="822960" y="1370520"/>
            <a:ext cx="840240" cy="84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23190e"/>
                </a:solidFill>
                <a:latin typeface="Georgia"/>
                <a:ea typeface="Georgia"/>
              </a:rPr>
              <a:t>1</a:t>
            </a:r>
            <a:endParaRPr b="0" lang="fr-FR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" name="Text 6"/>
          <p:cNvSpPr/>
          <p:nvPr/>
        </p:nvSpPr>
        <p:spPr>
          <a:xfrm>
            <a:off x="1920240" y="1407240"/>
            <a:ext cx="9417240" cy="47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ffffff"/>
                </a:solidFill>
                <a:latin typeface="Georgia"/>
                <a:ea typeface="Georgia"/>
              </a:rPr>
              <a:t>Le principe</a:t>
            </a:r>
            <a:endParaRPr b="0" lang="fr-FR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" name="Text 7"/>
          <p:cNvSpPr/>
          <p:nvPr/>
        </p:nvSpPr>
        <p:spPr>
          <a:xfrm>
            <a:off x="1920240" y="1873440"/>
            <a:ext cx="94172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bcb3a0"/>
                </a:solidFill>
                <a:latin typeface="Calibri"/>
                <a:ea typeface="Calibri"/>
              </a:rPr>
              <a:t>Fils sous haute tension, géométrie sélective, système complet</a:t>
            </a:r>
            <a:endParaRPr b="0" lang="fr-FR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Shape 8"/>
          <p:cNvSpPr/>
          <p:nvPr/>
        </p:nvSpPr>
        <p:spPr>
          <a:xfrm>
            <a:off x="822960" y="2413440"/>
            <a:ext cx="840240" cy="84024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Text 9"/>
          <p:cNvSpPr/>
          <p:nvPr/>
        </p:nvSpPr>
        <p:spPr>
          <a:xfrm>
            <a:off x="822960" y="2341440"/>
            <a:ext cx="840240" cy="84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23190e"/>
                </a:solidFill>
                <a:latin typeface="Georgia"/>
                <a:ea typeface="Georgia"/>
              </a:rPr>
              <a:t>2</a:t>
            </a:r>
            <a:endParaRPr b="0" lang="fr-FR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" name="Text 10"/>
          <p:cNvSpPr/>
          <p:nvPr/>
        </p:nvSpPr>
        <p:spPr>
          <a:xfrm>
            <a:off x="1920240" y="2378160"/>
            <a:ext cx="9417240" cy="47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ffffff"/>
                </a:solidFill>
                <a:latin typeface="Georgia"/>
                <a:ea typeface="Georgia"/>
              </a:rPr>
              <a:t>Les recommandations des GDSA</a:t>
            </a:r>
            <a:endParaRPr b="0" lang="fr-FR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Text 11"/>
          <p:cNvSpPr/>
          <p:nvPr/>
        </p:nvSpPr>
        <p:spPr>
          <a:xfrm>
            <a:off x="1920240" y="2844360"/>
            <a:ext cx="94172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bcb3a0"/>
                </a:solidFill>
                <a:latin typeface="Calibri"/>
                <a:ea typeface="Calibri"/>
              </a:rPr>
              <a:t>Guides GDSA29, GDSA21, Abeilles95 — design conseillé &amp; coûts</a:t>
            </a:r>
            <a:endParaRPr b="0" lang="fr-FR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Shape 12"/>
          <p:cNvSpPr/>
          <p:nvPr/>
        </p:nvSpPr>
        <p:spPr>
          <a:xfrm>
            <a:off x="825480" y="5255280"/>
            <a:ext cx="840240" cy="84024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Text 13"/>
          <p:cNvSpPr/>
          <p:nvPr/>
        </p:nvSpPr>
        <p:spPr>
          <a:xfrm>
            <a:off x="825480" y="5183280"/>
            <a:ext cx="840240" cy="84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23190e"/>
                </a:solidFill>
                <a:latin typeface="Georgia"/>
                <a:ea typeface="Georgia"/>
              </a:rPr>
              <a:t>5</a:t>
            </a:r>
            <a:endParaRPr b="0" lang="fr-FR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" name="Text 14"/>
          <p:cNvSpPr/>
          <p:nvPr/>
        </p:nvSpPr>
        <p:spPr>
          <a:xfrm>
            <a:off x="1922760" y="5220000"/>
            <a:ext cx="9417240" cy="47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ffffff"/>
                </a:solidFill>
                <a:latin typeface="Georgia"/>
                <a:ea typeface="Georgia"/>
              </a:rPr>
              <a:t>Fabriquer soi-même</a:t>
            </a:r>
            <a:endParaRPr b="0" lang="fr-FR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" name="Text 15"/>
          <p:cNvSpPr/>
          <p:nvPr/>
        </p:nvSpPr>
        <p:spPr>
          <a:xfrm>
            <a:off x="1922760" y="5686200"/>
            <a:ext cx="94172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bcb3a0"/>
                </a:solidFill>
                <a:latin typeface="Calibri"/>
                <a:ea typeface="Calibri"/>
              </a:rPr>
              <a:t>Améliorations, isolation, construction mécanique &amp; électronique</a:t>
            </a:r>
            <a:endParaRPr b="0" lang="fr-FR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" name="Shape 57"/>
          <p:cNvSpPr/>
          <p:nvPr/>
        </p:nvSpPr>
        <p:spPr>
          <a:xfrm>
            <a:off x="824760" y="3347280"/>
            <a:ext cx="840240" cy="84024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Text 80"/>
          <p:cNvSpPr/>
          <p:nvPr/>
        </p:nvSpPr>
        <p:spPr>
          <a:xfrm>
            <a:off x="824760" y="3275280"/>
            <a:ext cx="840240" cy="84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23190e"/>
                </a:solidFill>
                <a:latin typeface="Georgia"/>
                <a:ea typeface="Georgia"/>
              </a:rPr>
              <a:t>3</a:t>
            </a:r>
            <a:endParaRPr b="0" lang="fr-FR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" name="Text 81"/>
          <p:cNvSpPr/>
          <p:nvPr/>
        </p:nvSpPr>
        <p:spPr>
          <a:xfrm>
            <a:off x="1922040" y="3312000"/>
            <a:ext cx="9417240" cy="47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ffffff"/>
                </a:solidFill>
                <a:latin typeface="Georgia"/>
                <a:ea typeface="Georgia"/>
              </a:rPr>
              <a:t>Précautions d’installation</a:t>
            </a:r>
            <a:endParaRPr b="0" lang="fr-FR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" name="Text 82"/>
          <p:cNvSpPr/>
          <p:nvPr/>
        </p:nvSpPr>
        <p:spPr>
          <a:xfrm>
            <a:off x="1922040" y="3778200"/>
            <a:ext cx="94172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bcb3a0"/>
                </a:solidFill>
                <a:latin typeface="Calibri"/>
                <a:ea typeface="Calibri"/>
              </a:rPr>
              <a:t>Là où la harpe peut être contre-productive et comment l’améliorer</a:t>
            </a:r>
            <a:endParaRPr b="0" lang="fr-FR" sz="1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" name="Shape 58"/>
          <p:cNvSpPr/>
          <p:nvPr/>
        </p:nvSpPr>
        <p:spPr>
          <a:xfrm>
            <a:off x="824760" y="4307040"/>
            <a:ext cx="840240" cy="840240"/>
          </a:xfrm>
          <a:prstGeom prst="ellipse">
            <a:avLst/>
          </a:prstGeom>
          <a:solidFill>
            <a:srgbClr val="e0a526"/>
          </a:solidFill>
          <a:ln w="12700">
            <a:solidFill>
              <a:srgbClr val="e0a5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Text 83"/>
          <p:cNvSpPr/>
          <p:nvPr/>
        </p:nvSpPr>
        <p:spPr>
          <a:xfrm>
            <a:off x="824760" y="4235040"/>
            <a:ext cx="840240" cy="84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23190e"/>
                </a:solidFill>
                <a:latin typeface="Georgia"/>
                <a:ea typeface="Georgia"/>
              </a:rPr>
              <a:t>4</a:t>
            </a:r>
            <a:endParaRPr b="0" lang="fr-FR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" name="Text 132"/>
          <p:cNvSpPr/>
          <p:nvPr/>
        </p:nvSpPr>
        <p:spPr>
          <a:xfrm>
            <a:off x="1922040" y="4271760"/>
            <a:ext cx="9417240" cy="47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ffffff"/>
                </a:solidFill>
                <a:latin typeface="Georgia"/>
                <a:ea typeface="Georgia"/>
              </a:rPr>
              <a:t>Résultats de capture</a:t>
            </a:r>
            <a:endParaRPr b="0" lang="fr-FR" sz="2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" name="Text 133"/>
          <p:cNvSpPr/>
          <p:nvPr/>
        </p:nvSpPr>
        <p:spPr>
          <a:xfrm>
            <a:off x="1922040" y="4737960"/>
            <a:ext cx="94172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bcb3a0"/>
                </a:solidFill>
                <a:latin typeface="Calibri"/>
                <a:ea typeface="Calibri"/>
              </a:rPr>
              <a:t>Premiers comptages en conditions réelles, à Beaumont (63)</a:t>
            </a:r>
            <a:endParaRPr b="0" lang="fr-FR" sz="13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31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Shape 0"/>
          <p:cNvSpPr/>
          <p:nvPr/>
        </p:nvSpPr>
        <p:spPr>
          <a:xfrm>
            <a:off x="-1463040" y="-1463040"/>
            <a:ext cx="3016440" cy="3016440"/>
          </a:xfrm>
          <a:prstGeom prst="ellipse">
            <a:avLst/>
          </a:prstGeom>
          <a:solidFill>
            <a:srgbClr val="e0a526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Shape 1"/>
          <p:cNvSpPr/>
          <p:nvPr/>
        </p:nvSpPr>
        <p:spPr>
          <a:xfrm>
            <a:off x="10881360" y="5212080"/>
            <a:ext cx="2742120" cy="2742120"/>
          </a:xfrm>
          <a:prstGeom prst="ellipse">
            <a:avLst/>
          </a:prstGeom>
          <a:solidFill>
            <a:srgbClr val="e0a526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Text 2"/>
          <p:cNvSpPr/>
          <p:nvPr/>
        </p:nvSpPr>
        <p:spPr>
          <a:xfrm>
            <a:off x="1005840" y="2331720"/>
            <a:ext cx="73141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392" strike="noStrike">
                <a:solidFill>
                  <a:srgbClr val="e0a526"/>
                </a:solidFill>
                <a:latin typeface="Calibri"/>
                <a:ea typeface="Calibri"/>
              </a:rPr>
              <a:t>PARTIE 1</a:t>
            </a:r>
            <a:endParaRPr b="0" lang="fr-F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" name="Text 3"/>
          <p:cNvSpPr/>
          <p:nvPr/>
        </p:nvSpPr>
        <p:spPr>
          <a:xfrm>
            <a:off x="960120" y="2743200"/>
            <a:ext cx="10057320" cy="11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400" spc="-1" strike="noStrike">
                <a:solidFill>
                  <a:srgbClr val="ffffff"/>
                </a:solidFill>
                <a:latin typeface="Georgia"/>
                <a:ea typeface="Georgia"/>
              </a:rPr>
              <a:t>Le principe</a:t>
            </a:r>
            <a:endParaRPr b="0" lang="fr-FR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" name="Shape 4"/>
          <p:cNvSpPr/>
          <p:nvPr/>
        </p:nvSpPr>
        <p:spPr>
          <a:xfrm>
            <a:off x="1005840" y="3977640"/>
            <a:ext cx="1370520" cy="53640"/>
          </a:xfrm>
          <a:prstGeom prst="rect">
            <a:avLst/>
          </a:prstGeom>
          <a:solidFill>
            <a:srgbClr val="c844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" name="Text 5"/>
          <p:cNvSpPr/>
          <p:nvPr/>
        </p:nvSpPr>
        <p:spPr>
          <a:xfrm>
            <a:off x="1005840" y="4206240"/>
            <a:ext cx="960012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cfc6b4"/>
                </a:solidFill>
                <a:latin typeface="Calibri"/>
                <a:ea typeface="Calibri"/>
              </a:rPr>
              <a:t>Comment une harpe électrique cible le frelon en épargnant l'abeille</a:t>
            </a:r>
            <a:endParaRPr b="0" lang="fr-F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" name="Text 6"/>
          <p:cNvSpPr/>
          <p:nvPr/>
        </p:nvSpPr>
        <p:spPr>
          <a:xfrm>
            <a:off x="8595360" y="914400"/>
            <a:ext cx="3656520" cy="502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0" spc="-1" strike="noStrike">
                <a:solidFill>
                  <a:srgbClr val="33260f"/>
                </a:solidFill>
                <a:latin typeface="Georgia"/>
                <a:ea typeface="Georgia"/>
              </a:rPr>
              <a:t>1</a:t>
            </a:r>
            <a:endParaRPr b="0" lang="fr-FR" sz="30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Shape 0"/>
          <p:cNvSpPr/>
          <p:nvPr/>
        </p:nvSpPr>
        <p:spPr>
          <a:xfrm>
            <a:off x="502920" y="457200"/>
            <a:ext cx="145080" cy="712080"/>
          </a:xfrm>
          <a:prstGeom prst="rect">
            <a:avLst/>
          </a:prstGeom>
          <a:solidFill>
            <a:srgbClr val="e0a5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Text 1"/>
          <p:cNvSpPr/>
          <p:nvPr/>
        </p:nvSpPr>
        <p:spPr>
          <a:xfrm>
            <a:off x="777240" y="420480"/>
            <a:ext cx="106059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194" strike="noStrike">
                <a:solidFill>
                  <a:srgbClr val="9c6e12"/>
                </a:solidFill>
                <a:latin typeface="Calibri"/>
                <a:ea typeface="Calibri"/>
              </a:rPr>
              <a:t>PARTIE 1 · LE PRINCIPE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Text 2"/>
          <p:cNvSpPr/>
          <p:nvPr/>
        </p:nvSpPr>
        <p:spPr>
          <a:xfrm>
            <a:off x="777240" y="658440"/>
            <a:ext cx="108802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23190e"/>
                </a:solidFill>
                <a:latin typeface="Georgia"/>
                <a:ea typeface="Georgia"/>
              </a:rPr>
              <a:t>Un filtre électrique sélectif</a:t>
            </a:r>
            <a:endParaRPr b="0" lang="fr-FR" sz="3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1" name="Image 0" descr="/tmp/assets/harp_full.jpg"/>
          <p:cNvPicPr/>
          <p:nvPr/>
        </p:nvPicPr>
        <p:blipFill>
          <a:blip r:embed="rId1"/>
          <a:stretch/>
        </p:blipFill>
        <p:spPr>
          <a:xfrm>
            <a:off x="8092440" y="1798560"/>
            <a:ext cx="3702240" cy="3762720"/>
          </a:xfrm>
          <a:prstGeom prst="rect">
            <a:avLst/>
          </a:prstGeom>
          <a:ln w="0">
            <a:noFill/>
          </a:ln>
          <a:effectLst>
            <a:outerShdw algn="bl" blurRad="114480" dir="5400000" dist="38160" kx="0" ky="0" rotWithShape="0" sx="100000" sy="100000">
              <a:srgbClr val="000000">
                <a:alpha val="18000"/>
              </a:srgbClr>
            </a:outerShdw>
          </a:effectLst>
        </p:spPr>
      </p:pic>
      <p:sp>
        <p:nvSpPr>
          <p:cNvPr id="52" name="Text 3"/>
          <p:cNvSpPr/>
          <p:nvPr/>
        </p:nvSpPr>
        <p:spPr>
          <a:xfrm>
            <a:off x="7863840" y="5989320"/>
            <a:ext cx="415944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50" spc="-1" strike="noStrike">
                <a:solidFill>
                  <a:srgbClr val="8c8270"/>
                </a:solidFill>
                <a:latin typeface="Calibri"/>
                <a:ea typeface="Calibri"/>
              </a:rPr>
              <a:t>Harpe montée sur piétement, bac à eau dessous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Shape 4"/>
          <p:cNvSpPr/>
          <p:nvPr/>
        </p:nvSpPr>
        <p:spPr>
          <a:xfrm>
            <a:off x="594360" y="1600200"/>
            <a:ext cx="181800" cy="181800"/>
          </a:xfrm>
          <a:prstGeom prst="ellipse">
            <a:avLst/>
          </a:prstGeom>
          <a:solidFill>
            <a:srgbClr val="e0a5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Text 5"/>
          <p:cNvSpPr/>
          <p:nvPr/>
        </p:nvSpPr>
        <p:spPr>
          <a:xfrm>
            <a:off x="914400" y="1508760"/>
            <a:ext cx="67654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50" spc="-1" strike="noStrike">
                <a:solidFill>
                  <a:srgbClr val="23190e"/>
                </a:solidFill>
                <a:latin typeface="Calibri"/>
                <a:ea typeface="Calibri"/>
              </a:rPr>
              <a:t>Des fils verticaux sous 2000 V</a:t>
            </a:r>
            <a:endParaRPr b="0" lang="fr-FR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Text 6"/>
          <p:cNvSpPr/>
          <p:nvPr/>
        </p:nvSpPr>
        <p:spPr>
          <a:xfrm>
            <a:off x="914400" y="1865520"/>
            <a:ext cx="690264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615749"/>
                </a:solidFill>
                <a:latin typeface="Calibri"/>
                <a:ea typeface="Calibri"/>
              </a:rPr>
              <a:t>Deux plans de fils inox tendus, portés à haute tension. Le frelon qui les touche ferme le circuit.</a:t>
            </a:r>
            <a:endParaRPr b="0" lang="fr-F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Shape 7"/>
          <p:cNvSpPr/>
          <p:nvPr/>
        </p:nvSpPr>
        <p:spPr>
          <a:xfrm>
            <a:off x="594360" y="2697480"/>
            <a:ext cx="181800" cy="181800"/>
          </a:xfrm>
          <a:prstGeom prst="ellipse">
            <a:avLst/>
          </a:prstGeom>
          <a:solidFill>
            <a:srgbClr val="e0a5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Text 8"/>
          <p:cNvSpPr/>
          <p:nvPr/>
        </p:nvSpPr>
        <p:spPr>
          <a:xfrm>
            <a:off x="914400" y="2606040"/>
            <a:ext cx="67654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50" spc="-1" strike="noStrike">
                <a:solidFill>
                  <a:srgbClr val="23190e"/>
                </a:solidFill>
                <a:latin typeface="Calibri"/>
                <a:ea typeface="Calibri"/>
              </a:rPr>
              <a:t>Un pas calculé : 25 mm</a:t>
            </a:r>
            <a:endParaRPr b="0" lang="fr-FR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Text 9"/>
          <p:cNvSpPr/>
          <p:nvPr/>
        </p:nvSpPr>
        <p:spPr>
          <a:xfrm>
            <a:off x="914400" y="2962800"/>
            <a:ext cx="690264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615749"/>
                </a:solidFill>
                <a:latin typeface="Calibri"/>
                <a:ea typeface="Calibri"/>
              </a:rPr>
              <a:t>Inférieur à l'envergure du frelon asiatique (≈ 36–40 mm), mais supérieur à celle de l'abeille (16 mm) : l'abeille passe, le frelon non (ça, c’est la théorie !).</a:t>
            </a:r>
            <a:endParaRPr b="0" lang="fr-F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Shape 10"/>
          <p:cNvSpPr/>
          <p:nvPr/>
        </p:nvSpPr>
        <p:spPr>
          <a:xfrm>
            <a:off x="594360" y="3794760"/>
            <a:ext cx="181800" cy="181800"/>
          </a:xfrm>
          <a:prstGeom prst="ellipse">
            <a:avLst/>
          </a:prstGeom>
          <a:solidFill>
            <a:srgbClr val="e0a5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Text 11"/>
          <p:cNvSpPr/>
          <p:nvPr/>
        </p:nvSpPr>
        <p:spPr>
          <a:xfrm>
            <a:off x="914400" y="3703320"/>
            <a:ext cx="67654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50" spc="-1" strike="noStrike">
                <a:solidFill>
                  <a:srgbClr val="23190e"/>
                </a:solidFill>
                <a:latin typeface="Calibri"/>
                <a:ea typeface="Calibri"/>
              </a:rPr>
              <a:t>La décharge</a:t>
            </a:r>
            <a:endParaRPr b="0" lang="fr-FR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Text 12"/>
          <p:cNvSpPr/>
          <p:nvPr/>
        </p:nvSpPr>
        <p:spPr>
          <a:xfrm>
            <a:off x="914400" y="4060080"/>
            <a:ext cx="690264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615749"/>
                </a:solidFill>
                <a:latin typeface="Calibri"/>
                <a:ea typeface="Calibri"/>
              </a:rPr>
              <a:t>Au contact des ailes, la décharge paralyse ou détruit les muscles de vol selon l'énergie appliquée.</a:t>
            </a:r>
            <a:endParaRPr b="0" lang="fr-F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Shape 13"/>
          <p:cNvSpPr/>
          <p:nvPr/>
        </p:nvSpPr>
        <p:spPr>
          <a:xfrm>
            <a:off x="594360" y="4892040"/>
            <a:ext cx="181800" cy="181800"/>
          </a:xfrm>
          <a:prstGeom prst="ellipse">
            <a:avLst/>
          </a:prstGeom>
          <a:solidFill>
            <a:srgbClr val="e0a5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Text 14"/>
          <p:cNvSpPr/>
          <p:nvPr/>
        </p:nvSpPr>
        <p:spPr>
          <a:xfrm>
            <a:off x="914400" y="4800600"/>
            <a:ext cx="67654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50" spc="-1" strike="noStrike">
                <a:solidFill>
                  <a:srgbClr val="23190e"/>
                </a:solidFill>
                <a:latin typeface="Calibri"/>
                <a:ea typeface="Calibri"/>
              </a:rPr>
              <a:t>Le bac à eau</a:t>
            </a:r>
            <a:endParaRPr b="0" lang="fr-FR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Text 15"/>
          <p:cNvSpPr/>
          <p:nvPr/>
        </p:nvSpPr>
        <p:spPr>
          <a:xfrm>
            <a:off x="914400" y="5157360"/>
            <a:ext cx="690264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615749"/>
                </a:solidFill>
                <a:latin typeface="Calibri"/>
                <a:ea typeface="Calibri"/>
              </a:rPr>
              <a:t>Sous la harpe, un bac d'eau additionnée de liquide vaisselle noie le frelon étourdi (mouille les ailes à coup sûr).</a:t>
            </a:r>
            <a:endParaRPr b="0" lang="fr-F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Shape 16"/>
          <p:cNvSpPr/>
          <p:nvPr/>
        </p:nvSpPr>
        <p:spPr>
          <a:xfrm>
            <a:off x="11475720" y="6437520"/>
            <a:ext cx="108720" cy="108720"/>
          </a:xfrm>
          <a:prstGeom prst="ellipse">
            <a:avLst/>
          </a:prstGeom>
          <a:solidFill>
            <a:srgbClr val="e0a5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2760" bIns="3276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Text 17"/>
          <p:cNvSpPr/>
          <p:nvPr/>
        </p:nvSpPr>
        <p:spPr>
          <a:xfrm>
            <a:off x="10424160" y="6327720"/>
            <a:ext cx="95904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8c8270"/>
                </a:solidFill>
                <a:latin typeface="Calibri"/>
                <a:ea typeface="Calibri"/>
              </a:rPr>
              <a:t>1 / 17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Text 18"/>
          <p:cNvSpPr/>
          <p:nvPr/>
        </p:nvSpPr>
        <p:spPr>
          <a:xfrm>
            <a:off x="502920" y="6327720"/>
            <a:ext cx="548532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a99f8c"/>
                </a:solidFill>
                <a:latin typeface="Calibri"/>
                <a:ea typeface="Calibri"/>
              </a:rPr>
              <a:t>Harpe anti-frelons asiatiques - © J.N. Simonnet - 2026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Shape 0"/>
          <p:cNvSpPr/>
          <p:nvPr/>
        </p:nvSpPr>
        <p:spPr>
          <a:xfrm>
            <a:off x="502920" y="457200"/>
            <a:ext cx="145080" cy="712080"/>
          </a:xfrm>
          <a:prstGeom prst="rect">
            <a:avLst/>
          </a:prstGeom>
          <a:solidFill>
            <a:srgbClr val="e0a5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Text 1"/>
          <p:cNvSpPr/>
          <p:nvPr/>
        </p:nvSpPr>
        <p:spPr>
          <a:xfrm>
            <a:off x="777240" y="420480"/>
            <a:ext cx="106059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194" strike="noStrike">
                <a:solidFill>
                  <a:srgbClr val="9c6e12"/>
                </a:solidFill>
                <a:latin typeface="Calibri"/>
                <a:ea typeface="Calibri"/>
              </a:rPr>
              <a:t>PARTIE 1 · LE PRINCIPE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Text 2"/>
          <p:cNvSpPr/>
          <p:nvPr/>
        </p:nvSpPr>
        <p:spPr>
          <a:xfrm>
            <a:off x="777240" y="658440"/>
            <a:ext cx="108802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23190e"/>
                </a:solidFill>
                <a:latin typeface="Georgia"/>
                <a:ea typeface="Georgia"/>
              </a:rPr>
              <a:t>Le système complet : tout au solaire</a:t>
            </a:r>
            <a:endParaRPr b="0" lang="fr-F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Shape 3"/>
          <p:cNvSpPr/>
          <p:nvPr/>
        </p:nvSpPr>
        <p:spPr>
          <a:xfrm>
            <a:off x="640080" y="1691640"/>
            <a:ext cx="2330640" cy="1050480"/>
          </a:xfrm>
          <a:prstGeom prst="roundRect">
            <a:avLst>
              <a:gd name="adj" fmla="val 6957"/>
            </a:avLst>
          </a:prstGeom>
          <a:solidFill>
            <a:srgbClr val="e0a526"/>
          </a:solidFill>
          <a:ln w="0">
            <a:noFill/>
          </a:ln>
          <a:effectLst>
            <a:outerShdw algn="bl" blurRad="11448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Text 4"/>
          <p:cNvSpPr/>
          <p:nvPr/>
        </p:nvSpPr>
        <p:spPr>
          <a:xfrm>
            <a:off x="640080" y="1691640"/>
            <a:ext cx="2330640" cy="105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3190e"/>
                </a:solidFill>
                <a:latin typeface="Calibri"/>
                <a:ea typeface="Calibri"/>
              </a:rPr>
              <a:t>Panneau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3190e"/>
                </a:solidFill>
                <a:latin typeface="Calibri"/>
                <a:ea typeface="Calibri"/>
              </a:rPr>
              <a:t>solaire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Text 5"/>
          <p:cNvSpPr/>
          <p:nvPr/>
        </p:nvSpPr>
        <p:spPr>
          <a:xfrm>
            <a:off x="2971800" y="1691640"/>
            <a:ext cx="501840" cy="105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9c6e12"/>
                </a:solidFill>
                <a:latin typeface="Calibri"/>
                <a:ea typeface="Calibri"/>
              </a:rPr>
              <a:t>→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Shape 6"/>
          <p:cNvSpPr/>
          <p:nvPr/>
        </p:nvSpPr>
        <p:spPr>
          <a:xfrm>
            <a:off x="3474720" y="1691640"/>
            <a:ext cx="2330640" cy="1050480"/>
          </a:xfrm>
          <a:prstGeom prst="roundRect">
            <a:avLst>
              <a:gd name="adj" fmla="val 6957"/>
            </a:avLst>
          </a:prstGeom>
          <a:solidFill>
            <a:srgbClr val="e0a526"/>
          </a:solidFill>
          <a:ln w="0">
            <a:noFill/>
          </a:ln>
          <a:effectLst>
            <a:outerShdw algn="bl" blurRad="11448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Text 7"/>
          <p:cNvSpPr/>
          <p:nvPr/>
        </p:nvSpPr>
        <p:spPr>
          <a:xfrm>
            <a:off x="3474720" y="1691640"/>
            <a:ext cx="2330640" cy="105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3190e"/>
                </a:solidFill>
                <a:latin typeface="Calibri"/>
                <a:ea typeface="Calibri"/>
              </a:rPr>
              <a:t>Régulateur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3190e"/>
                </a:solidFill>
                <a:latin typeface="Calibri"/>
                <a:ea typeface="Calibri"/>
              </a:rPr>
              <a:t>DC/DC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Text 8"/>
          <p:cNvSpPr/>
          <p:nvPr/>
        </p:nvSpPr>
        <p:spPr>
          <a:xfrm>
            <a:off x="5806440" y="1691640"/>
            <a:ext cx="501840" cy="105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9c6e12"/>
                </a:solidFill>
                <a:latin typeface="Calibri"/>
                <a:ea typeface="Calibri"/>
              </a:rPr>
              <a:t>→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Shape 9"/>
          <p:cNvSpPr/>
          <p:nvPr/>
        </p:nvSpPr>
        <p:spPr>
          <a:xfrm>
            <a:off x="6309360" y="1691640"/>
            <a:ext cx="2330640" cy="1050480"/>
          </a:xfrm>
          <a:prstGeom prst="roundRect">
            <a:avLst>
              <a:gd name="adj" fmla="val 6957"/>
            </a:avLst>
          </a:prstGeom>
          <a:solidFill>
            <a:srgbClr val="c8442e"/>
          </a:solidFill>
          <a:ln w="0">
            <a:noFill/>
          </a:ln>
          <a:effectLst>
            <a:outerShdw algn="bl" blurRad="11448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" name="Text 10"/>
          <p:cNvSpPr/>
          <p:nvPr/>
        </p:nvSpPr>
        <p:spPr>
          <a:xfrm>
            <a:off x="6309360" y="1691640"/>
            <a:ext cx="2330640" cy="105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Générateur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HT 2 kV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Text 11"/>
          <p:cNvSpPr/>
          <p:nvPr/>
        </p:nvSpPr>
        <p:spPr>
          <a:xfrm>
            <a:off x="8641080" y="1691640"/>
            <a:ext cx="501840" cy="105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9c6e12"/>
                </a:solidFill>
                <a:latin typeface="Calibri"/>
                <a:ea typeface="Calibri"/>
              </a:rPr>
              <a:t>→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Shape 12"/>
          <p:cNvSpPr/>
          <p:nvPr/>
        </p:nvSpPr>
        <p:spPr>
          <a:xfrm>
            <a:off x="9144000" y="1691640"/>
            <a:ext cx="2330640" cy="1050480"/>
          </a:xfrm>
          <a:prstGeom prst="roundRect">
            <a:avLst>
              <a:gd name="adj" fmla="val 6957"/>
            </a:avLst>
          </a:prstGeom>
          <a:solidFill>
            <a:srgbClr val="5e7d3e"/>
          </a:solidFill>
          <a:ln w="0">
            <a:noFill/>
          </a:ln>
          <a:effectLst>
            <a:outerShdw algn="bl" blurRad="11448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" name="Text 13"/>
          <p:cNvSpPr/>
          <p:nvPr/>
        </p:nvSpPr>
        <p:spPr>
          <a:xfrm>
            <a:off x="9144000" y="1691640"/>
            <a:ext cx="2330640" cy="105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3 harpes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Calibri"/>
                <a:ea typeface="Calibri"/>
              </a:rPr>
              <a:t>(pour 5 ruches)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Text 14"/>
          <p:cNvSpPr/>
          <p:nvPr/>
        </p:nvSpPr>
        <p:spPr>
          <a:xfrm>
            <a:off x="640080" y="3154680"/>
            <a:ext cx="548532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9c6e12"/>
                </a:solidFill>
                <a:latin typeface="Calibri"/>
                <a:ea typeface="Calibri"/>
              </a:rPr>
              <a:t>Pas de batterie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Text 15"/>
          <p:cNvSpPr/>
          <p:nvPr/>
        </p:nvSpPr>
        <p:spPr>
          <a:xfrm>
            <a:off x="640080" y="3314160"/>
            <a:ext cx="9799200" cy="10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615749"/>
                </a:solidFill>
                <a:latin typeface="Calibri"/>
                <a:ea typeface="Calibri"/>
              </a:rPr>
              <a:t>Ni le frelon ni l'abeille ne volent la nuit : inutile d'alimenter la HT après le coucher du soleil. Supprimer la batterie réduit le coût et simplifie grandement l'entretien (pas de recharge de la batterie).</a:t>
            </a:r>
            <a:endParaRPr b="0" lang="fr-F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Text 16"/>
          <p:cNvSpPr/>
          <p:nvPr/>
        </p:nvSpPr>
        <p:spPr>
          <a:xfrm>
            <a:off x="640080" y="4493160"/>
            <a:ext cx="548532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9c6e12"/>
                </a:solidFill>
                <a:latin typeface="Calibri"/>
                <a:ea typeface="Calibri"/>
              </a:rPr>
              <a:t>Positionnement</a:t>
            </a: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 17"/>
          <p:cNvSpPr/>
          <p:nvPr/>
        </p:nvSpPr>
        <p:spPr>
          <a:xfrm>
            <a:off x="640080" y="4904640"/>
            <a:ext cx="9619200" cy="100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615749"/>
                </a:solidFill>
                <a:latin typeface="Calibri"/>
                <a:ea typeface="Calibri"/>
              </a:rPr>
              <a:t>Harpes placées parallèlement aux côtés de la ruche : elles interceptent les frelons qui arrivent par le flanc pour saisir les abeilles devant la planche d'envol.</a:t>
            </a:r>
            <a:endParaRPr b="0" lang="fr-F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Shape 23"/>
          <p:cNvSpPr/>
          <p:nvPr/>
        </p:nvSpPr>
        <p:spPr>
          <a:xfrm>
            <a:off x="11475720" y="6437520"/>
            <a:ext cx="108720" cy="108720"/>
          </a:xfrm>
          <a:prstGeom prst="ellipse">
            <a:avLst/>
          </a:prstGeom>
          <a:solidFill>
            <a:srgbClr val="e0a5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2760" bIns="3276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Text 24"/>
          <p:cNvSpPr/>
          <p:nvPr/>
        </p:nvSpPr>
        <p:spPr>
          <a:xfrm>
            <a:off x="10424160" y="6327720"/>
            <a:ext cx="95904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8c8270"/>
                </a:solidFill>
                <a:latin typeface="Calibri"/>
                <a:ea typeface="Calibri"/>
              </a:rPr>
              <a:t>2 / 17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Text 25"/>
          <p:cNvSpPr/>
          <p:nvPr/>
        </p:nvSpPr>
        <p:spPr>
          <a:xfrm>
            <a:off x="502920" y="6327720"/>
            <a:ext cx="548532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a99f8c"/>
                </a:solidFill>
                <a:latin typeface="Calibri"/>
                <a:ea typeface="Calibri"/>
              </a:rPr>
              <a:t>Harpe anti-frelons asiatiques - © J.N. Simonnet - 2026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31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Shape 0"/>
          <p:cNvSpPr/>
          <p:nvPr/>
        </p:nvSpPr>
        <p:spPr>
          <a:xfrm>
            <a:off x="-1463040" y="-1463040"/>
            <a:ext cx="3016440" cy="3016440"/>
          </a:xfrm>
          <a:prstGeom prst="ellipse">
            <a:avLst/>
          </a:prstGeom>
          <a:solidFill>
            <a:srgbClr val="e0a526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Shape 1"/>
          <p:cNvSpPr/>
          <p:nvPr/>
        </p:nvSpPr>
        <p:spPr>
          <a:xfrm>
            <a:off x="10881360" y="5212080"/>
            <a:ext cx="2742120" cy="2742120"/>
          </a:xfrm>
          <a:prstGeom prst="ellipse">
            <a:avLst/>
          </a:prstGeom>
          <a:solidFill>
            <a:srgbClr val="e0a526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Text 2"/>
          <p:cNvSpPr/>
          <p:nvPr/>
        </p:nvSpPr>
        <p:spPr>
          <a:xfrm>
            <a:off x="1005840" y="2331720"/>
            <a:ext cx="73141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392" strike="noStrike">
                <a:solidFill>
                  <a:srgbClr val="e0a526"/>
                </a:solidFill>
                <a:latin typeface="Calibri"/>
                <a:ea typeface="Calibri"/>
              </a:rPr>
              <a:t>PARTIE 2</a:t>
            </a:r>
            <a:endParaRPr b="0" lang="fr-F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Shape 4"/>
          <p:cNvSpPr/>
          <p:nvPr/>
        </p:nvSpPr>
        <p:spPr>
          <a:xfrm>
            <a:off x="1005840" y="3977640"/>
            <a:ext cx="1370520" cy="53640"/>
          </a:xfrm>
          <a:prstGeom prst="rect">
            <a:avLst/>
          </a:prstGeom>
          <a:solidFill>
            <a:srgbClr val="c844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" name="Text 5"/>
          <p:cNvSpPr/>
          <p:nvPr/>
        </p:nvSpPr>
        <p:spPr>
          <a:xfrm>
            <a:off x="1005840" y="4206240"/>
            <a:ext cx="960012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cfc6b4"/>
                </a:solidFill>
                <a:latin typeface="Calibri"/>
                <a:ea typeface="Calibri"/>
              </a:rPr>
              <a:t>Ce que conseillent les Groupements de Défense Sanitaire Apicole</a:t>
            </a:r>
            <a:endParaRPr b="0" lang="fr-F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" name="Text 6"/>
          <p:cNvSpPr/>
          <p:nvPr/>
        </p:nvSpPr>
        <p:spPr>
          <a:xfrm>
            <a:off x="8595360" y="914400"/>
            <a:ext cx="3656520" cy="502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0" spc="-1" strike="noStrike">
                <a:solidFill>
                  <a:srgbClr val="33260f"/>
                </a:solidFill>
                <a:latin typeface="Georgia"/>
                <a:ea typeface="Georgia"/>
              </a:rPr>
              <a:t>2</a:t>
            </a:r>
            <a:endParaRPr b="0" lang="fr-FR" sz="30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" name="Text 3"/>
          <p:cNvSpPr/>
          <p:nvPr/>
        </p:nvSpPr>
        <p:spPr>
          <a:xfrm>
            <a:off x="960120" y="2743200"/>
            <a:ext cx="10057320" cy="11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400" spc="-1" strike="noStrike">
                <a:solidFill>
                  <a:srgbClr val="ffffff"/>
                </a:solidFill>
                <a:latin typeface="Georgia"/>
                <a:ea typeface="Georgia"/>
              </a:rPr>
              <a:t>Les recommandations des GDSA</a:t>
            </a:r>
            <a:endParaRPr b="0" lang="fr-FR" sz="4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Shape 0"/>
          <p:cNvSpPr/>
          <p:nvPr/>
        </p:nvSpPr>
        <p:spPr>
          <a:xfrm>
            <a:off x="502920" y="457200"/>
            <a:ext cx="145080" cy="712080"/>
          </a:xfrm>
          <a:prstGeom prst="rect">
            <a:avLst/>
          </a:prstGeom>
          <a:solidFill>
            <a:srgbClr val="e0a5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Text 1"/>
          <p:cNvSpPr/>
          <p:nvPr/>
        </p:nvSpPr>
        <p:spPr>
          <a:xfrm>
            <a:off x="777240" y="420480"/>
            <a:ext cx="106059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194" strike="noStrike">
                <a:solidFill>
                  <a:srgbClr val="9c6e12"/>
                </a:solidFill>
                <a:latin typeface="Calibri"/>
                <a:ea typeface="Calibri"/>
              </a:rPr>
              <a:t>PARTIE 2 · GDSA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Text 2"/>
          <p:cNvSpPr/>
          <p:nvPr/>
        </p:nvSpPr>
        <p:spPr>
          <a:xfrm>
            <a:off x="777240" y="658440"/>
            <a:ext cx="108802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23190e"/>
                </a:solidFill>
                <a:latin typeface="Georgia"/>
                <a:ea typeface="Georgia"/>
              </a:rPr>
              <a:t>Trois guides de référence en ligne</a:t>
            </a:r>
            <a:endParaRPr b="0" lang="fr-F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Shape 3"/>
          <p:cNvSpPr/>
          <p:nvPr/>
        </p:nvSpPr>
        <p:spPr>
          <a:xfrm>
            <a:off x="640080" y="1600200"/>
            <a:ext cx="3610800" cy="3439080"/>
          </a:xfrm>
          <a:prstGeom prst="rect">
            <a:avLst/>
          </a:prstGeom>
          <a:solidFill>
            <a:srgbClr val="f4f1ea"/>
          </a:solidFill>
          <a:ln w="12700">
            <a:solidFill>
              <a:srgbClr val="e7e0d2"/>
            </a:solidFill>
            <a:round/>
          </a:ln>
          <a:effectLst>
            <a:outerShdw algn="bl" blurRad="11448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Shape 4"/>
          <p:cNvSpPr/>
          <p:nvPr/>
        </p:nvSpPr>
        <p:spPr>
          <a:xfrm>
            <a:off x="640080" y="1600200"/>
            <a:ext cx="3610800" cy="776160"/>
          </a:xfrm>
          <a:prstGeom prst="rect">
            <a:avLst/>
          </a:prstGeom>
          <a:solidFill>
            <a:srgbClr val="e0a5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Text 5"/>
          <p:cNvSpPr/>
          <p:nvPr/>
        </p:nvSpPr>
        <p:spPr>
          <a:xfrm>
            <a:off x="640080" y="1664280"/>
            <a:ext cx="36108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23190e"/>
                </a:solidFill>
                <a:latin typeface="Georgia"/>
                <a:ea typeface="Georgia"/>
              </a:rPr>
              <a:t>GDSA 29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Text 6"/>
          <p:cNvSpPr/>
          <p:nvPr/>
        </p:nvSpPr>
        <p:spPr>
          <a:xfrm>
            <a:off x="640080" y="2084760"/>
            <a:ext cx="36108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92" strike="noStrike">
                <a:solidFill>
                  <a:srgbClr val="9c6e12"/>
                </a:solidFill>
                <a:latin typeface="Calibri"/>
                <a:ea typeface="Calibri"/>
              </a:rPr>
              <a:t>Finistère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Text 7"/>
          <p:cNvSpPr/>
          <p:nvPr/>
        </p:nvSpPr>
        <p:spPr>
          <a:xfrm rot="21594600">
            <a:off x="753120" y="2601000"/>
            <a:ext cx="1406880" cy="171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615749"/>
                </a:solidFill>
                <a:latin typeface="Calibri"/>
                <a:ea typeface="Calibri"/>
              </a:rPr>
              <a:t>Propose un kit. Pas entre fils de 24 mm, montage sans ressorts. Montage avec isolateurs. Electrocution du frelon qui tombe dans un bac d’eau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Text 8"/>
          <p:cNvSpPr/>
          <p:nvPr/>
        </p:nvSpPr>
        <p:spPr>
          <a:xfrm>
            <a:off x="640080" y="4650840"/>
            <a:ext cx="361080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250" spc="-1" strike="noStrike">
                <a:solidFill>
                  <a:srgbClr val="5e7d3e"/>
                </a:solidFill>
                <a:latin typeface="Calibri"/>
                <a:ea typeface="Calibri"/>
              </a:rPr>
              <a:t>gdsa29.fr</a:t>
            </a:r>
            <a:endParaRPr b="0" lang="fr-F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Shape 9"/>
          <p:cNvSpPr/>
          <p:nvPr/>
        </p:nvSpPr>
        <p:spPr>
          <a:xfrm>
            <a:off x="4498920" y="1600200"/>
            <a:ext cx="3610800" cy="3439080"/>
          </a:xfrm>
          <a:prstGeom prst="rect">
            <a:avLst/>
          </a:prstGeom>
          <a:solidFill>
            <a:srgbClr val="f4f1ea"/>
          </a:solidFill>
          <a:ln w="12700">
            <a:solidFill>
              <a:srgbClr val="e7e0d2"/>
            </a:solidFill>
            <a:round/>
          </a:ln>
          <a:effectLst>
            <a:outerShdw algn="bl" blurRad="11448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Shape 10"/>
          <p:cNvSpPr/>
          <p:nvPr/>
        </p:nvSpPr>
        <p:spPr>
          <a:xfrm>
            <a:off x="4498920" y="1600200"/>
            <a:ext cx="3610800" cy="776160"/>
          </a:xfrm>
          <a:prstGeom prst="rect">
            <a:avLst/>
          </a:prstGeom>
          <a:solidFill>
            <a:srgbClr val="e0a5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Text 11"/>
          <p:cNvSpPr/>
          <p:nvPr/>
        </p:nvSpPr>
        <p:spPr>
          <a:xfrm>
            <a:off x="4498920" y="1664280"/>
            <a:ext cx="36108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23190e"/>
                </a:solidFill>
                <a:latin typeface="Georgia"/>
                <a:ea typeface="Georgia"/>
              </a:rPr>
              <a:t>GDSA 21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Text 12"/>
          <p:cNvSpPr/>
          <p:nvPr/>
        </p:nvSpPr>
        <p:spPr>
          <a:xfrm>
            <a:off x="4498920" y="2084760"/>
            <a:ext cx="36108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92" strike="noStrike">
                <a:solidFill>
                  <a:srgbClr val="9c6e12"/>
                </a:solidFill>
                <a:latin typeface="Calibri"/>
                <a:ea typeface="Calibri"/>
              </a:rPr>
              <a:t>Côte-d'Or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Text 13"/>
          <p:cNvSpPr/>
          <p:nvPr/>
        </p:nvSpPr>
        <p:spPr>
          <a:xfrm>
            <a:off x="4791600" y="2462040"/>
            <a:ext cx="1327680" cy="155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615749"/>
                </a:solidFill>
                <a:latin typeface="Calibri"/>
                <a:ea typeface="Calibri"/>
              </a:rPr>
              <a:t>Tréteaux + réglettes plastique percées + ressorts. Tension 1800V, puis kit commercial.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615749"/>
                </a:solidFill>
                <a:latin typeface="Calibri"/>
                <a:ea typeface="Calibri"/>
              </a:rPr>
              <a:t>Pas des fils 26–29 mm, ressorts inox pour la tension, module HT ~1800 V, condensateur pour  meilleure efficacité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Text 14"/>
          <p:cNvSpPr/>
          <p:nvPr/>
        </p:nvSpPr>
        <p:spPr>
          <a:xfrm>
            <a:off x="4498920" y="4680000"/>
            <a:ext cx="361080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250" spc="-1" strike="noStrike">
                <a:solidFill>
                  <a:srgbClr val="5e7d3e"/>
                </a:solidFill>
                <a:latin typeface="Calibri"/>
                <a:ea typeface="Calibri"/>
              </a:rPr>
              <a:t>gdsa21.fr</a:t>
            </a:r>
            <a:endParaRPr b="0" lang="fr-F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Shape 15"/>
          <p:cNvSpPr/>
          <p:nvPr/>
        </p:nvSpPr>
        <p:spPr>
          <a:xfrm>
            <a:off x="8357760" y="1600200"/>
            <a:ext cx="3610800" cy="3439080"/>
          </a:xfrm>
          <a:prstGeom prst="rect">
            <a:avLst/>
          </a:prstGeom>
          <a:solidFill>
            <a:srgbClr val="f4f1ea"/>
          </a:solidFill>
          <a:ln w="12700">
            <a:solidFill>
              <a:srgbClr val="e7e0d2"/>
            </a:solidFill>
            <a:round/>
          </a:ln>
          <a:effectLst>
            <a:outerShdw algn="bl" blurRad="11448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Shape 16"/>
          <p:cNvSpPr/>
          <p:nvPr/>
        </p:nvSpPr>
        <p:spPr>
          <a:xfrm>
            <a:off x="8357760" y="1600200"/>
            <a:ext cx="3610800" cy="776160"/>
          </a:xfrm>
          <a:prstGeom prst="rect">
            <a:avLst/>
          </a:prstGeom>
          <a:solidFill>
            <a:srgbClr val="e0a5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Text 17"/>
          <p:cNvSpPr/>
          <p:nvPr/>
        </p:nvSpPr>
        <p:spPr>
          <a:xfrm>
            <a:off x="8357760" y="1664280"/>
            <a:ext cx="361080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23190e"/>
                </a:solidFill>
                <a:latin typeface="Georgia"/>
                <a:ea typeface="Georgia"/>
              </a:rPr>
              <a:t>Abeilles 95</a:t>
            </a:r>
            <a:endParaRPr b="0" lang="fr-FR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Text 18"/>
          <p:cNvSpPr/>
          <p:nvPr/>
        </p:nvSpPr>
        <p:spPr>
          <a:xfrm>
            <a:off x="8357760" y="2084760"/>
            <a:ext cx="36108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92" strike="noStrike">
                <a:solidFill>
                  <a:srgbClr val="9c6e12"/>
                </a:solidFill>
                <a:latin typeface="Calibri"/>
                <a:ea typeface="Calibri"/>
              </a:rPr>
              <a:t>Val-d'Oise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Text 19"/>
          <p:cNvSpPr/>
          <p:nvPr/>
        </p:nvSpPr>
        <p:spPr>
          <a:xfrm>
            <a:off x="8640000" y="2520000"/>
            <a:ext cx="1429200" cy="155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615749"/>
                </a:solidFill>
                <a:latin typeface="Calibri"/>
                <a:ea typeface="Calibri"/>
              </a:rPr>
              <a:t>Version initiale à base de gaines électriques (pas de 24 mm), puis base tréteau + punaises pour tableau de liège ou pièces imprimées en 3D. HT utilisant le même module que ma réalisation.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Text 20"/>
          <p:cNvSpPr/>
          <p:nvPr/>
        </p:nvSpPr>
        <p:spPr>
          <a:xfrm>
            <a:off x="8357760" y="4686840"/>
            <a:ext cx="361080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250" spc="-1" strike="noStrike">
                <a:solidFill>
                  <a:srgbClr val="5e7d3e"/>
                </a:solidFill>
                <a:latin typeface="Calibri"/>
                <a:ea typeface="Calibri"/>
              </a:rPr>
              <a:t>abeilles95.fr</a:t>
            </a:r>
            <a:endParaRPr b="0" lang="fr-F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Text 21"/>
          <p:cNvSpPr/>
          <p:nvPr/>
        </p:nvSpPr>
        <p:spPr>
          <a:xfrm>
            <a:off x="640080" y="5074920"/>
            <a:ext cx="1097172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615749"/>
                </a:solidFill>
                <a:latin typeface="Calibri"/>
                <a:ea typeface="Calibri"/>
              </a:rPr>
              <a:t>Conception conseillée par les GDSA : fils espacés de 24–29 mm · ~1800–2000 V continu · bac à eau · protection pluie (dessus + côtés)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Shape 23"/>
          <p:cNvSpPr/>
          <p:nvPr/>
        </p:nvSpPr>
        <p:spPr>
          <a:xfrm>
            <a:off x="11475720" y="6437520"/>
            <a:ext cx="108720" cy="108720"/>
          </a:xfrm>
          <a:prstGeom prst="ellipse">
            <a:avLst/>
          </a:prstGeom>
          <a:solidFill>
            <a:srgbClr val="e0a5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2760" bIns="3276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Text 24"/>
          <p:cNvSpPr/>
          <p:nvPr/>
        </p:nvSpPr>
        <p:spPr>
          <a:xfrm>
            <a:off x="10424160" y="6327720"/>
            <a:ext cx="95904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8c8270"/>
                </a:solidFill>
                <a:latin typeface="Calibri"/>
                <a:ea typeface="Calibri"/>
              </a:rPr>
              <a:t>3 / 17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Text 25"/>
          <p:cNvSpPr/>
          <p:nvPr/>
        </p:nvSpPr>
        <p:spPr>
          <a:xfrm>
            <a:off x="502920" y="6327720"/>
            <a:ext cx="548532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a99f8c"/>
                </a:solidFill>
                <a:latin typeface="Calibri"/>
                <a:ea typeface="Calibri"/>
              </a:rPr>
              <a:t>Harpe anti-frelons asiatiques - © J.N. Simonnet - 2026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21" name="" descr=""/>
          <p:cNvPicPr/>
          <p:nvPr/>
        </p:nvPicPr>
        <p:blipFill>
          <a:blip r:embed="rId1"/>
          <a:stretch/>
        </p:blipFill>
        <p:spPr>
          <a:xfrm>
            <a:off x="2340000" y="2520000"/>
            <a:ext cx="1799280" cy="1959120"/>
          </a:xfrm>
          <a:prstGeom prst="rect">
            <a:avLst/>
          </a:prstGeom>
          <a:ln w="0">
            <a:noFill/>
          </a:ln>
        </p:spPr>
      </p:pic>
      <p:pic>
        <p:nvPicPr>
          <p:cNvPr id="122" name="" descr=""/>
          <p:cNvPicPr/>
          <p:nvPr/>
        </p:nvPicPr>
        <p:blipFill>
          <a:blip r:embed="rId2"/>
          <a:stretch/>
        </p:blipFill>
        <p:spPr>
          <a:xfrm>
            <a:off x="6300000" y="2638800"/>
            <a:ext cx="1680480" cy="1680480"/>
          </a:xfrm>
          <a:prstGeom prst="rect">
            <a:avLst/>
          </a:prstGeom>
          <a:ln w="0">
            <a:noFill/>
          </a:ln>
        </p:spPr>
      </p:pic>
      <p:pic>
        <p:nvPicPr>
          <p:cNvPr id="123" name="" descr=""/>
          <p:cNvPicPr/>
          <p:nvPr/>
        </p:nvPicPr>
        <p:blipFill>
          <a:blip r:embed="rId3"/>
          <a:stretch/>
        </p:blipFill>
        <p:spPr>
          <a:xfrm>
            <a:off x="10191960" y="2595600"/>
            <a:ext cx="1687320" cy="18385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Shape 0"/>
          <p:cNvSpPr/>
          <p:nvPr/>
        </p:nvSpPr>
        <p:spPr>
          <a:xfrm>
            <a:off x="502920" y="457200"/>
            <a:ext cx="145080" cy="712080"/>
          </a:xfrm>
          <a:prstGeom prst="rect">
            <a:avLst/>
          </a:prstGeom>
          <a:solidFill>
            <a:srgbClr val="e0a5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Text 1"/>
          <p:cNvSpPr/>
          <p:nvPr/>
        </p:nvSpPr>
        <p:spPr>
          <a:xfrm>
            <a:off x="777240" y="420480"/>
            <a:ext cx="106059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194" strike="noStrike">
                <a:solidFill>
                  <a:srgbClr val="9c6e12"/>
                </a:solidFill>
                <a:latin typeface="Calibri"/>
                <a:ea typeface="Calibri"/>
              </a:rPr>
              <a:t>PARTIE 2 · GDSA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Text 2"/>
          <p:cNvSpPr/>
          <p:nvPr/>
        </p:nvSpPr>
        <p:spPr>
          <a:xfrm>
            <a:off x="777240" y="658440"/>
            <a:ext cx="108802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23190e"/>
                </a:solidFill>
                <a:latin typeface="Georgia"/>
                <a:ea typeface="Georgia"/>
              </a:rPr>
              <a:t>Limites connues &amp; coût des solutions</a:t>
            </a:r>
            <a:endParaRPr b="0" lang="fr-F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Text 3"/>
          <p:cNvSpPr/>
          <p:nvPr/>
        </p:nvSpPr>
        <p:spPr>
          <a:xfrm>
            <a:off x="640080" y="1600200"/>
            <a:ext cx="54853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9c6e12"/>
                </a:solidFill>
                <a:latin typeface="Calibri"/>
                <a:ea typeface="Calibri"/>
              </a:rPr>
              <a:t>Les limites identifiées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Shape 4"/>
          <p:cNvSpPr/>
          <p:nvPr/>
        </p:nvSpPr>
        <p:spPr>
          <a:xfrm>
            <a:off x="640080" y="2094120"/>
            <a:ext cx="145080" cy="145080"/>
          </a:xfrm>
          <a:prstGeom prst="ellipse">
            <a:avLst/>
          </a:prstGeom>
          <a:solidFill>
            <a:srgbClr val="c844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" name="Text 5"/>
          <p:cNvSpPr/>
          <p:nvPr/>
        </p:nvSpPr>
        <p:spPr>
          <a:xfrm>
            <a:off x="914400" y="1965960"/>
            <a:ext cx="507384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615749"/>
                </a:solidFill>
                <a:latin typeface="Calibri"/>
                <a:ea typeface="Calibri"/>
              </a:rPr>
              <a:t>La pluie est l'ennemi principal : l'humidité crée des fuites et fait s'écrouler la HT. Porter de l’attention à la protection du bois et à l’isolation</a:t>
            </a:r>
            <a:endParaRPr b="0" lang="fr-F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Shape 6"/>
          <p:cNvSpPr/>
          <p:nvPr/>
        </p:nvSpPr>
        <p:spPr>
          <a:xfrm>
            <a:off x="640080" y="2752200"/>
            <a:ext cx="145080" cy="145080"/>
          </a:xfrm>
          <a:prstGeom prst="ellipse">
            <a:avLst/>
          </a:prstGeom>
          <a:solidFill>
            <a:srgbClr val="c844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" name="Text 7"/>
          <p:cNvSpPr/>
          <p:nvPr/>
        </p:nvSpPr>
        <p:spPr>
          <a:xfrm>
            <a:off x="914400" y="2624400"/>
            <a:ext cx="507384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615749"/>
                </a:solidFill>
                <a:latin typeface="Calibri"/>
                <a:ea typeface="Calibri"/>
              </a:rPr>
              <a:t>Les gaines plastiques se dégradent aux UV : poreuses au bout d'une saison → perte d'isolation.</a:t>
            </a:r>
            <a:endParaRPr b="0" lang="fr-F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Shape 8"/>
          <p:cNvSpPr/>
          <p:nvPr/>
        </p:nvSpPr>
        <p:spPr>
          <a:xfrm>
            <a:off x="640080" y="3410640"/>
            <a:ext cx="145080" cy="145080"/>
          </a:xfrm>
          <a:prstGeom prst="ellipse">
            <a:avLst/>
          </a:prstGeom>
          <a:solidFill>
            <a:srgbClr val="c844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" name="Text 9"/>
          <p:cNvSpPr/>
          <p:nvPr/>
        </p:nvSpPr>
        <p:spPr>
          <a:xfrm>
            <a:off x="914400" y="3282840"/>
            <a:ext cx="507384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615749"/>
                </a:solidFill>
                <a:latin typeface="Calibri"/>
                <a:ea typeface="Calibri"/>
              </a:rPr>
              <a:t>Le matériel (panneaux, batteries) peut attirer les voleurs dans les ruchers isolés.</a:t>
            </a:r>
            <a:endParaRPr b="0" lang="fr-F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Shape 10"/>
          <p:cNvSpPr/>
          <p:nvPr/>
        </p:nvSpPr>
        <p:spPr>
          <a:xfrm>
            <a:off x="640080" y="4069080"/>
            <a:ext cx="145080" cy="145080"/>
          </a:xfrm>
          <a:prstGeom prst="ellipse">
            <a:avLst/>
          </a:prstGeom>
          <a:solidFill>
            <a:srgbClr val="c844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" name="Text 11"/>
          <p:cNvSpPr/>
          <p:nvPr/>
        </p:nvSpPr>
        <p:spPr>
          <a:xfrm>
            <a:off x="914400" y="3940920"/>
            <a:ext cx="507384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615749"/>
                </a:solidFill>
                <a:latin typeface="Calibri"/>
                <a:ea typeface="Calibri"/>
              </a:rPr>
              <a:t>Porter attention à la tension des fils inox (ne pas passer 1 seul fil, mais tendre des fils individuels connectés, risque de casse), idéalement utiliser des ressorts </a:t>
            </a:r>
            <a:endParaRPr b="0" lang="fr-F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Shape 12"/>
          <p:cNvSpPr/>
          <p:nvPr/>
        </p:nvSpPr>
        <p:spPr>
          <a:xfrm>
            <a:off x="640080" y="4727520"/>
            <a:ext cx="145080" cy="145080"/>
          </a:xfrm>
          <a:prstGeom prst="ellipse">
            <a:avLst/>
          </a:prstGeom>
          <a:solidFill>
            <a:srgbClr val="c844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" name="Text 13"/>
          <p:cNvSpPr/>
          <p:nvPr/>
        </p:nvSpPr>
        <p:spPr>
          <a:xfrm>
            <a:off x="914400" y="4599360"/>
            <a:ext cx="507384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615749"/>
                </a:solidFill>
                <a:latin typeface="Calibri"/>
                <a:ea typeface="Calibri"/>
              </a:rPr>
              <a:t>Panneau solaire: perte de puissance significative par temps couvert, il est nécessaire de surdimensionner sa puissance</a:t>
            </a:r>
            <a:endParaRPr b="0" lang="fr-F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Text 14"/>
          <p:cNvSpPr/>
          <p:nvPr/>
        </p:nvSpPr>
        <p:spPr>
          <a:xfrm>
            <a:off x="6400800" y="1600200"/>
            <a:ext cx="52110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9c6e12"/>
                </a:solidFill>
                <a:latin typeface="Calibri"/>
                <a:ea typeface="Calibri"/>
              </a:rPr>
              <a:t>Acheter ou fabriquer ?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Shape 15"/>
          <p:cNvSpPr/>
          <p:nvPr/>
        </p:nvSpPr>
        <p:spPr>
          <a:xfrm>
            <a:off x="6400800" y="2103120"/>
            <a:ext cx="5165280" cy="913320"/>
          </a:xfrm>
          <a:prstGeom prst="rect">
            <a:avLst/>
          </a:prstGeom>
          <a:solidFill>
            <a:srgbClr val="f4f1ea"/>
          </a:solidFill>
          <a:ln w="12700">
            <a:solidFill>
              <a:srgbClr val="e7e0d2"/>
            </a:solidFill>
            <a:round/>
          </a:ln>
          <a:effectLst>
            <a:outerShdw algn="bl" blurRad="11448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Shape 16"/>
          <p:cNvSpPr/>
          <p:nvPr/>
        </p:nvSpPr>
        <p:spPr>
          <a:xfrm>
            <a:off x="6400800" y="2103120"/>
            <a:ext cx="127080" cy="913320"/>
          </a:xfrm>
          <a:prstGeom prst="rect">
            <a:avLst/>
          </a:prstGeom>
          <a:solidFill>
            <a:srgbClr val="5e7d3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" name="Text 17"/>
          <p:cNvSpPr/>
          <p:nvPr/>
        </p:nvSpPr>
        <p:spPr>
          <a:xfrm>
            <a:off x="6675120" y="2212920"/>
            <a:ext cx="358416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23190e"/>
                </a:solidFill>
                <a:latin typeface="Calibri"/>
                <a:ea typeface="Calibri"/>
              </a:rPr>
              <a:t>Autoconstruction (GDSA + réglettes Naturapi)</a:t>
            </a:r>
            <a:br>
              <a:rPr sz="1350"/>
            </a:br>
            <a:endParaRPr b="0" lang="fr-F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Text 18"/>
          <p:cNvSpPr/>
          <p:nvPr/>
        </p:nvSpPr>
        <p:spPr>
          <a:xfrm>
            <a:off x="6675120" y="2678040"/>
            <a:ext cx="430416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50" spc="-1" strike="noStrike">
                <a:solidFill>
                  <a:srgbClr val="8c8270"/>
                </a:solidFill>
                <a:latin typeface="Calibri"/>
                <a:ea typeface="Calibri"/>
              </a:rPr>
              <a:t>3 harpes châssis bois + électronique + panneau solaire 50W + barrette isolation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Text 19"/>
          <p:cNvSpPr/>
          <p:nvPr/>
        </p:nvSpPr>
        <p:spPr>
          <a:xfrm>
            <a:off x="9692640" y="2103120"/>
            <a:ext cx="178200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5e7d3e"/>
                </a:solidFill>
                <a:latin typeface="Georgia"/>
                <a:ea typeface="Georgia"/>
              </a:rPr>
              <a:t>~ 200 €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Shape 20"/>
          <p:cNvSpPr/>
          <p:nvPr/>
        </p:nvSpPr>
        <p:spPr>
          <a:xfrm>
            <a:off x="6400800" y="3182040"/>
            <a:ext cx="5165280" cy="913320"/>
          </a:xfrm>
          <a:prstGeom prst="rect">
            <a:avLst/>
          </a:prstGeom>
          <a:solidFill>
            <a:srgbClr val="f4f1ea"/>
          </a:solidFill>
          <a:ln w="12700">
            <a:solidFill>
              <a:srgbClr val="e7e0d2"/>
            </a:solidFill>
            <a:round/>
          </a:ln>
          <a:effectLst>
            <a:outerShdw algn="bl" blurRad="11448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Shape 21"/>
          <p:cNvSpPr/>
          <p:nvPr/>
        </p:nvSpPr>
        <p:spPr>
          <a:xfrm>
            <a:off x="6400800" y="3182040"/>
            <a:ext cx="127080" cy="913320"/>
          </a:xfrm>
          <a:prstGeom prst="rect">
            <a:avLst/>
          </a:prstGeom>
          <a:solidFill>
            <a:srgbClr val="9c6e1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" name="Text 22"/>
          <p:cNvSpPr/>
          <p:nvPr/>
        </p:nvSpPr>
        <p:spPr>
          <a:xfrm>
            <a:off x="6675120" y="3291840"/>
            <a:ext cx="310788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23190e"/>
                </a:solidFill>
                <a:latin typeface="Calibri"/>
                <a:ea typeface="Calibri"/>
              </a:rPr>
              <a:t>Kit SANVE (3 harpes + élec.)</a:t>
            </a:r>
            <a:br>
              <a:rPr sz="1350"/>
            </a:br>
            <a:endParaRPr b="0" lang="fr-F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Text 23"/>
          <p:cNvSpPr/>
          <p:nvPr/>
        </p:nvSpPr>
        <p:spPr>
          <a:xfrm>
            <a:off x="6675120" y="3756960"/>
            <a:ext cx="310788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50" spc="-1" strike="noStrike">
                <a:solidFill>
                  <a:srgbClr val="8c8270"/>
                </a:solidFill>
                <a:latin typeface="Calibri"/>
                <a:ea typeface="Calibri"/>
              </a:rPr>
              <a:t>site espagnol, panneau solaire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Text 24"/>
          <p:cNvSpPr/>
          <p:nvPr/>
        </p:nvSpPr>
        <p:spPr>
          <a:xfrm>
            <a:off x="9692640" y="3182040"/>
            <a:ext cx="178200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9c6e12"/>
                </a:solidFill>
                <a:latin typeface="Georgia"/>
                <a:ea typeface="Georgia"/>
              </a:rPr>
              <a:t>292 €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Shape 25"/>
          <p:cNvSpPr/>
          <p:nvPr/>
        </p:nvSpPr>
        <p:spPr>
          <a:xfrm>
            <a:off x="6400800" y="4260960"/>
            <a:ext cx="5165280" cy="913320"/>
          </a:xfrm>
          <a:prstGeom prst="rect">
            <a:avLst/>
          </a:prstGeom>
          <a:solidFill>
            <a:srgbClr val="f4f1ea"/>
          </a:solidFill>
          <a:ln w="12700">
            <a:solidFill>
              <a:srgbClr val="e7e0d2"/>
            </a:solidFill>
            <a:round/>
          </a:ln>
          <a:effectLst>
            <a:outerShdw algn="bl" blurRad="11448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Shape 26"/>
          <p:cNvSpPr/>
          <p:nvPr/>
        </p:nvSpPr>
        <p:spPr>
          <a:xfrm>
            <a:off x="6400800" y="4260960"/>
            <a:ext cx="127080" cy="913320"/>
          </a:xfrm>
          <a:prstGeom prst="rect">
            <a:avLst/>
          </a:prstGeom>
          <a:solidFill>
            <a:srgbClr val="c844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" name="Text 27"/>
          <p:cNvSpPr/>
          <p:nvPr/>
        </p:nvSpPr>
        <p:spPr>
          <a:xfrm>
            <a:off x="6675120" y="4370760"/>
            <a:ext cx="310788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23190e"/>
                </a:solidFill>
                <a:latin typeface="Calibri"/>
                <a:ea typeface="Calibri"/>
              </a:rPr>
              <a:t>Kit 3 harpes NaturAPI</a:t>
            </a:r>
            <a:endParaRPr b="0" lang="fr-F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Text 28"/>
          <p:cNvSpPr/>
          <p:nvPr/>
        </p:nvSpPr>
        <p:spPr>
          <a:xfrm>
            <a:off x="6675120" y="4763880"/>
            <a:ext cx="394416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50" spc="-1" strike="noStrike">
                <a:solidFill>
                  <a:srgbClr val="8c8270"/>
                </a:solidFill>
                <a:latin typeface="Calibri"/>
                <a:ea typeface="Calibri"/>
              </a:rPr>
              <a:t>3 harpes châssis alu montées + électronique + panneau solaire 20W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Text 29"/>
          <p:cNvSpPr/>
          <p:nvPr/>
        </p:nvSpPr>
        <p:spPr>
          <a:xfrm>
            <a:off x="9692640" y="4260960"/>
            <a:ext cx="178200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c8442e"/>
                </a:solidFill>
                <a:latin typeface="Georgia"/>
                <a:ea typeface="Georgia"/>
              </a:rPr>
              <a:t>479 €</a:t>
            </a:r>
            <a:endParaRPr b="0" lang="fr-FR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Text 30"/>
          <p:cNvSpPr/>
          <p:nvPr/>
        </p:nvSpPr>
        <p:spPr>
          <a:xfrm>
            <a:off x="2322000" y="5616000"/>
            <a:ext cx="768528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615749"/>
                </a:solidFill>
                <a:latin typeface="Calibri"/>
                <a:ea typeface="Calibri"/>
              </a:rPr>
              <a:t>La fabrication des harpes reste simple : à la portée de tout bricoleur expérimenté (mécanique + électronique simple).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615749"/>
                </a:solidFill>
                <a:latin typeface="Calibri"/>
                <a:ea typeface="Calibri"/>
              </a:rPr>
              <a:t>Environ 1 semaine de travail (temps de séchage vernis compris) + délai de commande ~10J pour l’électronique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Shape 31"/>
          <p:cNvSpPr/>
          <p:nvPr/>
        </p:nvSpPr>
        <p:spPr>
          <a:xfrm>
            <a:off x="11475720" y="6437520"/>
            <a:ext cx="108720" cy="108720"/>
          </a:xfrm>
          <a:prstGeom prst="ellipse">
            <a:avLst/>
          </a:prstGeom>
          <a:solidFill>
            <a:srgbClr val="e0a5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2760" bIns="3276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Text 32"/>
          <p:cNvSpPr/>
          <p:nvPr/>
        </p:nvSpPr>
        <p:spPr>
          <a:xfrm>
            <a:off x="10424160" y="6327720"/>
            <a:ext cx="95904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8c8270"/>
                </a:solidFill>
                <a:latin typeface="Calibri"/>
                <a:ea typeface="Calibri"/>
              </a:rPr>
              <a:t>4 / 17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Text 33"/>
          <p:cNvSpPr/>
          <p:nvPr/>
        </p:nvSpPr>
        <p:spPr>
          <a:xfrm>
            <a:off x="502920" y="6327720"/>
            <a:ext cx="548532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a99f8c"/>
                </a:solidFill>
                <a:latin typeface="Calibri"/>
                <a:ea typeface="Calibri"/>
              </a:rPr>
              <a:t>Harpe anti-frelons asiatiques - © J.N. Simonnet - 2026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Shape 27"/>
          <p:cNvSpPr/>
          <p:nvPr/>
        </p:nvSpPr>
        <p:spPr>
          <a:xfrm>
            <a:off x="6400800" y="4260960"/>
            <a:ext cx="127080" cy="913320"/>
          </a:xfrm>
          <a:prstGeom prst="rect">
            <a:avLst/>
          </a:prstGeom>
          <a:solidFill>
            <a:srgbClr val="c844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" name="Shape 30"/>
          <p:cNvSpPr/>
          <p:nvPr/>
        </p:nvSpPr>
        <p:spPr>
          <a:xfrm>
            <a:off x="6400800" y="4260960"/>
            <a:ext cx="127080" cy="913320"/>
          </a:xfrm>
          <a:prstGeom prst="rect">
            <a:avLst/>
          </a:prstGeom>
          <a:solidFill>
            <a:srgbClr val="c844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0" name="Shape 32"/>
          <p:cNvSpPr/>
          <p:nvPr/>
        </p:nvSpPr>
        <p:spPr>
          <a:xfrm>
            <a:off x="6400800" y="4260960"/>
            <a:ext cx="127080" cy="913320"/>
          </a:xfrm>
          <a:prstGeom prst="rect">
            <a:avLst/>
          </a:prstGeom>
          <a:solidFill>
            <a:srgbClr val="c844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31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Shape 89"/>
          <p:cNvSpPr/>
          <p:nvPr/>
        </p:nvSpPr>
        <p:spPr>
          <a:xfrm>
            <a:off x="-1463040" y="-1463040"/>
            <a:ext cx="3016440" cy="3016440"/>
          </a:xfrm>
          <a:prstGeom prst="ellipse">
            <a:avLst/>
          </a:prstGeom>
          <a:solidFill>
            <a:srgbClr val="e0a526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Shape 92"/>
          <p:cNvSpPr/>
          <p:nvPr/>
        </p:nvSpPr>
        <p:spPr>
          <a:xfrm>
            <a:off x="10881360" y="5212080"/>
            <a:ext cx="2742120" cy="2742120"/>
          </a:xfrm>
          <a:prstGeom prst="ellipse">
            <a:avLst/>
          </a:prstGeom>
          <a:solidFill>
            <a:srgbClr val="e0a526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 136"/>
          <p:cNvSpPr/>
          <p:nvPr/>
        </p:nvSpPr>
        <p:spPr>
          <a:xfrm>
            <a:off x="1005840" y="2331720"/>
            <a:ext cx="73141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392" strike="noStrike">
                <a:solidFill>
                  <a:srgbClr val="e0a526"/>
                </a:solidFill>
                <a:latin typeface="Calibri"/>
                <a:ea typeface="Calibri"/>
              </a:rPr>
              <a:t>PARTIE 3</a:t>
            </a:r>
            <a:endParaRPr b="0" lang="fr-F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" name="Text 137"/>
          <p:cNvSpPr/>
          <p:nvPr/>
        </p:nvSpPr>
        <p:spPr>
          <a:xfrm>
            <a:off x="960120" y="2743200"/>
            <a:ext cx="10057320" cy="11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400" spc="-1" strike="noStrike">
                <a:solidFill>
                  <a:srgbClr val="ffffff"/>
                </a:solidFill>
                <a:latin typeface="Georgia"/>
                <a:ea typeface="Georgia"/>
              </a:rPr>
              <a:t>Précautions d'installation</a:t>
            </a:r>
            <a:endParaRPr b="0" lang="fr-FR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5" name="Shape 93"/>
          <p:cNvSpPr/>
          <p:nvPr/>
        </p:nvSpPr>
        <p:spPr>
          <a:xfrm>
            <a:off x="1005840" y="3977640"/>
            <a:ext cx="1370520" cy="53640"/>
          </a:xfrm>
          <a:prstGeom prst="rect">
            <a:avLst/>
          </a:prstGeom>
          <a:solidFill>
            <a:srgbClr val="c844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Text 138"/>
          <p:cNvSpPr/>
          <p:nvPr/>
        </p:nvSpPr>
        <p:spPr>
          <a:xfrm>
            <a:off x="1005840" y="4206240"/>
            <a:ext cx="960012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cfc6b4"/>
                </a:solidFill>
                <a:latin typeface="Calibri"/>
                <a:ea typeface="Calibri"/>
              </a:rPr>
              <a:t>Là où la harpe peut nuire — et comment l'éviter</a:t>
            </a:r>
            <a:endParaRPr b="0" lang="fr-F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" name="Text 139"/>
          <p:cNvSpPr/>
          <p:nvPr/>
        </p:nvSpPr>
        <p:spPr>
          <a:xfrm>
            <a:off x="8595360" y="914400"/>
            <a:ext cx="3656520" cy="502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0" spc="-1" strike="noStrike">
                <a:solidFill>
                  <a:srgbClr val="33260f"/>
                </a:solidFill>
                <a:latin typeface="Georgia"/>
                <a:ea typeface="Georgia"/>
              </a:rPr>
              <a:t>3</a:t>
            </a:r>
            <a:endParaRPr b="0" lang="fr-FR" sz="30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Shape 39"/>
          <p:cNvSpPr/>
          <p:nvPr/>
        </p:nvSpPr>
        <p:spPr>
          <a:xfrm>
            <a:off x="502920" y="457200"/>
            <a:ext cx="145080" cy="712080"/>
          </a:xfrm>
          <a:prstGeom prst="rect">
            <a:avLst/>
          </a:prstGeom>
          <a:solidFill>
            <a:srgbClr val="e0a5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Text 44"/>
          <p:cNvSpPr/>
          <p:nvPr/>
        </p:nvSpPr>
        <p:spPr>
          <a:xfrm>
            <a:off x="777240" y="420480"/>
            <a:ext cx="106059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194" strike="noStrike">
                <a:solidFill>
                  <a:srgbClr val="9c6e12"/>
                </a:solidFill>
                <a:latin typeface="Calibri"/>
                <a:ea typeface="Calibri"/>
              </a:rPr>
              <a:t>PRÉCAUTIONS D'INSTALLATION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Text 45"/>
          <p:cNvSpPr/>
          <p:nvPr/>
        </p:nvSpPr>
        <p:spPr>
          <a:xfrm>
            <a:off x="777240" y="658440"/>
            <a:ext cx="108802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23190e"/>
                </a:solidFill>
                <a:latin typeface="Georgia"/>
                <a:ea typeface="Georgia"/>
              </a:rPr>
              <a:t>Le point d'attention majeur</a:t>
            </a:r>
            <a:endParaRPr b="0" lang="fr-F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Shape 40"/>
          <p:cNvSpPr/>
          <p:nvPr/>
        </p:nvSpPr>
        <p:spPr>
          <a:xfrm>
            <a:off x="640080" y="1554480"/>
            <a:ext cx="10699200" cy="964800"/>
          </a:xfrm>
          <a:prstGeom prst="rect">
            <a:avLst/>
          </a:prstGeom>
          <a:solidFill>
            <a:srgbClr val="fbebe6"/>
          </a:solidFill>
          <a:ln w="19050">
            <a:solidFill>
              <a:srgbClr val="c8442e"/>
            </a:solidFill>
            <a:round/>
          </a:ln>
          <a:effectLst>
            <a:outerShdw algn="bl" blurRad="11448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Shape 42"/>
          <p:cNvSpPr/>
          <p:nvPr/>
        </p:nvSpPr>
        <p:spPr>
          <a:xfrm>
            <a:off x="640080" y="1554480"/>
            <a:ext cx="163440" cy="964800"/>
          </a:xfrm>
          <a:prstGeom prst="rect">
            <a:avLst/>
          </a:prstGeom>
          <a:solidFill>
            <a:srgbClr val="c844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3" name="Text 46"/>
          <p:cNvSpPr/>
          <p:nvPr/>
        </p:nvSpPr>
        <p:spPr>
          <a:xfrm>
            <a:off x="960120" y="1675080"/>
            <a:ext cx="10199160" cy="46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c8442e"/>
                </a:solidFill>
                <a:latin typeface="Calibri"/>
                <a:ea typeface="Calibri"/>
              </a:rPr>
              <a:t>⚠  </a:t>
            </a:r>
            <a:r>
              <a:rPr b="1" lang="en-US" sz="2000" spc="-1" strike="noStrike">
                <a:solidFill>
                  <a:srgbClr val="c8442e"/>
                </a:solidFill>
                <a:latin typeface="Calibri"/>
                <a:ea typeface="Calibri"/>
              </a:rPr>
              <a:t>Ne jamais utiliser pour une ruche ou ruchette contenant un essaim artificiel récent</a:t>
            </a:r>
            <a:endParaRPr b="0" lang="fr-F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Text 47"/>
          <p:cNvSpPr/>
          <p:nvPr/>
        </p:nvSpPr>
        <p:spPr>
          <a:xfrm>
            <a:off x="1068120" y="1991880"/>
            <a:ext cx="101991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1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95412f"/>
                </a:solidFill>
                <a:latin typeface="Calibri"/>
                <a:ea typeface="Calibri"/>
              </a:rPr>
              <a:t>La reine vierge n'a pas encore fait son vol de fécondation. </a:t>
            </a:r>
            <a:r>
              <a:rPr b="1" lang="en-US" sz="1500" spc="-1" strike="noStrike">
                <a:solidFill>
                  <a:srgbClr val="7a2a1c"/>
                </a:solidFill>
                <a:latin typeface="Calibri"/>
                <a:ea typeface="Calibri"/>
              </a:rPr>
              <a:t>Son envergure est comparable à celle du frelon asiatique</a:t>
            </a:r>
            <a:r>
              <a:rPr b="0" lang="en-US" sz="1500" spc="-1" strike="noStrike">
                <a:solidFill>
                  <a:srgbClr val="95412f"/>
                </a:solidFill>
                <a:latin typeface="Calibri"/>
                <a:ea typeface="Calibri"/>
              </a:rPr>
              <a:t>.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Text 48"/>
          <p:cNvSpPr/>
          <p:nvPr/>
        </p:nvSpPr>
        <p:spPr>
          <a:xfrm>
            <a:off x="4694040" y="3054600"/>
            <a:ext cx="48452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9c6e12"/>
                </a:solidFill>
                <a:latin typeface="Calibri"/>
                <a:ea typeface="Calibri"/>
              </a:rPr>
              <a:t>Bonnes règles de placement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Shape 43"/>
          <p:cNvSpPr/>
          <p:nvPr/>
        </p:nvSpPr>
        <p:spPr>
          <a:xfrm>
            <a:off x="720000" y="3852360"/>
            <a:ext cx="309960" cy="309960"/>
          </a:xfrm>
          <a:prstGeom prst="ellipse">
            <a:avLst/>
          </a:prstGeom>
          <a:solidFill>
            <a:srgbClr val="e0a5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Text 51"/>
          <p:cNvSpPr/>
          <p:nvPr/>
        </p:nvSpPr>
        <p:spPr>
          <a:xfrm>
            <a:off x="720000" y="3852360"/>
            <a:ext cx="30996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23190e"/>
                </a:solidFill>
                <a:latin typeface="Georgia"/>
                <a:ea typeface="Georgia"/>
              </a:rPr>
              <a:t>1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Text 52"/>
          <p:cNvSpPr/>
          <p:nvPr/>
        </p:nvSpPr>
        <p:spPr>
          <a:xfrm>
            <a:off x="1177200" y="3770280"/>
            <a:ext cx="438804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23190e"/>
                </a:solidFill>
                <a:latin typeface="Calibri"/>
                <a:ea typeface="Calibri"/>
              </a:rPr>
              <a:t>Une harpe pour 5 ruches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Text 53"/>
          <p:cNvSpPr/>
          <p:nvPr/>
        </p:nvSpPr>
        <p:spPr>
          <a:xfrm>
            <a:off x="1177200" y="4071960"/>
            <a:ext cx="438804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615749"/>
                </a:solidFill>
                <a:latin typeface="Calibri"/>
                <a:ea typeface="Calibri"/>
              </a:rPr>
              <a:t>aux extrémités d'un alignement, perpendiculaire à la ligne de ruches.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Shape 44"/>
          <p:cNvSpPr/>
          <p:nvPr/>
        </p:nvSpPr>
        <p:spPr>
          <a:xfrm>
            <a:off x="720000" y="4766760"/>
            <a:ext cx="309960" cy="309960"/>
          </a:xfrm>
          <a:prstGeom prst="ellipse">
            <a:avLst/>
          </a:prstGeom>
          <a:solidFill>
            <a:srgbClr val="e0a5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Text 54"/>
          <p:cNvSpPr/>
          <p:nvPr/>
        </p:nvSpPr>
        <p:spPr>
          <a:xfrm>
            <a:off x="720000" y="4766760"/>
            <a:ext cx="30996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23190e"/>
                </a:solidFill>
                <a:latin typeface="Georgia"/>
                <a:ea typeface="Georgia"/>
              </a:rPr>
              <a:t>2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Text 55"/>
          <p:cNvSpPr/>
          <p:nvPr/>
        </p:nvSpPr>
        <p:spPr>
          <a:xfrm>
            <a:off x="1177200" y="4684680"/>
            <a:ext cx="438804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23190e"/>
                </a:solidFill>
                <a:latin typeface="Calibri"/>
                <a:ea typeface="Calibri"/>
              </a:rPr>
              <a:t>Utiliser harpes et pièges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Text 56"/>
          <p:cNvSpPr/>
          <p:nvPr/>
        </p:nvSpPr>
        <p:spPr>
          <a:xfrm>
            <a:off x="1177200" y="4986360"/>
            <a:ext cx="438804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615749"/>
                </a:solidFill>
                <a:latin typeface="Calibri"/>
                <a:ea typeface="Calibri"/>
              </a:rPr>
              <a:t>un couloir de grillage à ~1 m devant les ruches peut être utile pour oriente leur vol vers la harpe.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Shape 45"/>
          <p:cNvSpPr/>
          <p:nvPr/>
        </p:nvSpPr>
        <p:spPr>
          <a:xfrm>
            <a:off x="6903720" y="3779280"/>
            <a:ext cx="309960" cy="309960"/>
          </a:xfrm>
          <a:prstGeom prst="ellipse">
            <a:avLst/>
          </a:prstGeom>
          <a:solidFill>
            <a:srgbClr val="e0a5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Text 57"/>
          <p:cNvSpPr/>
          <p:nvPr/>
        </p:nvSpPr>
        <p:spPr>
          <a:xfrm>
            <a:off x="6903720" y="3779280"/>
            <a:ext cx="30996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23190e"/>
                </a:solidFill>
                <a:latin typeface="Georgia"/>
                <a:ea typeface="Georgia"/>
              </a:rPr>
              <a:t>3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Text 58"/>
          <p:cNvSpPr/>
          <p:nvPr/>
        </p:nvSpPr>
        <p:spPr>
          <a:xfrm>
            <a:off x="7360920" y="3697200"/>
            <a:ext cx="438804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23190e"/>
                </a:solidFill>
                <a:latin typeface="Calibri"/>
                <a:ea typeface="Calibri"/>
              </a:rPr>
              <a:t>Parallèle au flanc des ruches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Text 59"/>
          <p:cNvSpPr/>
          <p:nvPr/>
        </p:nvSpPr>
        <p:spPr>
          <a:xfrm>
            <a:off x="7360920" y="3998880"/>
            <a:ext cx="438804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615749"/>
                </a:solidFill>
                <a:latin typeface="Calibri"/>
                <a:ea typeface="Calibri"/>
              </a:rPr>
              <a:t>pour intercepter les frelons qui arrivent par le côté, devant la planche d'envol.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Shape 46"/>
          <p:cNvSpPr/>
          <p:nvPr/>
        </p:nvSpPr>
        <p:spPr>
          <a:xfrm>
            <a:off x="6903720" y="4693680"/>
            <a:ext cx="309960" cy="309960"/>
          </a:xfrm>
          <a:prstGeom prst="ellipse">
            <a:avLst/>
          </a:prstGeom>
          <a:solidFill>
            <a:srgbClr val="e0a5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 60"/>
          <p:cNvSpPr/>
          <p:nvPr/>
        </p:nvSpPr>
        <p:spPr>
          <a:xfrm>
            <a:off x="6903720" y="4693680"/>
            <a:ext cx="30996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23190e"/>
                </a:solidFill>
                <a:latin typeface="Georgia"/>
                <a:ea typeface="Georgia"/>
              </a:rPr>
              <a:t>4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Text 61"/>
          <p:cNvSpPr/>
          <p:nvPr/>
        </p:nvSpPr>
        <p:spPr>
          <a:xfrm>
            <a:off x="7360920" y="4611600"/>
            <a:ext cx="438804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23190e"/>
                </a:solidFill>
                <a:latin typeface="Calibri"/>
                <a:ea typeface="Calibri"/>
              </a:rPr>
              <a:t>Entretenir régulièrement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Text 62"/>
          <p:cNvSpPr/>
          <p:nvPr/>
        </p:nvSpPr>
        <p:spPr>
          <a:xfrm>
            <a:off x="7360920" y="4913280"/>
            <a:ext cx="438804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615749"/>
                </a:solidFill>
                <a:latin typeface="Calibri"/>
                <a:ea typeface="Calibri"/>
              </a:rPr>
              <a:t>retirer souvent les frelons ; signaler la zone par un panneau « Danger Haute Tension ».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Shape 47"/>
          <p:cNvSpPr/>
          <p:nvPr/>
        </p:nvSpPr>
        <p:spPr>
          <a:xfrm>
            <a:off x="11475720" y="6437520"/>
            <a:ext cx="108720" cy="108720"/>
          </a:xfrm>
          <a:prstGeom prst="ellipse">
            <a:avLst/>
          </a:prstGeom>
          <a:solidFill>
            <a:srgbClr val="e0a5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2760" bIns="3276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Text 63"/>
          <p:cNvSpPr/>
          <p:nvPr/>
        </p:nvSpPr>
        <p:spPr>
          <a:xfrm>
            <a:off x="8595360" y="6327720"/>
            <a:ext cx="278784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8c8270"/>
                </a:solidFill>
                <a:latin typeface="Calibri"/>
                <a:ea typeface="Calibri"/>
              </a:rPr>
              <a:t>12 / 17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Text 64"/>
          <p:cNvSpPr/>
          <p:nvPr/>
        </p:nvSpPr>
        <p:spPr>
          <a:xfrm>
            <a:off x="502920" y="6327720"/>
            <a:ext cx="548532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a99f8c"/>
                </a:solidFill>
                <a:latin typeface="Calibri"/>
                <a:ea typeface="Calibri"/>
              </a:rPr>
              <a:t>Harpe anti-frelons asiatiques - © J.N. Simonnet - 2026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Shape 48"/>
          <p:cNvSpPr/>
          <p:nvPr/>
        </p:nvSpPr>
        <p:spPr>
          <a:xfrm>
            <a:off x="502920" y="457200"/>
            <a:ext cx="145080" cy="712080"/>
          </a:xfrm>
          <a:prstGeom prst="rect">
            <a:avLst/>
          </a:prstGeom>
          <a:solidFill>
            <a:srgbClr val="e0a5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Text 65"/>
          <p:cNvSpPr/>
          <p:nvPr/>
        </p:nvSpPr>
        <p:spPr>
          <a:xfrm>
            <a:off x="777240" y="420480"/>
            <a:ext cx="106059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194" strike="noStrike">
                <a:solidFill>
                  <a:srgbClr val="9c6e12"/>
                </a:solidFill>
                <a:latin typeface="Calibri"/>
                <a:ea typeface="Calibri"/>
              </a:rPr>
              <a:t>PRÉCAUTIONS D'INSTALLATION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Text 66"/>
          <p:cNvSpPr/>
          <p:nvPr/>
        </p:nvSpPr>
        <p:spPr>
          <a:xfrm>
            <a:off x="777240" y="658440"/>
            <a:ext cx="108802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23190e"/>
                </a:solidFill>
                <a:latin typeface="Georgia"/>
                <a:ea typeface="Georgia"/>
              </a:rPr>
              <a:t>Le choix du bac est critique</a:t>
            </a:r>
            <a:endParaRPr b="0" lang="fr-F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Text 67"/>
          <p:cNvSpPr/>
          <p:nvPr/>
        </p:nvSpPr>
        <p:spPr>
          <a:xfrm>
            <a:off x="640080" y="1481400"/>
            <a:ext cx="73141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615749"/>
                </a:solidFill>
                <a:latin typeface="Calibri"/>
                <a:ea typeface="Calibri"/>
              </a:rPr>
              <a:t>Sous la harpe, le liquide du bac noie le frelon étourdi — mais un mauvais choix piège aussi les abeilles. Retour d'expérience (octobre 2025) :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Shape 49"/>
          <p:cNvSpPr/>
          <p:nvPr/>
        </p:nvSpPr>
        <p:spPr>
          <a:xfrm>
            <a:off x="640080" y="2240280"/>
            <a:ext cx="6199200" cy="913320"/>
          </a:xfrm>
          <a:prstGeom prst="rect">
            <a:avLst/>
          </a:prstGeom>
          <a:solidFill>
            <a:srgbClr val="f4f1ea"/>
          </a:solidFill>
          <a:ln w="12700">
            <a:solidFill>
              <a:srgbClr val="e7e0d2"/>
            </a:solidFill>
            <a:round/>
          </a:ln>
          <a:effectLst>
            <a:outerShdw algn="bl" blurRad="11448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Shape 50"/>
          <p:cNvSpPr/>
          <p:nvPr/>
        </p:nvSpPr>
        <p:spPr>
          <a:xfrm>
            <a:off x="640080" y="2240280"/>
            <a:ext cx="127080" cy="913320"/>
          </a:xfrm>
          <a:prstGeom prst="rect">
            <a:avLst/>
          </a:prstGeom>
          <a:solidFill>
            <a:srgbClr val="c844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1" name="Text 68"/>
          <p:cNvSpPr/>
          <p:nvPr/>
        </p:nvSpPr>
        <p:spPr>
          <a:xfrm>
            <a:off x="914400" y="2350080"/>
            <a:ext cx="27421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3190e"/>
                </a:solidFill>
                <a:latin typeface="Calibri"/>
                <a:ea typeface="Calibri"/>
              </a:rPr>
              <a:t>Eau pure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Text 69"/>
          <p:cNvSpPr/>
          <p:nvPr/>
        </p:nvSpPr>
        <p:spPr>
          <a:xfrm>
            <a:off x="914400" y="2743200"/>
            <a:ext cx="2742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92" strike="noStrike">
                <a:solidFill>
                  <a:srgbClr val="c8442e"/>
                </a:solidFill>
                <a:latin typeface="Calibri"/>
                <a:ea typeface="Calibri"/>
              </a:rPr>
              <a:t>À ÉVITER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Text 70"/>
          <p:cNvSpPr/>
          <p:nvPr/>
        </p:nvSpPr>
        <p:spPr>
          <a:xfrm>
            <a:off x="3199320" y="2240280"/>
            <a:ext cx="383940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615749"/>
                </a:solidFill>
                <a:latin typeface="Calibri"/>
                <a:ea typeface="Calibri"/>
              </a:rPr>
              <a:t>≈ </a:t>
            </a:r>
            <a:r>
              <a:rPr b="0" lang="en-US" sz="1250" spc="-1" strike="noStrike">
                <a:solidFill>
                  <a:srgbClr val="615749"/>
                </a:solidFill>
                <a:latin typeface="Calibri"/>
                <a:ea typeface="Calibri"/>
              </a:rPr>
              <a:t>50 abeilles noyées dès le lendemain (venues boire).</a:t>
            </a:r>
            <a:endParaRPr b="0" lang="fr-F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Shape 51"/>
          <p:cNvSpPr/>
          <p:nvPr/>
        </p:nvSpPr>
        <p:spPr>
          <a:xfrm>
            <a:off x="640080" y="3319200"/>
            <a:ext cx="6199200" cy="913320"/>
          </a:xfrm>
          <a:prstGeom prst="rect">
            <a:avLst/>
          </a:prstGeom>
          <a:solidFill>
            <a:srgbClr val="f4f1ea"/>
          </a:solidFill>
          <a:ln w="12700">
            <a:solidFill>
              <a:srgbClr val="e7e0d2"/>
            </a:solidFill>
            <a:round/>
          </a:ln>
          <a:effectLst>
            <a:outerShdw algn="bl" blurRad="11448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Shape 52"/>
          <p:cNvSpPr/>
          <p:nvPr/>
        </p:nvSpPr>
        <p:spPr>
          <a:xfrm>
            <a:off x="640080" y="3319200"/>
            <a:ext cx="127080" cy="913320"/>
          </a:xfrm>
          <a:prstGeom prst="rect">
            <a:avLst/>
          </a:prstGeom>
          <a:solidFill>
            <a:srgbClr val="9c6e1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6" name="Text 71"/>
          <p:cNvSpPr/>
          <p:nvPr/>
        </p:nvSpPr>
        <p:spPr>
          <a:xfrm>
            <a:off x="914400" y="3429000"/>
            <a:ext cx="27421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3190e"/>
                </a:solidFill>
                <a:latin typeface="Calibri"/>
                <a:ea typeface="Calibri"/>
              </a:rPr>
              <a:t>Huile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Text 72"/>
          <p:cNvSpPr/>
          <p:nvPr/>
        </p:nvSpPr>
        <p:spPr>
          <a:xfrm>
            <a:off x="914400" y="3822120"/>
            <a:ext cx="2742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92" strike="noStrike">
                <a:solidFill>
                  <a:srgbClr val="9c6e12"/>
                </a:solidFill>
                <a:latin typeface="Calibri"/>
                <a:ea typeface="Calibri"/>
              </a:rPr>
              <a:t>INSUFFISANT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Text 73"/>
          <p:cNvSpPr/>
          <p:nvPr/>
        </p:nvSpPr>
        <p:spPr>
          <a:xfrm>
            <a:off x="3199320" y="3319200"/>
            <a:ext cx="383940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615749"/>
                </a:solidFill>
                <a:latin typeface="Calibri"/>
                <a:ea typeface="Calibri"/>
              </a:rPr>
              <a:t>Encore une dizaine d'abeilles engluées.</a:t>
            </a:r>
            <a:endParaRPr b="0" lang="fr-F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Shape 53"/>
          <p:cNvSpPr/>
          <p:nvPr/>
        </p:nvSpPr>
        <p:spPr>
          <a:xfrm>
            <a:off x="640080" y="4398120"/>
            <a:ext cx="6199200" cy="913320"/>
          </a:xfrm>
          <a:prstGeom prst="rect">
            <a:avLst/>
          </a:prstGeom>
          <a:solidFill>
            <a:srgbClr val="f4f1ea"/>
          </a:solidFill>
          <a:ln w="12700">
            <a:solidFill>
              <a:srgbClr val="e7e0d2"/>
            </a:solidFill>
            <a:round/>
          </a:ln>
          <a:effectLst>
            <a:outerShdw algn="bl" blurRad="11448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Shape 54"/>
          <p:cNvSpPr/>
          <p:nvPr/>
        </p:nvSpPr>
        <p:spPr>
          <a:xfrm>
            <a:off x="640080" y="4398120"/>
            <a:ext cx="127080" cy="913320"/>
          </a:xfrm>
          <a:prstGeom prst="rect">
            <a:avLst/>
          </a:prstGeom>
          <a:solidFill>
            <a:srgbClr val="5e7d3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" name="Text 74"/>
          <p:cNvSpPr/>
          <p:nvPr/>
        </p:nvSpPr>
        <p:spPr>
          <a:xfrm>
            <a:off x="914400" y="4507920"/>
            <a:ext cx="27421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23190e"/>
                </a:solidFill>
                <a:latin typeface="Calibri"/>
                <a:ea typeface="Calibri"/>
              </a:rPr>
              <a:t>Eau + liquide vaisselle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Text 75"/>
          <p:cNvSpPr/>
          <p:nvPr/>
        </p:nvSpPr>
        <p:spPr>
          <a:xfrm>
            <a:off x="914400" y="4901040"/>
            <a:ext cx="27421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92" strike="noStrike">
                <a:solidFill>
                  <a:srgbClr val="5e7d3e"/>
                </a:solidFill>
                <a:latin typeface="Calibri"/>
                <a:ea typeface="Calibri"/>
              </a:rPr>
              <a:t>RECOMMANDÉ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Text 76"/>
          <p:cNvSpPr/>
          <p:nvPr/>
        </p:nvSpPr>
        <p:spPr>
          <a:xfrm>
            <a:off x="3199320" y="4398120"/>
            <a:ext cx="383940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615749"/>
                </a:solidFill>
                <a:latin typeface="Calibri"/>
                <a:ea typeface="Calibri"/>
              </a:rPr>
              <a:t>Limite fortement — sans supprimer totalement — les captures d'abeilles.</a:t>
            </a:r>
            <a:endParaRPr b="0" lang="fr-F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Shape 55"/>
          <p:cNvSpPr/>
          <p:nvPr/>
        </p:nvSpPr>
        <p:spPr>
          <a:xfrm>
            <a:off x="640080" y="5532120"/>
            <a:ext cx="10339200" cy="407160"/>
          </a:xfrm>
          <a:prstGeom prst="rect">
            <a:avLst/>
          </a:prstGeom>
          <a:solidFill>
            <a:srgbClr val="23190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5" name="Text 77"/>
          <p:cNvSpPr/>
          <p:nvPr/>
        </p:nvSpPr>
        <p:spPr>
          <a:xfrm>
            <a:off x="868680" y="5532120"/>
            <a:ext cx="9930600" cy="40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e0a526"/>
                </a:solidFill>
                <a:latin typeface="Calibri"/>
                <a:ea typeface="Calibri"/>
              </a:rPr>
              <a:t>À retenir  </a:t>
            </a:r>
            <a:r>
              <a:rPr b="0" lang="en-US" sz="1250" spc="-1" strike="noStrike">
                <a:solidFill>
                  <a:srgbClr val="e9e1cf"/>
                </a:solidFill>
                <a:latin typeface="Calibri"/>
                <a:ea typeface="Calibri"/>
              </a:rPr>
              <a:t>préférer un produit non parfumé (savon glycériné type vaisselle Palmolive) ; ne pas placer la harpe sur le passage des abeilles.</a:t>
            </a:r>
            <a:endParaRPr b="0" lang="fr-F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Shape 56"/>
          <p:cNvSpPr/>
          <p:nvPr/>
        </p:nvSpPr>
        <p:spPr>
          <a:xfrm>
            <a:off x="11475720" y="6437520"/>
            <a:ext cx="108720" cy="108720"/>
          </a:xfrm>
          <a:prstGeom prst="ellipse">
            <a:avLst/>
          </a:prstGeom>
          <a:solidFill>
            <a:srgbClr val="e0a5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2760" bIns="3276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Text 78"/>
          <p:cNvSpPr/>
          <p:nvPr/>
        </p:nvSpPr>
        <p:spPr>
          <a:xfrm>
            <a:off x="8595360" y="6327720"/>
            <a:ext cx="278784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8c8270"/>
                </a:solidFill>
                <a:latin typeface="Calibri"/>
                <a:ea typeface="Calibri"/>
              </a:rPr>
              <a:t>13 / 17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Text 79"/>
          <p:cNvSpPr/>
          <p:nvPr/>
        </p:nvSpPr>
        <p:spPr>
          <a:xfrm>
            <a:off x="502920" y="6327720"/>
            <a:ext cx="548532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a99f8c"/>
                </a:solidFill>
                <a:latin typeface="Calibri"/>
                <a:ea typeface="Calibri"/>
              </a:rPr>
              <a:t>Harpe anti-frelons asiatiques - © J.N. Simonnet - 2026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9" name="" descr=""/>
          <p:cNvPicPr/>
          <p:nvPr/>
        </p:nvPicPr>
        <p:blipFill>
          <a:blip r:embed="rId1"/>
          <a:stretch/>
        </p:blipFill>
        <p:spPr>
          <a:xfrm>
            <a:off x="7020000" y="2270520"/>
            <a:ext cx="5030280" cy="29487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31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Shape 36"/>
          <p:cNvSpPr/>
          <p:nvPr/>
        </p:nvSpPr>
        <p:spPr>
          <a:xfrm>
            <a:off x="-1463040" y="-1463040"/>
            <a:ext cx="3016440" cy="3016440"/>
          </a:xfrm>
          <a:prstGeom prst="ellipse">
            <a:avLst/>
          </a:prstGeom>
          <a:solidFill>
            <a:srgbClr val="e0a526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Shape 37"/>
          <p:cNvSpPr/>
          <p:nvPr/>
        </p:nvSpPr>
        <p:spPr>
          <a:xfrm>
            <a:off x="10881360" y="5212080"/>
            <a:ext cx="2742120" cy="2742120"/>
          </a:xfrm>
          <a:prstGeom prst="ellipse">
            <a:avLst/>
          </a:prstGeom>
          <a:solidFill>
            <a:srgbClr val="e0a526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Text 40"/>
          <p:cNvSpPr/>
          <p:nvPr/>
        </p:nvSpPr>
        <p:spPr>
          <a:xfrm>
            <a:off x="1005840" y="2331720"/>
            <a:ext cx="73141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392" strike="noStrike">
                <a:solidFill>
                  <a:srgbClr val="e0a526"/>
                </a:solidFill>
                <a:latin typeface="Calibri"/>
                <a:ea typeface="Calibri"/>
              </a:rPr>
              <a:t>PARTIE 4</a:t>
            </a:r>
            <a:r>
              <a:rPr b="1" lang="en-US" sz="1600" spc="293" strike="noStrike">
                <a:solidFill>
                  <a:srgbClr val="e0a526"/>
                </a:solidFill>
                <a:latin typeface="Calibri"/>
                <a:ea typeface="Calibri"/>
              </a:rPr>
              <a:t> · EXPÉRIMENTATION — OCTOBRE 2025</a:t>
            </a:r>
            <a:endParaRPr b="0" lang="fr-F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3" name="Text 41"/>
          <p:cNvSpPr/>
          <p:nvPr/>
        </p:nvSpPr>
        <p:spPr>
          <a:xfrm>
            <a:off x="960120" y="2743200"/>
            <a:ext cx="10057320" cy="11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400" spc="-1" strike="noStrike">
                <a:solidFill>
                  <a:srgbClr val="ffffff"/>
                </a:solidFill>
                <a:latin typeface="Georgia"/>
                <a:ea typeface="Georgia"/>
              </a:rPr>
              <a:t>Résultats de capture</a:t>
            </a:r>
            <a:endParaRPr b="0" lang="fr-FR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4" name="Shape 38"/>
          <p:cNvSpPr/>
          <p:nvPr/>
        </p:nvSpPr>
        <p:spPr>
          <a:xfrm>
            <a:off x="1005840" y="3977640"/>
            <a:ext cx="1370520" cy="53640"/>
          </a:xfrm>
          <a:prstGeom prst="rect">
            <a:avLst/>
          </a:prstGeom>
          <a:solidFill>
            <a:srgbClr val="c844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5" name="Text 42"/>
          <p:cNvSpPr/>
          <p:nvPr/>
        </p:nvSpPr>
        <p:spPr>
          <a:xfrm>
            <a:off x="1005840" y="4206240"/>
            <a:ext cx="960012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cfc6b4"/>
                </a:solidFill>
                <a:latin typeface="Calibri"/>
                <a:ea typeface="Calibri"/>
              </a:rPr>
              <a:t>Premiers comptages en conditions réelles, à Beaumont (63)</a:t>
            </a:r>
            <a:endParaRPr b="0" lang="fr-F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6" name="Text 43"/>
          <p:cNvSpPr/>
          <p:nvPr/>
        </p:nvSpPr>
        <p:spPr>
          <a:xfrm>
            <a:off x="8595360" y="914400"/>
            <a:ext cx="3656520" cy="502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0" spc="-1" strike="noStrike">
                <a:solidFill>
                  <a:srgbClr val="33260f"/>
                </a:solidFill>
                <a:latin typeface="Georgia"/>
                <a:ea typeface="Georgia"/>
              </a:rPr>
              <a:t>4</a:t>
            </a:r>
            <a:endParaRPr b="0" lang="fr-FR" sz="30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Shape 60"/>
          <p:cNvSpPr/>
          <p:nvPr/>
        </p:nvSpPr>
        <p:spPr>
          <a:xfrm>
            <a:off x="502920" y="457200"/>
            <a:ext cx="145080" cy="712080"/>
          </a:xfrm>
          <a:prstGeom prst="rect">
            <a:avLst/>
          </a:prstGeom>
          <a:solidFill>
            <a:srgbClr val="e0a5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Text 84"/>
          <p:cNvSpPr/>
          <p:nvPr/>
        </p:nvSpPr>
        <p:spPr>
          <a:xfrm>
            <a:off x="777240" y="420480"/>
            <a:ext cx="106059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194" strike="noStrike">
                <a:solidFill>
                  <a:srgbClr val="9c6e12"/>
                </a:solidFill>
                <a:latin typeface="Calibri"/>
                <a:ea typeface="Calibri"/>
              </a:rPr>
              <a:t>PARTIE 4 · RÉSULTATS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Text 85"/>
          <p:cNvSpPr/>
          <p:nvPr/>
        </p:nvSpPr>
        <p:spPr>
          <a:xfrm>
            <a:off x="777240" y="658440"/>
            <a:ext cx="108802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23190e"/>
                </a:solidFill>
                <a:latin typeface="Georgia"/>
                <a:ea typeface="Georgia"/>
              </a:rPr>
              <a:t>L'expérimentation en conditions réelles</a:t>
            </a:r>
            <a:endParaRPr b="0" lang="fr-F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Text 86"/>
          <p:cNvSpPr/>
          <p:nvPr/>
        </p:nvSpPr>
        <p:spPr>
          <a:xfrm>
            <a:off x="640080" y="1554480"/>
            <a:ext cx="56682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9c6e12"/>
                </a:solidFill>
                <a:latin typeface="Calibri"/>
                <a:ea typeface="Calibri"/>
              </a:rPr>
              <a:t>Pourquoi cet essai ?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Text 87"/>
          <p:cNvSpPr/>
          <p:nvPr/>
        </p:nvSpPr>
        <p:spPr>
          <a:xfrm>
            <a:off x="640080" y="1965960"/>
            <a:ext cx="5759640" cy="146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8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615749"/>
                </a:solidFill>
                <a:latin typeface="Calibri"/>
                <a:ea typeface="Calibri"/>
              </a:rPr>
              <a:t>En octobre 2024, l'infestation à Beaumont (63) était très forte : malgré la destruction d'un nid à 100 m, les frelons ont envahi et détruit une colonie le 8 novembre. En octobre 2025, pression encore significative (~60 frelons/semaine sur 2 pièges) — d'où l'essai des harpes.</a:t>
            </a:r>
            <a:endParaRPr b="0" lang="fr-FR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Shape 61"/>
          <p:cNvSpPr/>
          <p:nvPr/>
        </p:nvSpPr>
        <p:spPr>
          <a:xfrm>
            <a:off x="640080" y="3611880"/>
            <a:ext cx="5759640" cy="2239200"/>
          </a:xfrm>
          <a:prstGeom prst="rect">
            <a:avLst/>
          </a:prstGeom>
          <a:solidFill>
            <a:srgbClr val="f4f1ea"/>
          </a:solidFill>
          <a:ln w="12700">
            <a:solidFill>
              <a:srgbClr val="e7e0d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Text 88"/>
          <p:cNvSpPr/>
          <p:nvPr/>
        </p:nvSpPr>
        <p:spPr>
          <a:xfrm>
            <a:off x="868680" y="3767400"/>
            <a:ext cx="53024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9c6e12"/>
                </a:solidFill>
                <a:latin typeface="Calibri"/>
                <a:ea typeface="Calibri"/>
              </a:rPr>
              <a:t>Ce que dit le plan national de lutte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Shape 62"/>
          <p:cNvSpPr/>
          <p:nvPr/>
        </p:nvSpPr>
        <p:spPr>
          <a:xfrm>
            <a:off x="896040" y="4206240"/>
            <a:ext cx="127080" cy="127080"/>
          </a:xfrm>
          <a:prstGeom prst="ellipse">
            <a:avLst/>
          </a:prstGeom>
          <a:solidFill>
            <a:srgbClr val="5e7d3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5" name="Text 89"/>
          <p:cNvSpPr/>
          <p:nvPr/>
        </p:nvSpPr>
        <p:spPr>
          <a:xfrm>
            <a:off x="1134000" y="4105800"/>
            <a:ext cx="5073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615749"/>
                </a:solidFill>
                <a:latin typeface="Calibri"/>
                <a:ea typeface="Calibri"/>
              </a:rPr>
              <a:t>Harpes en complément des muselières et restrictions d'entrée.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Shape 63"/>
          <p:cNvSpPr/>
          <p:nvPr/>
        </p:nvSpPr>
        <p:spPr>
          <a:xfrm>
            <a:off x="896040" y="4617720"/>
            <a:ext cx="127080" cy="127080"/>
          </a:xfrm>
          <a:prstGeom prst="ellipse">
            <a:avLst/>
          </a:prstGeom>
          <a:solidFill>
            <a:srgbClr val="5e7d3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" name="Text 90"/>
          <p:cNvSpPr/>
          <p:nvPr/>
        </p:nvSpPr>
        <p:spPr>
          <a:xfrm>
            <a:off x="1134000" y="4517280"/>
            <a:ext cx="5073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615749"/>
                </a:solidFill>
                <a:latin typeface="Calibri"/>
                <a:ea typeface="Calibri"/>
              </a:rPr>
              <a:t>Le stress des colonies disparaît ~8 jours après la mise en place.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Shape 64"/>
          <p:cNvSpPr/>
          <p:nvPr/>
        </p:nvSpPr>
        <p:spPr>
          <a:xfrm>
            <a:off x="896040" y="5029200"/>
            <a:ext cx="127080" cy="127080"/>
          </a:xfrm>
          <a:prstGeom prst="ellipse">
            <a:avLst/>
          </a:prstGeom>
          <a:solidFill>
            <a:srgbClr val="5e7d3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9" name="Text 91"/>
          <p:cNvSpPr/>
          <p:nvPr/>
        </p:nvSpPr>
        <p:spPr>
          <a:xfrm>
            <a:off x="1134000" y="4928760"/>
            <a:ext cx="5073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615749"/>
                </a:solidFill>
                <a:latin typeface="Calibri"/>
                <a:ea typeface="Calibri"/>
              </a:rPr>
              <a:t>Une harpe pour 5 ruches, aux extrémités de l'alignement.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Shape 65"/>
          <p:cNvSpPr/>
          <p:nvPr/>
        </p:nvSpPr>
        <p:spPr>
          <a:xfrm>
            <a:off x="896040" y="5440680"/>
            <a:ext cx="127080" cy="127080"/>
          </a:xfrm>
          <a:prstGeom prst="ellipse">
            <a:avLst/>
          </a:prstGeom>
          <a:solidFill>
            <a:srgbClr val="5e7d3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1" name="Text 92"/>
          <p:cNvSpPr/>
          <p:nvPr/>
        </p:nvSpPr>
        <p:spPr>
          <a:xfrm>
            <a:off x="1134000" y="5340240"/>
            <a:ext cx="5073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615749"/>
                </a:solidFill>
                <a:latin typeface="Calibri"/>
                <a:ea typeface="Calibri"/>
              </a:rPr>
              <a:t>Efficacité : jusqu'à 200 frelons capturés par jour.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42" name="Image 6" descr="/tmp/assets2/harp_action.jpg"/>
          <p:cNvPicPr/>
          <p:nvPr/>
        </p:nvPicPr>
        <p:blipFill>
          <a:blip r:embed="rId1"/>
          <a:stretch/>
        </p:blipFill>
        <p:spPr>
          <a:xfrm>
            <a:off x="6996960" y="1554480"/>
            <a:ext cx="4430160" cy="2467800"/>
          </a:xfrm>
          <a:prstGeom prst="rect">
            <a:avLst/>
          </a:prstGeom>
          <a:ln w="0">
            <a:noFill/>
          </a:ln>
          <a:effectLst>
            <a:outerShdw algn="bl" blurRad="114480" dir="5400000" dist="38160" kx="0" ky="0" rotWithShape="0" sx="100000" sy="100000">
              <a:srgbClr val="000000">
                <a:alpha val="18000"/>
              </a:srgbClr>
            </a:outerShdw>
          </a:effectLst>
        </p:spPr>
      </p:pic>
      <p:sp>
        <p:nvSpPr>
          <p:cNvPr id="243" name="Text 93"/>
          <p:cNvSpPr/>
          <p:nvPr/>
        </p:nvSpPr>
        <p:spPr>
          <a:xfrm>
            <a:off x="6720840" y="3977640"/>
            <a:ext cx="49824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50" spc="-1" strike="noStrike">
                <a:solidFill>
                  <a:srgbClr val="8c8270"/>
                </a:solidFill>
                <a:latin typeface="Calibri"/>
                <a:ea typeface="Calibri"/>
              </a:rPr>
              <a:t>Les trois harpes en action devant le rucher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44" name="Image 7" descr="/tmp/assets2/last_box.jpg"/>
          <p:cNvPicPr/>
          <p:nvPr/>
        </p:nvPicPr>
        <p:blipFill>
          <a:blip r:embed="rId2"/>
          <a:stretch/>
        </p:blipFill>
        <p:spPr>
          <a:xfrm>
            <a:off x="7901280" y="4343400"/>
            <a:ext cx="2621520" cy="1507680"/>
          </a:xfrm>
          <a:prstGeom prst="rect">
            <a:avLst/>
          </a:prstGeom>
          <a:ln w="0">
            <a:noFill/>
          </a:ln>
          <a:effectLst>
            <a:outerShdw algn="bl" blurRad="114480" dir="5400000" dist="38160" kx="0" ky="0" rotWithShape="0" sx="100000" sy="100000">
              <a:srgbClr val="000000">
                <a:alpha val="18000"/>
              </a:srgbClr>
            </a:outerShdw>
          </a:effectLst>
        </p:spPr>
      </p:pic>
      <p:sp>
        <p:nvSpPr>
          <p:cNvPr id="245" name="Text 94"/>
          <p:cNvSpPr/>
          <p:nvPr/>
        </p:nvSpPr>
        <p:spPr>
          <a:xfrm>
            <a:off x="6720840" y="5852160"/>
            <a:ext cx="49824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50" spc="-1" strike="noStrike">
                <a:solidFill>
                  <a:srgbClr val="8c8270"/>
                </a:solidFill>
                <a:latin typeface="Calibri"/>
                <a:ea typeface="Calibri"/>
              </a:rPr>
              <a:t>Le boîtier électronique installé et raccordé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Shape 66"/>
          <p:cNvSpPr/>
          <p:nvPr/>
        </p:nvSpPr>
        <p:spPr>
          <a:xfrm>
            <a:off x="11475720" y="6437520"/>
            <a:ext cx="108720" cy="108720"/>
          </a:xfrm>
          <a:prstGeom prst="ellipse">
            <a:avLst/>
          </a:prstGeom>
          <a:solidFill>
            <a:srgbClr val="e0a5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2760" bIns="3276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Text 95"/>
          <p:cNvSpPr/>
          <p:nvPr/>
        </p:nvSpPr>
        <p:spPr>
          <a:xfrm>
            <a:off x="8595360" y="6327720"/>
            <a:ext cx="278784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8c8270"/>
                </a:solidFill>
                <a:latin typeface="Calibri"/>
                <a:ea typeface="Calibri"/>
              </a:rPr>
              <a:t>14 / 17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Text 96"/>
          <p:cNvSpPr/>
          <p:nvPr/>
        </p:nvSpPr>
        <p:spPr>
          <a:xfrm>
            <a:off x="502920" y="6327720"/>
            <a:ext cx="548532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a99f8c"/>
                </a:solidFill>
                <a:latin typeface="Calibri"/>
                <a:ea typeface="Calibri"/>
              </a:rPr>
              <a:t>Harpe anti-frelons asiatiques - © J.N. Simonnet - 2026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Shape 67"/>
          <p:cNvSpPr/>
          <p:nvPr/>
        </p:nvSpPr>
        <p:spPr>
          <a:xfrm>
            <a:off x="502920" y="457200"/>
            <a:ext cx="145080" cy="712080"/>
          </a:xfrm>
          <a:prstGeom prst="rect">
            <a:avLst/>
          </a:prstGeom>
          <a:solidFill>
            <a:srgbClr val="e0a5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Text 97"/>
          <p:cNvSpPr/>
          <p:nvPr/>
        </p:nvSpPr>
        <p:spPr>
          <a:xfrm>
            <a:off x="777240" y="420480"/>
            <a:ext cx="106059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194" strike="noStrike">
                <a:solidFill>
                  <a:srgbClr val="9c6e12"/>
                </a:solidFill>
                <a:latin typeface="Calibri"/>
                <a:ea typeface="Calibri"/>
              </a:rPr>
              <a:t>PARTIE 4 · RÉSULTATS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Text 98"/>
          <p:cNvSpPr/>
          <p:nvPr/>
        </p:nvSpPr>
        <p:spPr>
          <a:xfrm>
            <a:off x="777240" y="658440"/>
            <a:ext cx="108802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23190e"/>
                </a:solidFill>
                <a:latin typeface="Georgia"/>
                <a:ea typeface="Georgia"/>
              </a:rPr>
              <a:t>Bilan de capture sur un mois</a:t>
            </a:r>
            <a:endParaRPr b="0" lang="fr-FR" sz="30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252" name="Table 2"/>
          <p:cNvGraphicFramePr/>
          <p:nvPr/>
        </p:nvGraphicFramePr>
        <p:xfrm>
          <a:off x="594360" y="1554480"/>
          <a:ext cx="10926720" cy="2878920"/>
        </p:xfrm>
        <a:graphic>
          <a:graphicData uri="http://schemas.openxmlformats.org/drawingml/2006/table">
            <a:tbl>
              <a:tblPr/>
              <a:tblGrid>
                <a:gridCol w="1143000"/>
                <a:gridCol w="1005840"/>
                <a:gridCol w="1463040"/>
                <a:gridCol w="1463040"/>
                <a:gridCol w="1463040"/>
                <a:gridCol w="1463040"/>
                <a:gridCol w="1463040"/>
                <a:gridCol w="1463040"/>
              </a:tblGrid>
              <a:tr h="365760">
                <a:tc rowSpan="2"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15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Date</a:t>
                      </a:r>
                      <a:endParaRPr b="0" lang="fr-FR" sz="11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solidFill>
                      <a:srgbClr val="23190e"/>
                    </a:solidFill>
                  </a:tcPr>
                </a:tc>
                <a:tc rowSpan="2"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5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Période</a:t>
                      </a:r>
                      <a:endParaRPr b="0" lang="fr-FR" sz="10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5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(jours)</a:t>
                      </a:r>
                      <a:endParaRPr b="0" lang="fr-FR" sz="10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solidFill>
                      <a:srgbClr val="23190e"/>
                    </a:solidFill>
                  </a:tcPr>
                </a:tc>
                <a:tc gridSpan="3"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20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Sur la période</a:t>
                      </a:r>
                      <a:endParaRPr b="0" lang="fr-FR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solidFill>
                      <a:srgbClr val="9c6e12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fr-F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fr-F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gridSpan="3"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20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Captures journalières</a:t>
                      </a:r>
                      <a:endParaRPr b="0" lang="fr-FR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solidFill>
                      <a:srgbClr val="9c6e12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fr-F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fr-F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329040">
                <a:tc vMerge="1">
                  <a:txBody>
                    <a:bodyPr lIns="90000" rIns="90000" tIns="45000" bIns="45000" anchor="t">
                      <a:noAutofit/>
                    </a:bodyPr>
                    <a:p>
                      <a:endParaRPr b="0" lang="fr-F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vMerge="1">
                  <a:txBody>
                    <a:bodyPr lIns="90000" rIns="90000" tIns="45000" bIns="45000" anchor="t">
                      <a:noAutofit/>
                    </a:bodyPr>
                    <a:p>
                      <a:endParaRPr b="0" lang="fr-F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5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Pièges</a:t>
                      </a:r>
                      <a:endParaRPr b="0" lang="fr-FR" sz="10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solidFill>
                      <a:srgbClr val="33260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5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Harpes</a:t>
                      </a:r>
                      <a:endParaRPr b="0" lang="fr-FR" sz="10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solidFill>
                      <a:srgbClr val="33260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5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Abeilles</a:t>
                      </a:r>
                      <a:endParaRPr b="0" lang="fr-FR" sz="10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solidFill>
                      <a:srgbClr val="33260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5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Pièges</a:t>
                      </a:r>
                      <a:endParaRPr b="0" lang="fr-FR" sz="10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solidFill>
                      <a:srgbClr val="33260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5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Harpes</a:t>
                      </a:r>
                      <a:endParaRPr b="0" lang="fr-FR" sz="10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solidFill>
                      <a:srgbClr val="33260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05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Abeilles</a:t>
                      </a:r>
                      <a:endParaRPr b="0" lang="fr-FR" sz="10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solidFill>
                      <a:srgbClr val="33260f"/>
                    </a:solidFill>
                  </a:tcPr>
                </a:tc>
              </a:tr>
              <a:tr h="310680">
                <a:tc gridSpan="8"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i="1" lang="en-US" sz="1100" spc="-1" strike="noStrike">
                          <a:solidFill>
                            <a:srgbClr val="9c6e12"/>
                          </a:solidFill>
                          <a:latin typeface="Calibri"/>
                          <a:ea typeface="Calibri"/>
                        </a:rPr>
                        <a:t>07 oct — Installation des harpes</a:t>
                      </a:r>
                      <a:endParaRPr b="0" lang="fr-FR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solidFill>
                      <a:srgbClr val="f3e7cb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fr-F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fr-F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fr-F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fr-F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fr-F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fr-F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fr-F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38376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150" spc="-1" strike="noStrike">
                          <a:solidFill>
                            <a:srgbClr val="23190e"/>
                          </a:solidFill>
                          <a:latin typeface="Calibri"/>
                          <a:ea typeface="Calibri"/>
                        </a:rPr>
                        <a:t>07 oct</a:t>
                      </a:r>
                      <a:endParaRPr b="0" lang="fr-FR" sz="11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50" spc="-1" strike="noStrike">
                          <a:solidFill>
                            <a:srgbClr val="615749"/>
                          </a:solidFill>
                          <a:latin typeface="Calibri"/>
                          <a:ea typeface="Calibri"/>
                        </a:rPr>
                        <a:t>7</a:t>
                      </a:r>
                      <a:endParaRPr b="0" lang="fr-FR" sz="11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50" spc="-1" strike="noStrike">
                          <a:solidFill>
                            <a:srgbClr val="615749"/>
                          </a:solidFill>
                          <a:latin typeface="Calibri"/>
                          <a:ea typeface="Calibri"/>
                        </a:rPr>
                        <a:t>64</a:t>
                      </a:r>
                      <a:endParaRPr b="0" lang="fr-FR" sz="11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50" spc="-1" strike="noStrike">
                          <a:solidFill>
                            <a:srgbClr val="615749"/>
                          </a:solidFill>
                          <a:latin typeface="Calibri"/>
                          <a:ea typeface="Calibri"/>
                        </a:rPr>
                        <a:t>n/a</a:t>
                      </a:r>
                      <a:endParaRPr b="0" lang="fr-FR" sz="11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50" spc="-1" strike="noStrike">
                          <a:solidFill>
                            <a:srgbClr val="615749"/>
                          </a:solidFill>
                          <a:latin typeface="Calibri"/>
                          <a:ea typeface="Calibri"/>
                        </a:rPr>
                        <a:t>n/a</a:t>
                      </a:r>
                      <a:endParaRPr b="0" lang="fr-FR" sz="11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50" spc="-1" strike="noStrike">
                          <a:solidFill>
                            <a:srgbClr val="615749"/>
                          </a:solidFill>
                          <a:latin typeface="Calibri"/>
                          <a:ea typeface="Calibri"/>
                        </a:rPr>
                        <a:t>9,1</a:t>
                      </a:r>
                      <a:endParaRPr b="0" lang="fr-FR" sz="11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50" spc="-1" strike="noStrike">
                          <a:solidFill>
                            <a:srgbClr val="615749"/>
                          </a:solidFill>
                          <a:latin typeface="Calibri"/>
                          <a:ea typeface="Calibri"/>
                        </a:rPr>
                        <a:t>n/a</a:t>
                      </a:r>
                      <a:endParaRPr b="0" lang="fr-FR" sz="11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50" spc="-1" strike="noStrike">
                          <a:solidFill>
                            <a:srgbClr val="615749"/>
                          </a:solidFill>
                          <a:latin typeface="Calibri"/>
                          <a:ea typeface="Calibri"/>
                        </a:rPr>
                        <a:t>n/a</a:t>
                      </a:r>
                      <a:endParaRPr b="0" lang="fr-FR" sz="11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noFill/>
                  </a:tcPr>
                </a:tc>
              </a:tr>
              <a:tr h="38376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150" spc="-1" strike="noStrike">
                          <a:solidFill>
                            <a:srgbClr val="23190e"/>
                          </a:solidFill>
                          <a:latin typeface="Calibri"/>
                          <a:ea typeface="Calibri"/>
                        </a:rPr>
                        <a:t>11 oct</a:t>
                      </a:r>
                      <a:endParaRPr b="0" lang="fr-FR" sz="11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50" spc="-1" strike="noStrike">
                          <a:solidFill>
                            <a:srgbClr val="615749"/>
                          </a:solidFill>
                          <a:latin typeface="Calibri"/>
                          <a:ea typeface="Calibri"/>
                        </a:rPr>
                        <a:t>4</a:t>
                      </a:r>
                      <a:endParaRPr b="0" lang="fr-FR" sz="11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50" spc="-1" strike="noStrike">
                          <a:solidFill>
                            <a:srgbClr val="615749"/>
                          </a:solidFill>
                          <a:latin typeface="Calibri"/>
                          <a:ea typeface="Calibri"/>
                        </a:rPr>
                        <a:t>20</a:t>
                      </a:r>
                      <a:endParaRPr b="0" lang="fr-FR" sz="11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50" spc="-1" strike="noStrike">
                          <a:solidFill>
                            <a:srgbClr val="615749"/>
                          </a:solidFill>
                          <a:latin typeface="Calibri"/>
                          <a:ea typeface="Calibri"/>
                        </a:rPr>
                        <a:t>9</a:t>
                      </a:r>
                      <a:endParaRPr b="0" lang="fr-FR" sz="11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50" spc="-1" strike="noStrike">
                          <a:solidFill>
                            <a:srgbClr val="615749"/>
                          </a:solidFill>
                          <a:latin typeface="Calibri"/>
                          <a:ea typeface="Calibri"/>
                        </a:rPr>
                        <a:t>n/a</a:t>
                      </a:r>
                      <a:endParaRPr b="0" lang="fr-FR" sz="11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50" spc="-1" strike="noStrike">
                          <a:solidFill>
                            <a:srgbClr val="615749"/>
                          </a:solidFill>
                          <a:latin typeface="Calibri"/>
                          <a:ea typeface="Calibri"/>
                        </a:rPr>
                        <a:t>5,0</a:t>
                      </a:r>
                      <a:endParaRPr b="0" lang="fr-FR" sz="11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50" spc="-1" strike="noStrike">
                          <a:solidFill>
                            <a:srgbClr val="615749"/>
                          </a:solidFill>
                          <a:latin typeface="Calibri"/>
                          <a:ea typeface="Calibri"/>
                        </a:rPr>
                        <a:t>2,3</a:t>
                      </a:r>
                      <a:endParaRPr b="0" lang="fr-FR" sz="11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50" spc="-1" strike="noStrike">
                          <a:solidFill>
                            <a:srgbClr val="615749"/>
                          </a:solidFill>
                          <a:latin typeface="Calibri"/>
                          <a:ea typeface="Calibri"/>
                        </a:rPr>
                        <a:t>n/a</a:t>
                      </a:r>
                      <a:endParaRPr b="0" lang="fr-FR" sz="11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noFill/>
                  </a:tcPr>
                </a:tc>
              </a:tr>
              <a:tr h="38376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150" spc="-1" strike="noStrike">
                          <a:solidFill>
                            <a:srgbClr val="23190e"/>
                          </a:solidFill>
                          <a:latin typeface="Calibri"/>
                          <a:ea typeface="Calibri"/>
                        </a:rPr>
                        <a:t>13 oct</a:t>
                      </a:r>
                      <a:endParaRPr b="0" lang="fr-FR" sz="11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50" spc="-1" strike="noStrike">
                          <a:solidFill>
                            <a:srgbClr val="615749"/>
                          </a:solidFill>
                          <a:latin typeface="Calibri"/>
                          <a:ea typeface="Calibri"/>
                        </a:rPr>
                        <a:t>2</a:t>
                      </a:r>
                      <a:endParaRPr b="0" lang="fr-FR" sz="11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50" spc="-1" strike="noStrike">
                          <a:solidFill>
                            <a:srgbClr val="615749"/>
                          </a:solidFill>
                          <a:latin typeface="Calibri"/>
                          <a:ea typeface="Calibri"/>
                        </a:rPr>
                        <a:t>36</a:t>
                      </a:r>
                      <a:endParaRPr b="0" lang="fr-FR" sz="11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50" spc="-1" strike="noStrike">
                          <a:solidFill>
                            <a:srgbClr val="615749"/>
                          </a:solidFill>
                          <a:latin typeface="Calibri"/>
                          <a:ea typeface="Calibri"/>
                        </a:rPr>
                        <a:t>17</a:t>
                      </a:r>
                      <a:endParaRPr b="0" lang="fr-FR" sz="11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50" spc="-1" strike="noStrike">
                          <a:solidFill>
                            <a:srgbClr val="615749"/>
                          </a:solidFill>
                          <a:latin typeface="Calibri"/>
                          <a:ea typeface="Calibri"/>
                        </a:rPr>
                        <a:t>224</a:t>
                      </a:r>
                      <a:endParaRPr b="0" lang="fr-FR" sz="11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50" spc="-1" strike="noStrike">
                          <a:solidFill>
                            <a:srgbClr val="615749"/>
                          </a:solidFill>
                          <a:latin typeface="Calibri"/>
                          <a:ea typeface="Calibri"/>
                        </a:rPr>
                        <a:t>18,0</a:t>
                      </a:r>
                      <a:endParaRPr b="0" lang="fr-FR" sz="11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50" spc="-1" strike="noStrike">
                          <a:solidFill>
                            <a:srgbClr val="615749"/>
                          </a:solidFill>
                          <a:latin typeface="Calibri"/>
                          <a:ea typeface="Calibri"/>
                        </a:rPr>
                        <a:t>8,5</a:t>
                      </a:r>
                      <a:endParaRPr b="0" lang="fr-FR" sz="11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50" spc="-1" strike="noStrike">
                          <a:solidFill>
                            <a:srgbClr val="615749"/>
                          </a:solidFill>
                          <a:latin typeface="Calibri"/>
                          <a:ea typeface="Calibri"/>
                        </a:rPr>
                        <a:t>112,0</a:t>
                      </a:r>
                      <a:endParaRPr b="0" lang="fr-FR" sz="11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noFill/>
                  </a:tcPr>
                </a:tc>
              </a:tr>
              <a:tr h="38376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150" spc="-1" strike="noStrike">
                          <a:solidFill>
                            <a:srgbClr val="23190e"/>
                          </a:solidFill>
                          <a:latin typeface="Calibri"/>
                          <a:ea typeface="Calibri"/>
                        </a:rPr>
                        <a:t>06 nov</a:t>
                      </a:r>
                      <a:endParaRPr b="0" lang="fr-FR" sz="11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50" spc="-1" strike="noStrike">
                          <a:solidFill>
                            <a:srgbClr val="615749"/>
                          </a:solidFill>
                          <a:latin typeface="Calibri"/>
                          <a:ea typeface="Calibri"/>
                        </a:rPr>
                        <a:t>24</a:t>
                      </a:r>
                      <a:endParaRPr b="0" lang="fr-FR" sz="11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50" spc="-1" strike="noStrike">
                          <a:solidFill>
                            <a:srgbClr val="615749"/>
                          </a:solidFill>
                          <a:latin typeface="Calibri"/>
                          <a:ea typeface="Calibri"/>
                        </a:rPr>
                        <a:t>44</a:t>
                      </a:r>
                      <a:endParaRPr b="0" lang="fr-FR" sz="11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50" spc="-1" strike="noStrike">
                          <a:solidFill>
                            <a:srgbClr val="615749"/>
                          </a:solidFill>
                          <a:latin typeface="Calibri"/>
                          <a:ea typeface="Calibri"/>
                        </a:rPr>
                        <a:t>26</a:t>
                      </a:r>
                      <a:endParaRPr b="0" lang="fr-FR" sz="11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50" spc="-1" strike="noStrike">
                          <a:solidFill>
                            <a:srgbClr val="615749"/>
                          </a:solidFill>
                          <a:latin typeface="Calibri"/>
                          <a:ea typeface="Calibri"/>
                        </a:rPr>
                        <a:t>258</a:t>
                      </a:r>
                      <a:endParaRPr b="0" lang="fr-FR" sz="11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50" spc="-1" strike="noStrike">
                          <a:solidFill>
                            <a:srgbClr val="615749"/>
                          </a:solidFill>
                          <a:latin typeface="Calibri"/>
                          <a:ea typeface="Calibri"/>
                        </a:rPr>
                        <a:t>1,8</a:t>
                      </a:r>
                      <a:endParaRPr b="0" lang="fr-FR" sz="11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50" spc="-1" strike="noStrike">
                          <a:solidFill>
                            <a:srgbClr val="615749"/>
                          </a:solidFill>
                          <a:latin typeface="Calibri"/>
                          <a:ea typeface="Calibri"/>
                        </a:rPr>
                        <a:t>1,1</a:t>
                      </a:r>
                      <a:endParaRPr b="0" lang="fr-FR" sz="11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150" spc="-1" strike="noStrike">
                          <a:solidFill>
                            <a:srgbClr val="615749"/>
                          </a:solidFill>
                          <a:latin typeface="Calibri"/>
                          <a:ea typeface="Calibri"/>
                        </a:rPr>
                        <a:t>10,8</a:t>
                      </a:r>
                      <a:endParaRPr b="0" lang="fr-FR" sz="11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noFill/>
                  </a:tcPr>
                </a:tc>
              </a:tr>
              <a:tr h="310680">
                <a:tc gridSpan="8"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i="1" lang="en-US" sz="1100" spc="-1" strike="noStrike">
                          <a:solidFill>
                            <a:srgbClr val="9c6e12"/>
                          </a:solidFill>
                          <a:latin typeface="Calibri"/>
                          <a:ea typeface="Calibri"/>
                        </a:rPr>
                        <a:t>06 nov — Intervention : destruction d'un nid à 100 m</a:t>
                      </a:r>
                      <a:endParaRPr b="0" lang="fr-FR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solidFill>
                      <a:srgbClr val="f3e7cb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fr-F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fr-F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fr-F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fr-F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fr-F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fr-F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fr-F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</a:tbl>
          </a:graphicData>
        </a:graphic>
      </p:graphicFrame>
      <p:sp>
        <p:nvSpPr>
          <p:cNvPr id="253" name="Shape 68"/>
          <p:cNvSpPr/>
          <p:nvPr/>
        </p:nvSpPr>
        <p:spPr>
          <a:xfrm>
            <a:off x="594360" y="4617720"/>
            <a:ext cx="3583440" cy="1370520"/>
          </a:xfrm>
          <a:prstGeom prst="rect">
            <a:avLst/>
          </a:prstGeom>
          <a:solidFill>
            <a:srgbClr val="f4f1ea"/>
          </a:solidFill>
          <a:ln w="12700">
            <a:solidFill>
              <a:srgbClr val="e7e0d2"/>
            </a:solidFill>
            <a:round/>
          </a:ln>
          <a:effectLst>
            <a:outerShdw algn="bl" blurRad="11448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Shape 69"/>
          <p:cNvSpPr/>
          <p:nvPr/>
        </p:nvSpPr>
        <p:spPr>
          <a:xfrm>
            <a:off x="594360" y="4617720"/>
            <a:ext cx="127080" cy="1370520"/>
          </a:xfrm>
          <a:prstGeom prst="rect">
            <a:avLst/>
          </a:prstGeom>
          <a:solidFill>
            <a:srgbClr val="9c6e1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5" name="Text 99"/>
          <p:cNvSpPr/>
          <p:nvPr/>
        </p:nvSpPr>
        <p:spPr>
          <a:xfrm>
            <a:off x="777240" y="4736520"/>
            <a:ext cx="326340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400" spc="-1" strike="noStrike">
                <a:solidFill>
                  <a:srgbClr val="9c6e12"/>
                </a:solidFill>
                <a:latin typeface="Georgia"/>
                <a:ea typeface="Georgia"/>
              </a:rPr>
              <a:t>216</a:t>
            </a:r>
            <a:endParaRPr b="0" lang="fr-FR" sz="3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Text 100"/>
          <p:cNvSpPr/>
          <p:nvPr/>
        </p:nvSpPr>
        <p:spPr>
          <a:xfrm>
            <a:off x="822960" y="5413320"/>
            <a:ext cx="317196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615749"/>
                </a:solidFill>
                <a:latin typeface="Calibri"/>
                <a:ea typeface="Calibri"/>
              </a:rPr>
              <a:t>frelons capturés en un mois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Shape 70"/>
          <p:cNvSpPr/>
          <p:nvPr/>
        </p:nvSpPr>
        <p:spPr>
          <a:xfrm>
            <a:off x="4343400" y="4617720"/>
            <a:ext cx="3583440" cy="1370520"/>
          </a:xfrm>
          <a:prstGeom prst="rect">
            <a:avLst/>
          </a:prstGeom>
          <a:solidFill>
            <a:srgbClr val="f4f1ea"/>
          </a:solidFill>
          <a:ln w="12700">
            <a:solidFill>
              <a:srgbClr val="e7e0d2"/>
            </a:solidFill>
            <a:round/>
          </a:ln>
          <a:effectLst>
            <a:outerShdw algn="bl" blurRad="11448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Shape 71"/>
          <p:cNvSpPr/>
          <p:nvPr/>
        </p:nvSpPr>
        <p:spPr>
          <a:xfrm>
            <a:off x="4343400" y="4617720"/>
            <a:ext cx="127080" cy="1370520"/>
          </a:xfrm>
          <a:prstGeom prst="rect">
            <a:avLst/>
          </a:prstGeom>
          <a:solidFill>
            <a:srgbClr val="5e7d3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" name="Text 101"/>
          <p:cNvSpPr/>
          <p:nvPr/>
        </p:nvSpPr>
        <p:spPr>
          <a:xfrm>
            <a:off x="4526280" y="4736520"/>
            <a:ext cx="326340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400" spc="-1" strike="noStrike">
                <a:solidFill>
                  <a:srgbClr val="5e7d3e"/>
                </a:solidFill>
                <a:latin typeface="Georgia"/>
                <a:ea typeface="Georgia"/>
              </a:rPr>
              <a:t>× 2</a:t>
            </a:r>
            <a:endParaRPr b="0" lang="fr-FR" sz="3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Text 102"/>
          <p:cNvSpPr/>
          <p:nvPr/>
        </p:nvSpPr>
        <p:spPr>
          <a:xfrm>
            <a:off x="4572000" y="5413320"/>
            <a:ext cx="317196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615749"/>
                </a:solidFill>
                <a:latin typeface="Calibri"/>
                <a:ea typeface="Calibri"/>
              </a:rPr>
              <a:t>les pièges capturent 2× plus que les harpes (</a:t>
            </a:r>
            <a:r>
              <a:rPr b="1" lang="en-US" sz="1150" spc="-1" strike="noStrike">
                <a:solidFill>
                  <a:srgbClr val="615749"/>
                </a:solidFill>
                <a:latin typeface="Calibri"/>
                <a:ea typeface="Calibri"/>
              </a:rPr>
              <a:t>attention, il y a eu des arrêts de fonctionnement du fait d’un panneau solaire insuffisant</a:t>
            </a:r>
            <a:r>
              <a:rPr b="0" lang="en-US" sz="1150" spc="-1" strike="noStrike">
                <a:solidFill>
                  <a:srgbClr val="615749"/>
                </a:solidFill>
                <a:latin typeface="Calibri"/>
                <a:ea typeface="Calibri"/>
              </a:rPr>
              <a:t>)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Shape 72"/>
          <p:cNvSpPr/>
          <p:nvPr/>
        </p:nvSpPr>
        <p:spPr>
          <a:xfrm>
            <a:off x="8092440" y="4617720"/>
            <a:ext cx="3583440" cy="1370520"/>
          </a:xfrm>
          <a:prstGeom prst="rect">
            <a:avLst/>
          </a:prstGeom>
          <a:solidFill>
            <a:srgbClr val="f4f1ea"/>
          </a:solidFill>
          <a:ln w="12700">
            <a:solidFill>
              <a:srgbClr val="e7e0d2"/>
            </a:solidFill>
            <a:round/>
          </a:ln>
          <a:effectLst>
            <a:outerShdw algn="bl" blurRad="11448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Shape 73"/>
          <p:cNvSpPr/>
          <p:nvPr/>
        </p:nvSpPr>
        <p:spPr>
          <a:xfrm>
            <a:off x="8092440" y="4617720"/>
            <a:ext cx="127080" cy="1370520"/>
          </a:xfrm>
          <a:prstGeom prst="rect">
            <a:avLst/>
          </a:prstGeom>
          <a:solidFill>
            <a:srgbClr val="c844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3" name="Text 103"/>
          <p:cNvSpPr/>
          <p:nvPr/>
        </p:nvSpPr>
        <p:spPr>
          <a:xfrm>
            <a:off x="8275320" y="4736520"/>
            <a:ext cx="326340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400" spc="-1" strike="noStrike">
                <a:solidFill>
                  <a:srgbClr val="c8442e"/>
                </a:solidFill>
                <a:latin typeface="Georgia"/>
                <a:ea typeface="Georgia"/>
              </a:rPr>
              <a:t>12 W</a:t>
            </a:r>
            <a:endParaRPr b="0" lang="fr-FR" sz="3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Text 104"/>
          <p:cNvSpPr/>
          <p:nvPr/>
        </p:nvSpPr>
        <p:spPr>
          <a:xfrm>
            <a:off x="8321040" y="5413320"/>
            <a:ext cx="317196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615749"/>
                </a:solidFill>
                <a:latin typeface="Calibri"/>
                <a:ea typeface="Calibri"/>
              </a:rPr>
              <a:t>panneau sous-dimensionné : harpes à l'arrêt par temps couvert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Text 105"/>
          <p:cNvSpPr/>
          <p:nvPr/>
        </p:nvSpPr>
        <p:spPr>
          <a:xfrm>
            <a:off x="594360" y="6053400"/>
            <a:ext cx="10971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50" spc="-1" strike="noStrike">
                <a:solidFill>
                  <a:srgbClr val="8c8270"/>
                </a:solidFill>
                <a:latin typeface="Calibri"/>
                <a:ea typeface="Calibri"/>
              </a:rPr>
              <a:t>Période marquée par de nombreux jours de pluie / temps couvert : efficacité non maximale.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Shape 74"/>
          <p:cNvSpPr/>
          <p:nvPr/>
        </p:nvSpPr>
        <p:spPr>
          <a:xfrm>
            <a:off x="11475720" y="6437520"/>
            <a:ext cx="108720" cy="108720"/>
          </a:xfrm>
          <a:prstGeom prst="ellipse">
            <a:avLst/>
          </a:prstGeom>
          <a:solidFill>
            <a:srgbClr val="e0a5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2760" bIns="3276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Text 106"/>
          <p:cNvSpPr/>
          <p:nvPr/>
        </p:nvSpPr>
        <p:spPr>
          <a:xfrm>
            <a:off x="8595360" y="6327720"/>
            <a:ext cx="278784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8c8270"/>
                </a:solidFill>
                <a:latin typeface="Calibri"/>
                <a:ea typeface="Calibri"/>
              </a:rPr>
              <a:t>15 / 17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Text 107"/>
          <p:cNvSpPr/>
          <p:nvPr/>
        </p:nvSpPr>
        <p:spPr>
          <a:xfrm>
            <a:off x="502920" y="6327720"/>
            <a:ext cx="548532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a99f8c"/>
                </a:solidFill>
                <a:latin typeface="Calibri"/>
                <a:ea typeface="Calibri"/>
              </a:rPr>
              <a:t>Harpe anti-frelons asiatiques - © J.N. Simonnet - 2026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Shape 75"/>
          <p:cNvSpPr/>
          <p:nvPr/>
        </p:nvSpPr>
        <p:spPr>
          <a:xfrm>
            <a:off x="502920" y="457200"/>
            <a:ext cx="145080" cy="712080"/>
          </a:xfrm>
          <a:prstGeom prst="rect">
            <a:avLst/>
          </a:prstGeom>
          <a:solidFill>
            <a:srgbClr val="e0a5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Text 108"/>
          <p:cNvSpPr/>
          <p:nvPr/>
        </p:nvSpPr>
        <p:spPr>
          <a:xfrm>
            <a:off x="777240" y="420480"/>
            <a:ext cx="106059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194" strike="noStrike">
                <a:solidFill>
                  <a:srgbClr val="9c6e12"/>
                </a:solidFill>
                <a:latin typeface="Calibri"/>
                <a:ea typeface="Calibri"/>
              </a:rPr>
              <a:t>PARTIE 4 · RÉSULTATS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Text 109"/>
          <p:cNvSpPr/>
          <p:nvPr/>
        </p:nvSpPr>
        <p:spPr>
          <a:xfrm>
            <a:off x="777240" y="658440"/>
            <a:ext cx="108802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23190e"/>
                </a:solidFill>
                <a:latin typeface="Georgia"/>
                <a:ea typeface="Georgia"/>
              </a:rPr>
              <a:t>Captures détaillées sur une semaine</a:t>
            </a:r>
            <a:endParaRPr b="0" lang="fr-FR" sz="30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272" name="Table 1"/>
          <p:cNvGraphicFramePr/>
          <p:nvPr/>
        </p:nvGraphicFramePr>
        <p:xfrm>
          <a:off x="594360" y="1554480"/>
          <a:ext cx="7039080" cy="3120480"/>
        </p:xfrm>
        <a:graphic>
          <a:graphicData uri="http://schemas.openxmlformats.org/drawingml/2006/table">
            <a:tbl>
              <a:tblPr/>
              <a:tblGrid>
                <a:gridCol w="1173240"/>
                <a:gridCol w="1173240"/>
                <a:gridCol w="1173240"/>
                <a:gridCol w="1173240"/>
                <a:gridCol w="1173240"/>
                <a:gridCol w="1173240"/>
              </a:tblGrid>
              <a:tr h="365760">
                <a:tc rowSpan="2"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25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Insecte</a:t>
                      </a:r>
                      <a:endParaRPr b="0" lang="fr-FR" sz="12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solidFill>
                      <a:srgbClr val="23190e"/>
                    </a:solidFill>
                  </a:tcPr>
                </a:tc>
                <a:tc gridSpan="2"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25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Pièges</a:t>
                      </a:r>
                      <a:endParaRPr b="0" lang="fr-FR" sz="12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solidFill>
                      <a:srgbClr val="9c6e12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fr-F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gridSpan="3"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25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Harpes</a:t>
                      </a:r>
                      <a:endParaRPr b="0" lang="fr-FR" sz="125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solidFill>
                      <a:srgbClr val="9c6e12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fr-F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xBody>
                    <a:bodyPr lIns="90000" rIns="90000" tIns="45000" bIns="45000" anchor="t">
                      <a:noAutofit/>
                    </a:bodyPr>
                    <a:p>
                      <a:endParaRPr b="0" lang="fr-F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329040">
                <a:tc vMerge="1">
                  <a:txBody>
                    <a:bodyPr lIns="90000" rIns="90000" tIns="45000" bIns="45000" anchor="t">
                      <a:noAutofit/>
                    </a:bodyPr>
                    <a:p>
                      <a:endParaRPr b="0" lang="fr-FR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0000" marR="90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20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Gauche</a:t>
                      </a:r>
                      <a:endParaRPr b="0" lang="fr-FR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solidFill>
                      <a:srgbClr val="33260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20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Droite</a:t>
                      </a:r>
                      <a:endParaRPr b="0" lang="fr-FR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solidFill>
                      <a:srgbClr val="33260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20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Gauche</a:t>
                      </a:r>
                      <a:endParaRPr b="0" lang="fr-FR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solidFill>
                      <a:srgbClr val="33260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20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Milieu</a:t>
                      </a:r>
                      <a:endParaRPr b="0" lang="fr-FR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solidFill>
                      <a:srgbClr val="33260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200" spc="-1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Droite</a:t>
                      </a:r>
                      <a:endParaRPr b="0" lang="fr-FR" sz="12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solidFill>
                      <a:srgbClr val="33260f"/>
                    </a:solidFill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250" spc="-1" strike="noStrike">
                          <a:solidFill>
                            <a:srgbClr val="23190e"/>
                          </a:solidFill>
                          <a:latin typeface="Calibri"/>
                          <a:ea typeface="Calibri"/>
                        </a:rPr>
                        <a:t>Frelons asiatiques</a:t>
                      </a:r>
                      <a:endParaRPr b="0" lang="fr-FR" sz="12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250" spc="-1" strike="noStrike">
                          <a:solidFill>
                            <a:srgbClr val="23190e"/>
                          </a:solidFill>
                          <a:latin typeface="Calibri"/>
                          <a:ea typeface="Calibri"/>
                        </a:rPr>
                        <a:t>26</a:t>
                      </a:r>
                      <a:endParaRPr b="0" lang="fr-FR" sz="12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250" spc="-1" strike="noStrike">
                          <a:solidFill>
                            <a:srgbClr val="23190e"/>
                          </a:solidFill>
                          <a:latin typeface="Calibri"/>
                          <a:ea typeface="Calibri"/>
                        </a:rPr>
                        <a:t>10</a:t>
                      </a:r>
                      <a:endParaRPr b="0" lang="fr-FR" sz="12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250" spc="-1" strike="noStrike">
                          <a:solidFill>
                            <a:srgbClr val="9c6e12"/>
                          </a:solidFill>
                          <a:latin typeface="Calibri"/>
                          <a:ea typeface="Calibri"/>
                        </a:rPr>
                        <a:t>6</a:t>
                      </a:r>
                      <a:endParaRPr b="0" lang="fr-FR" sz="12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solidFill>
                      <a:srgbClr val="fdf4de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250" spc="-1" strike="noStrike">
                          <a:solidFill>
                            <a:srgbClr val="9c6e12"/>
                          </a:solidFill>
                          <a:latin typeface="Calibri"/>
                          <a:ea typeface="Calibri"/>
                        </a:rPr>
                        <a:t>6</a:t>
                      </a:r>
                      <a:endParaRPr b="0" lang="fr-FR" sz="12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solidFill>
                      <a:srgbClr val="fdf4de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250" spc="-1" strike="noStrike">
                          <a:solidFill>
                            <a:srgbClr val="9c6e12"/>
                          </a:solidFill>
                          <a:latin typeface="Calibri"/>
                          <a:ea typeface="Calibri"/>
                        </a:rPr>
                        <a:t>5</a:t>
                      </a:r>
                      <a:endParaRPr b="0" lang="fr-FR" sz="12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solidFill>
                      <a:srgbClr val="fdf4de"/>
                    </a:solidFill>
                  </a:tcPr>
                </a:tc>
              </a:tr>
              <a:tr h="38376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250" spc="-1" strike="noStrike">
                          <a:solidFill>
                            <a:srgbClr val="23190e"/>
                          </a:solidFill>
                          <a:latin typeface="Calibri"/>
                          <a:ea typeface="Calibri"/>
                        </a:rPr>
                        <a:t>Frelons européens</a:t>
                      </a:r>
                      <a:endParaRPr b="0" lang="fr-FR" sz="12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50" spc="-1" strike="noStrike">
                          <a:solidFill>
                            <a:srgbClr val="615749"/>
                          </a:solidFill>
                          <a:latin typeface="Calibri"/>
                          <a:ea typeface="Calibri"/>
                        </a:rPr>
                        <a:t>1</a:t>
                      </a:r>
                      <a:endParaRPr b="0" lang="fr-FR" sz="12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50" spc="-1" strike="noStrike">
                          <a:solidFill>
                            <a:srgbClr val="615749"/>
                          </a:solidFill>
                          <a:latin typeface="Calibri"/>
                          <a:ea typeface="Calibri"/>
                        </a:rPr>
                        <a:t>–</a:t>
                      </a:r>
                      <a:endParaRPr b="0" lang="fr-FR" sz="12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50" spc="-1" strike="noStrike">
                          <a:solidFill>
                            <a:srgbClr val="615749"/>
                          </a:solidFill>
                          <a:latin typeface="Calibri"/>
                          <a:ea typeface="Calibri"/>
                        </a:rPr>
                        <a:t>–</a:t>
                      </a:r>
                      <a:endParaRPr b="0" lang="fr-FR" sz="12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50" spc="-1" strike="noStrike">
                          <a:solidFill>
                            <a:srgbClr val="615749"/>
                          </a:solidFill>
                          <a:latin typeface="Calibri"/>
                          <a:ea typeface="Calibri"/>
                        </a:rPr>
                        <a:t>–</a:t>
                      </a:r>
                      <a:endParaRPr b="0" lang="fr-FR" sz="12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50" spc="-1" strike="noStrike">
                          <a:solidFill>
                            <a:srgbClr val="615749"/>
                          </a:solidFill>
                          <a:latin typeface="Calibri"/>
                          <a:ea typeface="Calibri"/>
                        </a:rPr>
                        <a:t>–</a:t>
                      </a:r>
                      <a:endParaRPr b="0" lang="fr-FR" sz="12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noFill/>
                  </a:tcPr>
                </a:tc>
              </a:tr>
              <a:tr h="42048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250" spc="-1" strike="noStrike">
                          <a:solidFill>
                            <a:srgbClr val="23190e"/>
                          </a:solidFill>
                          <a:latin typeface="Calibri"/>
                          <a:ea typeface="Calibri"/>
                        </a:rPr>
                        <a:t>Abeilles</a:t>
                      </a:r>
                      <a:endParaRPr b="0" lang="fr-FR" sz="12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50" spc="-1" strike="noStrike">
                          <a:solidFill>
                            <a:srgbClr val="615749"/>
                          </a:solidFill>
                          <a:latin typeface="Calibri"/>
                          <a:ea typeface="Calibri"/>
                        </a:rPr>
                        <a:t>2</a:t>
                      </a:r>
                      <a:endParaRPr b="0" lang="fr-FR" sz="12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50" spc="-1" strike="noStrike">
                          <a:solidFill>
                            <a:srgbClr val="615749"/>
                          </a:solidFill>
                          <a:latin typeface="Calibri"/>
                          <a:ea typeface="Calibri"/>
                        </a:rPr>
                        <a:t>2</a:t>
                      </a:r>
                      <a:endParaRPr b="0" lang="fr-FR" sz="12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250" spc="-1" strike="noStrike">
                          <a:solidFill>
                            <a:srgbClr val="c8442e"/>
                          </a:solidFill>
                          <a:latin typeface="Calibri"/>
                          <a:ea typeface="Calibri"/>
                        </a:rPr>
                        <a:t>128</a:t>
                      </a:r>
                      <a:endParaRPr b="0" lang="fr-FR" sz="12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solidFill>
                      <a:srgbClr val="fbeb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250" spc="-1" strike="noStrike">
                          <a:solidFill>
                            <a:srgbClr val="c8442e"/>
                          </a:solidFill>
                          <a:latin typeface="Calibri"/>
                          <a:ea typeface="Calibri"/>
                        </a:rPr>
                        <a:t>38</a:t>
                      </a:r>
                      <a:endParaRPr b="0" lang="fr-FR" sz="12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solidFill>
                      <a:srgbClr val="fbebe6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250" spc="-1" strike="noStrike">
                          <a:solidFill>
                            <a:srgbClr val="c8442e"/>
                          </a:solidFill>
                          <a:latin typeface="Calibri"/>
                          <a:ea typeface="Calibri"/>
                        </a:rPr>
                        <a:t>58</a:t>
                      </a:r>
                      <a:endParaRPr b="0" lang="fr-FR" sz="12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solidFill>
                      <a:srgbClr val="fbebe6"/>
                    </a:solidFill>
                  </a:tcPr>
                </a:tc>
              </a:tr>
              <a:tr h="38376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250" spc="-1" strike="noStrike">
                          <a:solidFill>
                            <a:srgbClr val="23190e"/>
                          </a:solidFill>
                          <a:latin typeface="Calibri"/>
                          <a:ea typeface="Calibri"/>
                        </a:rPr>
                        <a:t>Faux-bourdons</a:t>
                      </a:r>
                      <a:endParaRPr b="0" lang="fr-FR" sz="12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50" spc="-1" strike="noStrike">
                          <a:solidFill>
                            <a:srgbClr val="615749"/>
                          </a:solidFill>
                          <a:latin typeface="Calibri"/>
                          <a:ea typeface="Calibri"/>
                        </a:rPr>
                        <a:t>–</a:t>
                      </a:r>
                      <a:endParaRPr b="0" lang="fr-FR" sz="12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50" spc="-1" strike="noStrike">
                          <a:solidFill>
                            <a:srgbClr val="615749"/>
                          </a:solidFill>
                          <a:latin typeface="Calibri"/>
                          <a:ea typeface="Calibri"/>
                        </a:rPr>
                        <a:t>–</a:t>
                      </a:r>
                      <a:endParaRPr b="0" lang="fr-FR" sz="12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50" spc="-1" strike="noStrike">
                          <a:solidFill>
                            <a:srgbClr val="615749"/>
                          </a:solidFill>
                          <a:latin typeface="Calibri"/>
                          <a:ea typeface="Calibri"/>
                        </a:rPr>
                        <a:t>2</a:t>
                      </a:r>
                      <a:endParaRPr b="0" lang="fr-FR" sz="12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50" spc="-1" strike="noStrike">
                          <a:solidFill>
                            <a:srgbClr val="615749"/>
                          </a:solidFill>
                          <a:latin typeface="Calibri"/>
                          <a:ea typeface="Calibri"/>
                        </a:rPr>
                        <a:t>1</a:t>
                      </a:r>
                      <a:endParaRPr b="0" lang="fr-FR" sz="12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50" spc="-1" strike="noStrike">
                          <a:solidFill>
                            <a:srgbClr val="615749"/>
                          </a:solidFill>
                          <a:latin typeface="Calibri"/>
                          <a:ea typeface="Calibri"/>
                        </a:rPr>
                        <a:t>2</a:t>
                      </a:r>
                      <a:endParaRPr b="0" lang="fr-FR" sz="12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noFill/>
                  </a:tcPr>
                </a:tc>
              </a:tr>
              <a:tr h="38376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250" spc="-1" strike="noStrike">
                          <a:solidFill>
                            <a:srgbClr val="23190e"/>
                          </a:solidFill>
                          <a:latin typeface="Calibri"/>
                          <a:ea typeface="Calibri"/>
                        </a:rPr>
                        <a:t>Guêpes</a:t>
                      </a:r>
                      <a:endParaRPr b="0" lang="fr-FR" sz="12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50" spc="-1" strike="noStrike">
                          <a:solidFill>
                            <a:srgbClr val="615749"/>
                          </a:solidFill>
                          <a:latin typeface="Calibri"/>
                          <a:ea typeface="Calibri"/>
                        </a:rPr>
                        <a:t>3</a:t>
                      </a:r>
                      <a:endParaRPr b="0" lang="fr-FR" sz="12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50" spc="-1" strike="noStrike">
                          <a:solidFill>
                            <a:srgbClr val="615749"/>
                          </a:solidFill>
                          <a:latin typeface="Calibri"/>
                          <a:ea typeface="Calibri"/>
                        </a:rPr>
                        <a:t>5</a:t>
                      </a:r>
                      <a:endParaRPr b="0" lang="fr-FR" sz="12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50" spc="-1" strike="noStrike">
                          <a:solidFill>
                            <a:srgbClr val="615749"/>
                          </a:solidFill>
                          <a:latin typeface="Calibri"/>
                          <a:ea typeface="Calibri"/>
                        </a:rPr>
                        <a:t>1</a:t>
                      </a:r>
                      <a:endParaRPr b="0" lang="fr-FR" sz="12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50" spc="-1" strike="noStrike">
                          <a:solidFill>
                            <a:srgbClr val="615749"/>
                          </a:solidFill>
                          <a:latin typeface="Calibri"/>
                          <a:ea typeface="Calibri"/>
                        </a:rPr>
                        <a:t>–</a:t>
                      </a:r>
                      <a:endParaRPr b="0" lang="fr-FR" sz="12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50" spc="-1" strike="noStrike">
                          <a:solidFill>
                            <a:srgbClr val="615749"/>
                          </a:solidFill>
                          <a:latin typeface="Calibri"/>
                          <a:ea typeface="Calibri"/>
                        </a:rPr>
                        <a:t>2</a:t>
                      </a:r>
                      <a:endParaRPr b="0" lang="fr-FR" sz="12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noFill/>
                  </a:tcPr>
                </a:tc>
              </a:tr>
              <a:tr h="383760"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1" lang="en-US" sz="1250" spc="-1" strike="noStrike">
                          <a:solidFill>
                            <a:srgbClr val="23190e"/>
                          </a:solidFill>
                          <a:latin typeface="Calibri"/>
                          <a:ea typeface="Calibri"/>
                        </a:rPr>
                        <a:t>Sauterelle / cloportes</a:t>
                      </a:r>
                      <a:endParaRPr b="0" lang="fr-FR" sz="12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solidFill>
                      <a:srgbClr val="f4f1ea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50" spc="-1" strike="noStrike">
                          <a:solidFill>
                            <a:srgbClr val="615749"/>
                          </a:solidFill>
                          <a:latin typeface="Calibri"/>
                          <a:ea typeface="Calibri"/>
                        </a:rPr>
                        <a:t>–</a:t>
                      </a:r>
                      <a:endParaRPr b="0" lang="fr-FR" sz="12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50" spc="-1" strike="noStrike">
                          <a:solidFill>
                            <a:srgbClr val="615749"/>
                          </a:solidFill>
                          <a:latin typeface="Calibri"/>
                          <a:ea typeface="Calibri"/>
                        </a:rPr>
                        <a:t>–</a:t>
                      </a:r>
                      <a:endParaRPr b="0" lang="fr-FR" sz="12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50" spc="-1" strike="noStrike">
                          <a:solidFill>
                            <a:srgbClr val="615749"/>
                          </a:solidFill>
                          <a:latin typeface="Calibri"/>
                          <a:ea typeface="Calibri"/>
                        </a:rPr>
                        <a:t>–</a:t>
                      </a:r>
                      <a:endParaRPr b="0" lang="fr-FR" sz="12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50" spc="-1" strike="noStrike">
                          <a:solidFill>
                            <a:srgbClr val="615749"/>
                          </a:solidFill>
                          <a:latin typeface="Calibri"/>
                          <a:ea typeface="Calibri"/>
                        </a:rPr>
                        <a:t>–</a:t>
                      </a:r>
                      <a:endParaRPr b="0" lang="fr-FR" sz="12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50" spc="-1" strike="noStrike">
                          <a:solidFill>
                            <a:srgbClr val="615749"/>
                          </a:solidFill>
                          <a:latin typeface="Calibri"/>
                          <a:ea typeface="Calibri"/>
                        </a:rPr>
                        <a:t>1 / 2</a:t>
                      </a:r>
                      <a:endParaRPr b="0" lang="fr-FR" sz="125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e7e0d2"/>
                      </a:solidFill>
                      <a:prstDash val="solid"/>
                    </a:lnL>
                    <a:lnR w="12240">
                      <a:solidFill>
                        <a:srgbClr val="e7e0d2"/>
                      </a:solidFill>
                      <a:prstDash val="solid"/>
                    </a:lnR>
                    <a:lnT w="12240">
                      <a:solidFill>
                        <a:srgbClr val="e7e0d2"/>
                      </a:solidFill>
                      <a:prstDash val="solid"/>
                    </a:lnT>
                    <a:lnB w="12240">
                      <a:solidFill>
                        <a:srgbClr val="e7e0d2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73" name="Text 110"/>
          <p:cNvSpPr/>
          <p:nvPr/>
        </p:nvSpPr>
        <p:spPr>
          <a:xfrm>
            <a:off x="594360" y="5074920"/>
            <a:ext cx="703980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8c8270"/>
                </a:solidFill>
                <a:latin typeface="Calibri"/>
                <a:ea typeface="Calibri"/>
              </a:rPr>
              <a:t>Harpe droite : 1 fondatrice capturée (corps 35 mm, envergure 40 mm).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Text 111"/>
          <p:cNvSpPr/>
          <p:nvPr/>
        </p:nvSpPr>
        <p:spPr>
          <a:xfrm>
            <a:off x="7863840" y="1600200"/>
            <a:ext cx="38851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9c6e12"/>
                </a:solidFill>
                <a:latin typeface="Calibri"/>
                <a:ea typeface="Calibri"/>
              </a:rPr>
              <a:t>Ce que révèlent ces chiffres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Shape 76"/>
          <p:cNvSpPr/>
          <p:nvPr/>
        </p:nvSpPr>
        <p:spPr>
          <a:xfrm>
            <a:off x="7863840" y="2103120"/>
            <a:ext cx="3885120" cy="959040"/>
          </a:xfrm>
          <a:prstGeom prst="rect">
            <a:avLst/>
          </a:prstGeom>
          <a:solidFill>
            <a:srgbClr val="f4f1ea"/>
          </a:solidFill>
          <a:ln w="12700">
            <a:solidFill>
              <a:srgbClr val="e7e0d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Shape 77"/>
          <p:cNvSpPr/>
          <p:nvPr/>
        </p:nvSpPr>
        <p:spPr>
          <a:xfrm>
            <a:off x="7863840" y="2103120"/>
            <a:ext cx="108720" cy="959040"/>
          </a:xfrm>
          <a:prstGeom prst="rect">
            <a:avLst/>
          </a:prstGeom>
          <a:solidFill>
            <a:srgbClr val="5e7d3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7" name="Text 112"/>
          <p:cNvSpPr/>
          <p:nvPr/>
        </p:nvSpPr>
        <p:spPr>
          <a:xfrm>
            <a:off x="8092440" y="2212920"/>
            <a:ext cx="356508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23190e"/>
                </a:solidFill>
                <a:latin typeface="Calibri"/>
                <a:ea typeface="Calibri"/>
              </a:rPr>
              <a:t>La harpe du milieu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Text 113"/>
          <p:cNvSpPr/>
          <p:nvPr/>
        </p:nvSpPr>
        <p:spPr>
          <a:xfrm>
            <a:off x="8092440" y="2523600"/>
            <a:ext cx="356508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615749"/>
                </a:solidFill>
                <a:latin typeface="Calibri"/>
                <a:ea typeface="Calibri"/>
              </a:rPr>
              <a:t>capture le plus de frelons et le moins d'abeilles : la meilleure position.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Shape 78"/>
          <p:cNvSpPr/>
          <p:nvPr/>
        </p:nvSpPr>
        <p:spPr>
          <a:xfrm>
            <a:off x="7863840" y="3246120"/>
            <a:ext cx="3885120" cy="959040"/>
          </a:xfrm>
          <a:prstGeom prst="rect">
            <a:avLst/>
          </a:prstGeom>
          <a:solidFill>
            <a:srgbClr val="f4f1ea"/>
          </a:solidFill>
          <a:ln w="12700">
            <a:solidFill>
              <a:srgbClr val="e7e0d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Shape 79"/>
          <p:cNvSpPr/>
          <p:nvPr/>
        </p:nvSpPr>
        <p:spPr>
          <a:xfrm>
            <a:off x="7863840" y="3246120"/>
            <a:ext cx="108720" cy="959040"/>
          </a:xfrm>
          <a:prstGeom prst="rect">
            <a:avLst/>
          </a:prstGeom>
          <a:solidFill>
            <a:srgbClr val="c844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1" name="Text 114"/>
          <p:cNvSpPr/>
          <p:nvPr/>
        </p:nvSpPr>
        <p:spPr>
          <a:xfrm>
            <a:off x="8092440" y="3355920"/>
            <a:ext cx="356508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23190e"/>
                </a:solidFill>
                <a:latin typeface="Calibri"/>
                <a:ea typeface="Calibri"/>
              </a:rPr>
              <a:t>Trop d'abeilles capturées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Text 115"/>
          <p:cNvSpPr/>
          <p:nvPr/>
        </p:nvSpPr>
        <p:spPr>
          <a:xfrm>
            <a:off x="8092440" y="3666600"/>
            <a:ext cx="356508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615749"/>
                </a:solidFill>
                <a:latin typeface="Calibri"/>
                <a:ea typeface="Calibri"/>
              </a:rPr>
              <a:t>128 sur la seule harpe de gauche : elle est trop proche de l'entrée de la ruche.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Shape 80"/>
          <p:cNvSpPr/>
          <p:nvPr/>
        </p:nvSpPr>
        <p:spPr>
          <a:xfrm>
            <a:off x="7863840" y="4389120"/>
            <a:ext cx="3885120" cy="959040"/>
          </a:xfrm>
          <a:prstGeom prst="rect">
            <a:avLst/>
          </a:prstGeom>
          <a:solidFill>
            <a:srgbClr val="f4f1ea"/>
          </a:solidFill>
          <a:ln w="12700">
            <a:solidFill>
              <a:srgbClr val="e7e0d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Shape 81"/>
          <p:cNvSpPr/>
          <p:nvPr/>
        </p:nvSpPr>
        <p:spPr>
          <a:xfrm>
            <a:off x="7863840" y="4389120"/>
            <a:ext cx="108720" cy="959040"/>
          </a:xfrm>
          <a:prstGeom prst="rect">
            <a:avLst/>
          </a:prstGeom>
          <a:solidFill>
            <a:srgbClr val="9c6e1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5" name="Text 116"/>
          <p:cNvSpPr/>
          <p:nvPr/>
        </p:nvSpPr>
        <p:spPr>
          <a:xfrm>
            <a:off x="8092440" y="4498920"/>
            <a:ext cx="356508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23190e"/>
                </a:solidFill>
                <a:latin typeface="Calibri"/>
                <a:ea typeface="Calibri"/>
              </a:rPr>
              <a:t>Les pièges restent utiles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Text 117"/>
          <p:cNvSpPr/>
          <p:nvPr/>
        </p:nvSpPr>
        <p:spPr>
          <a:xfrm>
            <a:off x="8092440" y="4809600"/>
            <a:ext cx="356508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615749"/>
                </a:solidFill>
                <a:latin typeface="Calibri"/>
                <a:ea typeface="Calibri"/>
              </a:rPr>
              <a:t>ils captent ici plus de frelons que les harpes sur la même semaine.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Shape 82"/>
          <p:cNvSpPr/>
          <p:nvPr/>
        </p:nvSpPr>
        <p:spPr>
          <a:xfrm>
            <a:off x="11475720" y="6437520"/>
            <a:ext cx="108720" cy="108720"/>
          </a:xfrm>
          <a:prstGeom prst="ellipse">
            <a:avLst/>
          </a:prstGeom>
          <a:solidFill>
            <a:srgbClr val="e0a5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2760" bIns="3276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Text 118"/>
          <p:cNvSpPr/>
          <p:nvPr/>
        </p:nvSpPr>
        <p:spPr>
          <a:xfrm>
            <a:off x="8595360" y="6327720"/>
            <a:ext cx="278784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8c8270"/>
                </a:solidFill>
                <a:latin typeface="Calibri"/>
                <a:ea typeface="Calibri"/>
              </a:rPr>
              <a:t>16 / 17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Text 119"/>
          <p:cNvSpPr/>
          <p:nvPr/>
        </p:nvSpPr>
        <p:spPr>
          <a:xfrm>
            <a:off x="502920" y="6327720"/>
            <a:ext cx="548532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a99f8c"/>
                </a:solidFill>
                <a:latin typeface="Calibri"/>
                <a:ea typeface="Calibri"/>
              </a:rPr>
              <a:t>Harpe anti-frelons asiatiques - © J.N. Simonnet - 2026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Shape 83"/>
          <p:cNvSpPr/>
          <p:nvPr/>
        </p:nvSpPr>
        <p:spPr>
          <a:xfrm>
            <a:off x="502920" y="457200"/>
            <a:ext cx="145080" cy="712080"/>
          </a:xfrm>
          <a:prstGeom prst="rect">
            <a:avLst/>
          </a:prstGeom>
          <a:solidFill>
            <a:srgbClr val="e0a5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Text 120"/>
          <p:cNvSpPr/>
          <p:nvPr/>
        </p:nvSpPr>
        <p:spPr>
          <a:xfrm>
            <a:off x="777240" y="420480"/>
            <a:ext cx="106059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194" strike="noStrike">
                <a:solidFill>
                  <a:srgbClr val="9c6e12"/>
                </a:solidFill>
                <a:latin typeface="Calibri"/>
                <a:ea typeface="Calibri"/>
              </a:rPr>
              <a:t>PARTIE 4 · RÉSULTATS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Text 121"/>
          <p:cNvSpPr/>
          <p:nvPr/>
        </p:nvSpPr>
        <p:spPr>
          <a:xfrm>
            <a:off x="777240" y="658440"/>
            <a:ext cx="108802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23190e"/>
                </a:solidFill>
                <a:latin typeface="Georgia"/>
                <a:ea typeface="Georgia"/>
              </a:rPr>
              <a:t>Enseignements &amp; suite à donner</a:t>
            </a:r>
            <a:endParaRPr b="0" lang="fr-F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Text 122"/>
          <p:cNvSpPr/>
          <p:nvPr/>
        </p:nvSpPr>
        <p:spPr>
          <a:xfrm>
            <a:off x="640080" y="1554480"/>
            <a:ext cx="54853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9c6e12"/>
                </a:solidFill>
                <a:latin typeface="Calibri"/>
                <a:ea typeface="Calibri"/>
              </a:rPr>
              <a:t>Ce que l'on retient</a:t>
            </a:r>
            <a:endParaRPr b="0" lang="fr-F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Shape 84"/>
          <p:cNvSpPr/>
          <p:nvPr/>
        </p:nvSpPr>
        <p:spPr>
          <a:xfrm>
            <a:off x="658440" y="2048400"/>
            <a:ext cx="136080" cy="136080"/>
          </a:xfrm>
          <a:prstGeom prst="ellipse">
            <a:avLst/>
          </a:prstGeom>
          <a:solidFill>
            <a:srgbClr val="e0a5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Text 123"/>
          <p:cNvSpPr/>
          <p:nvPr/>
        </p:nvSpPr>
        <p:spPr>
          <a:xfrm>
            <a:off x="914400" y="1938600"/>
            <a:ext cx="5211000" cy="82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615749"/>
                </a:solidFill>
                <a:latin typeface="Calibri"/>
                <a:ea typeface="Calibri"/>
              </a:rPr>
              <a:t>Les abeilles traversent les harpes, mais certaines heurtent les fils et chutent, assommées, dans le bac.</a:t>
            </a:r>
            <a:endParaRPr b="0" lang="fr-F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Shape 85"/>
          <p:cNvSpPr/>
          <p:nvPr/>
        </p:nvSpPr>
        <p:spPr>
          <a:xfrm>
            <a:off x="658440" y="2917080"/>
            <a:ext cx="136080" cy="136080"/>
          </a:xfrm>
          <a:prstGeom prst="ellipse">
            <a:avLst/>
          </a:prstGeom>
          <a:solidFill>
            <a:srgbClr val="e0a5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Text 124"/>
          <p:cNvSpPr/>
          <p:nvPr/>
        </p:nvSpPr>
        <p:spPr>
          <a:xfrm>
            <a:off x="914400" y="2807280"/>
            <a:ext cx="5211000" cy="82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615749"/>
                </a:solidFill>
                <a:latin typeface="Calibri"/>
                <a:ea typeface="Calibri"/>
              </a:rPr>
              <a:t>Pic d'abeilles le 6/11 sur la harpe de gauche (proche de l'entrée) : possible mortalité d'abeilles d'été rendue visible.</a:t>
            </a:r>
            <a:endParaRPr b="0" lang="fr-F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Shape 86"/>
          <p:cNvSpPr/>
          <p:nvPr/>
        </p:nvSpPr>
        <p:spPr>
          <a:xfrm>
            <a:off x="658440" y="3785760"/>
            <a:ext cx="136080" cy="136080"/>
          </a:xfrm>
          <a:prstGeom prst="ellipse">
            <a:avLst/>
          </a:prstGeom>
          <a:solidFill>
            <a:srgbClr val="e0a5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Text 125"/>
          <p:cNvSpPr/>
          <p:nvPr/>
        </p:nvSpPr>
        <p:spPr>
          <a:xfrm>
            <a:off x="914400" y="3675960"/>
            <a:ext cx="5211000" cy="82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615749"/>
                </a:solidFill>
                <a:latin typeface="Calibri"/>
                <a:ea typeface="Calibri"/>
              </a:rPr>
              <a:t>Météo limitante : pluie et temps couvert + panneau 12 W → harpes souvent non alimentées.</a:t>
            </a:r>
            <a:endParaRPr b="0" lang="fr-F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Shape 87"/>
          <p:cNvSpPr/>
          <p:nvPr/>
        </p:nvSpPr>
        <p:spPr>
          <a:xfrm>
            <a:off x="640080" y="4663440"/>
            <a:ext cx="5485320" cy="1461960"/>
          </a:xfrm>
          <a:prstGeom prst="rect">
            <a:avLst/>
          </a:prstGeom>
          <a:solidFill>
            <a:srgbClr val="23190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1" name="Text 126"/>
          <p:cNvSpPr/>
          <p:nvPr/>
        </p:nvSpPr>
        <p:spPr>
          <a:xfrm>
            <a:off x="868680" y="4773240"/>
            <a:ext cx="50281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e0a526"/>
                </a:solidFill>
                <a:latin typeface="Calibri"/>
                <a:ea typeface="Calibri"/>
              </a:rPr>
              <a:t>Suite à donner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Text 127"/>
          <p:cNvSpPr/>
          <p:nvPr/>
        </p:nvSpPr>
        <p:spPr>
          <a:xfrm>
            <a:off x="868680" y="5120640"/>
            <a:ext cx="5073840" cy="95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5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e9e1cf"/>
                </a:solidFill>
                <a:latin typeface="Calibri"/>
                <a:ea typeface="Calibri"/>
              </a:rPr>
              <a:t>Écarter les ruches de gauche · produit non parfumé (savon glycériné) · dégager la harpe centrale et rapprocher la barrière · filmer pour vérifier l'hypothèse · tester une harpe horizontale sous le plancher.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03" name="Image 8" descr="/tmp/assets2/bees_accum.jpg"/>
          <p:cNvPicPr/>
          <p:nvPr/>
        </p:nvPicPr>
        <p:blipFill>
          <a:blip r:embed="rId1"/>
          <a:stretch/>
        </p:blipFill>
        <p:spPr>
          <a:xfrm>
            <a:off x="6436800" y="1554480"/>
            <a:ext cx="5185080" cy="2102040"/>
          </a:xfrm>
          <a:prstGeom prst="rect">
            <a:avLst/>
          </a:prstGeom>
          <a:ln w="0">
            <a:noFill/>
          </a:ln>
          <a:effectLst>
            <a:outerShdw algn="bl" blurRad="114480" dir="5400000" dist="38160" kx="0" ky="0" rotWithShape="0" sx="100000" sy="100000">
              <a:srgbClr val="000000">
                <a:alpha val="18000"/>
              </a:srgbClr>
            </a:outerShdw>
          </a:effectLst>
        </p:spPr>
      </p:pic>
      <p:sp>
        <p:nvSpPr>
          <p:cNvPr id="304" name="Text 128"/>
          <p:cNvSpPr/>
          <p:nvPr/>
        </p:nvSpPr>
        <p:spPr>
          <a:xfrm>
            <a:off x="6355080" y="3657600"/>
            <a:ext cx="53481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50" spc="-1" strike="noStrike">
                <a:solidFill>
                  <a:srgbClr val="8c8270"/>
                </a:solidFill>
                <a:latin typeface="Calibri"/>
                <a:ea typeface="Calibri"/>
              </a:rPr>
              <a:t>Accumulation d'abeilles sur la harpe de gauche (6 nov.)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05" name="Image 9" descr="/tmp/assets2/new_layout.jpg"/>
          <p:cNvPicPr/>
          <p:nvPr/>
        </p:nvPicPr>
        <p:blipFill>
          <a:blip r:embed="rId2"/>
          <a:stretch/>
        </p:blipFill>
        <p:spPr>
          <a:xfrm>
            <a:off x="6593760" y="4069080"/>
            <a:ext cx="4870800" cy="2010600"/>
          </a:xfrm>
          <a:prstGeom prst="rect">
            <a:avLst/>
          </a:prstGeom>
          <a:ln w="0">
            <a:noFill/>
          </a:ln>
          <a:effectLst>
            <a:outerShdw algn="bl" blurRad="114480" dir="5400000" dist="38160" kx="0" ky="0" rotWithShape="0" sx="100000" sy="100000">
              <a:srgbClr val="000000">
                <a:alpha val="18000"/>
              </a:srgbClr>
            </a:outerShdw>
          </a:effectLst>
        </p:spPr>
      </p:pic>
      <p:sp>
        <p:nvSpPr>
          <p:cNvPr id="306" name="Text 129"/>
          <p:cNvSpPr/>
          <p:nvPr/>
        </p:nvSpPr>
        <p:spPr>
          <a:xfrm>
            <a:off x="6355080" y="6053400"/>
            <a:ext cx="53481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50" spc="-1" strike="noStrike">
                <a:solidFill>
                  <a:srgbClr val="8c8270"/>
                </a:solidFill>
                <a:latin typeface="Calibri"/>
                <a:ea typeface="Calibri"/>
              </a:rPr>
              <a:t>Nouvelle disposition : harpe centrale dégagée, barrière rapprochée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Shape 88"/>
          <p:cNvSpPr/>
          <p:nvPr/>
        </p:nvSpPr>
        <p:spPr>
          <a:xfrm>
            <a:off x="11475720" y="6437520"/>
            <a:ext cx="108720" cy="108720"/>
          </a:xfrm>
          <a:prstGeom prst="ellipse">
            <a:avLst/>
          </a:prstGeom>
          <a:solidFill>
            <a:srgbClr val="e0a5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2760" bIns="32760" anchor="t">
            <a:noAutofit/>
          </a:bodyPr>
          <a:p>
            <a:pPr>
              <a:lnSpc>
                <a:spcPct val="100000"/>
              </a:lnSpc>
            </a:pPr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Text 130"/>
          <p:cNvSpPr/>
          <p:nvPr/>
        </p:nvSpPr>
        <p:spPr>
          <a:xfrm>
            <a:off x="8595360" y="6327720"/>
            <a:ext cx="278784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8c8270"/>
                </a:solidFill>
                <a:latin typeface="Calibri"/>
                <a:ea typeface="Calibri"/>
              </a:rPr>
              <a:t>17 / 17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Text 131"/>
          <p:cNvSpPr/>
          <p:nvPr/>
        </p:nvSpPr>
        <p:spPr>
          <a:xfrm>
            <a:off x="502920" y="6327720"/>
            <a:ext cx="548532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a99f8c"/>
                </a:solidFill>
                <a:latin typeface="Calibri"/>
                <a:ea typeface="Calibri"/>
              </a:rPr>
              <a:t>Harpe anti-frelons asiatiques - © J.N. Simonnet - 2026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319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Shape 0"/>
          <p:cNvSpPr/>
          <p:nvPr/>
        </p:nvSpPr>
        <p:spPr>
          <a:xfrm>
            <a:off x="-1463040" y="-1463040"/>
            <a:ext cx="3016440" cy="3016440"/>
          </a:xfrm>
          <a:prstGeom prst="ellipse">
            <a:avLst/>
          </a:prstGeom>
          <a:solidFill>
            <a:srgbClr val="e0a526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Shape 1"/>
          <p:cNvSpPr/>
          <p:nvPr/>
        </p:nvSpPr>
        <p:spPr>
          <a:xfrm>
            <a:off x="10881360" y="5212080"/>
            <a:ext cx="2742120" cy="2742120"/>
          </a:xfrm>
          <a:prstGeom prst="ellipse">
            <a:avLst/>
          </a:prstGeom>
          <a:solidFill>
            <a:srgbClr val="e0a526">
              <a:alpha val="1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Text 2"/>
          <p:cNvSpPr/>
          <p:nvPr/>
        </p:nvSpPr>
        <p:spPr>
          <a:xfrm>
            <a:off x="1005840" y="2331720"/>
            <a:ext cx="731412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600" spc="392" strike="noStrike">
                <a:solidFill>
                  <a:srgbClr val="e0a526"/>
                </a:solidFill>
                <a:latin typeface="Calibri"/>
                <a:ea typeface="Calibri"/>
              </a:rPr>
              <a:t>PARTIE 5</a:t>
            </a:r>
            <a:endParaRPr b="0" lang="fr-F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3" name="Text 3"/>
          <p:cNvSpPr/>
          <p:nvPr/>
        </p:nvSpPr>
        <p:spPr>
          <a:xfrm>
            <a:off x="960120" y="2743200"/>
            <a:ext cx="10057320" cy="11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400" spc="-1" strike="noStrike">
                <a:solidFill>
                  <a:srgbClr val="ffffff"/>
                </a:solidFill>
                <a:latin typeface="Georgia"/>
                <a:ea typeface="Georgia"/>
              </a:rPr>
              <a:t>Fabriquer soi-même</a:t>
            </a:r>
            <a:endParaRPr b="0" lang="fr-FR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4" name="Shape 4"/>
          <p:cNvSpPr/>
          <p:nvPr/>
        </p:nvSpPr>
        <p:spPr>
          <a:xfrm>
            <a:off x="1005840" y="3977640"/>
            <a:ext cx="1370520" cy="53640"/>
          </a:xfrm>
          <a:prstGeom prst="rect">
            <a:avLst/>
          </a:prstGeom>
          <a:solidFill>
            <a:srgbClr val="c844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5" name="Text 5"/>
          <p:cNvSpPr/>
          <p:nvPr/>
        </p:nvSpPr>
        <p:spPr>
          <a:xfrm>
            <a:off x="1005840" y="4206240"/>
            <a:ext cx="960012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cfc6b4"/>
                </a:solidFill>
                <a:latin typeface="Calibri"/>
                <a:ea typeface="Calibri"/>
              </a:rPr>
              <a:t>Critères de conception, points d'attention et réalisation</a:t>
            </a:r>
            <a:endParaRPr b="0" lang="fr-FR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6" name="Text 6"/>
          <p:cNvSpPr/>
          <p:nvPr/>
        </p:nvSpPr>
        <p:spPr>
          <a:xfrm>
            <a:off x="8595360" y="914400"/>
            <a:ext cx="3656520" cy="502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0" spc="-1" strike="noStrike">
                <a:solidFill>
                  <a:srgbClr val="33260f"/>
                </a:solidFill>
                <a:latin typeface="Georgia"/>
                <a:ea typeface="Georgia"/>
              </a:rPr>
              <a:t>5</a:t>
            </a:r>
            <a:endParaRPr b="0" lang="fr-FR" sz="300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Shape 0"/>
          <p:cNvSpPr/>
          <p:nvPr/>
        </p:nvSpPr>
        <p:spPr>
          <a:xfrm>
            <a:off x="502920" y="457200"/>
            <a:ext cx="145080" cy="712080"/>
          </a:xfrm>
          <a:prstGeom prst="rect">
            <a:avLst/>
          </a:prstGeom>
          <a:solidFill>
            <a:srgbClr val="e0a5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Text 1"/>
          <p:cNvSpPr/>
          <p:nvPr/>
        </p:nvSpPr>
        <p:spPr>
          <a:xfrm>
            <a:off x="777240" y="420480"/>
            <a:ext cx="106059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194" strike="noStrike">
                <a:solidFill>
                  <a:srgbClr val="9c6e12"/>
                </a:solidFill>
                <a:latin typeface="Calibri"/>
                <a:ea typeface="Calibri"/>
              </a:rPr>
              <a:t>PARTIE 3 · CONCEPTION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Text 2"/>
          <p:cNvSpPr/>
          <p:nvPr/>
        </p:nvSpPr>
        <p:spPr>
          <a:xfrm>
            <a:off x="777240" y="658440"/>
            <a:ext cx="108802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23190e"/>
                </a:solidFill>
                <a:latin typeface="Georgia"/>
                <a:ea typeface="Georgia"/>
              </a:rPr>
              <a:t>Le point d'attention n°1 : l'isolation</a:t>
            </a:r>
            <a:endParaRPr b="0" lang="fr-F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Text 3"/>
          <p:cNvSpPr/>
          <p:nvPr/>
        </p:nvSpPr>
        <p:spPr>
          <a:xfrm>
            <a:off x="640080" y="1481400"/>
            <a:ext cx="1097172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615749"/>
                </a:solidFill>
                <a:latin typeface="Calibri"/>
                <a:ea typeface="Calibri"/>
              </a:rPr>
              <a:t>Une isolation irréprochable conditionne un fonctionnement durable — surtout après la pluie : le bois mouillé met des heures à sécher et fait s’écrouler la HT pendant ce temps.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Shape 4"/>
          <p:cNvSpPr/>
          <p:nvPr/>
        </p:nvSpPr>
        <p:spPr>
          <a:xfrm>
            <a:off x="640080" y="2331720"/>
            <a:ext cx="3290760" cy="1416240"/>
          </a:xfrm>
          <a:prstGeom prst="rect">
            <a:avLst/>
          </a:prstGeom>
          <a:solidFill>
            <a:srgbClr val="fbebe6"/>
          </a:solidFill>
          <a:ln w="12700">
            <a:solidFill>
              <a:srgbClr val="c844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Text 5"/>
          <p:cNvSpPr/>
          <p:nvPr/>
        </p:nvSpPr>
        <p:spPr>
          <a:xfrm>
            <a:off x="640080" y="2395800"/>
            <a:ext cx="329076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400" spc="-1" strike="noStrike">
                <a:solidFill>
                  <a:srgbClr val="c8442e"/>
                </a:solidFill>
                <a:latin typeface="Georgia"/>
                <a:ea typeface="Georgia"/>
              </a:rPr>
              <a:t>≈ </a:t>
            </a:r>
            <a:r>
              <a:rPr b="1" lang="en-US" sz="3400" spc="-1" strike="noStrike">
                <a:solidFill>
                  <a:srgbClr val="c8442e"/>
                </a:solidFill>
                <a:latin typeface="Georgia"/>
                <a:ea typeface="Georgia"/>
              </a:rPr>
              <a:t>4 Ω</a:t>
            </a:r>
            <a:endParaRPr b="0" lang="fr-FR" sz="3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Text 6"/>
          <p:cNvSpPr/>
          <p:nvPr/>
        </p:nvSpPr>
        <p:spPr>
          <a:xfrm>
            <a:off x="777240" y="3035880"/>
            <a:ext cx="3016440" cy="65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7a2a1c"/>
                </a:solidFill>
                <a:latin typeface="Calibri"/>
                <a:ea typeface="Calibri"/>
              </a:rPr>
              <a:t>Résistance d'un pont de bois mouillé (2,5 cm) — suffit à écrouler la HT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Shape 7"/>
          <p:cNvSpPr/>
          <p:nvPr/>
        </p:nvSpPr>
        <p:spPr>
          <a:xfrm>
            <a:off x="4069080" y="2331720"/>
            <a:ext cx="3290760" cy="1416240"/>
          </a:xfrm>
          <a:prstGeom prst="rect">
            <a:avLst/>
          </a:prstGeom>
          <a:solidFill>
            <a:srgbClr val="f4f1ea"/>
          </a:solidFill>
          <a:ln w="12700">
            <a:solidFill>
              <a:srgbClr val="e7e0d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Text 8"/>
          <p:cNvSpPr/>
          <p:nvPr/>
        </p:nvSpPr>
        <p:spPr>
          <a:xfrm>
            <a:off x="4069080" y="2395800"/>
            <a:ext cx="329076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400" spc="-1" strike="noStrike">
                <a:solidFill>
                  <a:srgbClr val="9c6e12"/>
                </a:solidFill>
                <a:latin typeface="Georgia"/>
                <a:ea typeface="Georgia"/>
              </a:rPr>
              <a:t>2,5 mm</a:t>
            </a:r>
            <a:endParaRPr b="0" lang="fr-FR" sz="3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Text 9"/>
          <p:cNvSpPr/>
          <p:nvPr/>
        </p:nvSpPr>
        <p:spPr>
          <a:xfrm>
            <a:off x="4206240" y="3035880"/>
            <a:ext cx="3016440" cy="65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615749"/>
                </a:solidFill>
                <a:latin typeface="Calibri"/>
                <a:ea typeface="Calibri"/>
              </a:rPr>
              <a:t>Écart entre plans de fils — l'air </a:t>
            </a:r>
            <a:r>
              <a:rPr b="1" lang="en-US" sz="1100" spc="-1" strike="noStrike">
                <a:solidFill>
                  <a:srgbClr val="615749"/>
                </a:solidFill>
                <a:latin typeface="Calibri"/>
                <a:ea typeface="Calibri"/>
              </a:rPr>
              <a:t>sec</a:t>
            </a:r>
            <a:r>
              <a:rPr b="0" lang="en-US" sz="1100" spc="-1" strike="noStrike">
                <a:solidFill>
                  <a:srgbClr val="615749"/>
                </a:solidFill>
                <a:latin typeface="Calibri"/>
                <a:ea typeface="Calibri"/>
              </a:rPr>
              <a:t> (3 kV/mm) isole largement les 2 kV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Text 10"/>
          <p:cNvSpPr/>
          <p:nvPr/>
        </p:nvSpPr>
        <p:spPr>
          <a:xfrm>
            <a:off x="640080" y="4069080"/>
            <a:ext cx="67654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9c6e12"/>
                </a:solidFill>
                <a:latin typeface="Calibri"/>
                <a:ea typeface="Calibri"/>
              </a:rPr>
              <a:t>Les mesures prises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Shape 11"/>
          <p:cNvSpPr/>
          <p:nvPr/>
        </p:nvSpPr>
        <p:spPr>
          <a:xfrm>
            <a:off x="658440" y="4572000"/>
            <a:ext cx="136080" cy="136080"/>
          </a:xfrm>
          <a:prstGeom prst="ellipse">
            <a:avLst/>
          </a:prstGeom>
          <a:solidFill>
            <a:srgbClr val="5e7d3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9" name="Text 12"/>
          <p:cNvSpPr/>
          <p:nvPr/>
        </p:nvSpPr>
        <p:spPr>
          <a:xfrm>
            <a:off x="914400" y="4480560"/>
            <a:ext cx="649116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615749"/>
                </a:solidFill>
                <a:latin typeface="Calibri"/>
                <a:ea typeface="Calibri"/>
              </a:rPr>
              <a:t>Pièces plastique partout où le bois toucherait les fils</a:t>
            </a:r>
            <a:endParaRPr b="0" lang="fr-F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Shape 13"/>
          <p:cNvSpPr/>
          <p:nvPr/>
        </p:nvSpPr>
        <p:spPr>
          <a:xfrm>
            <a:off x="658440" y="5029200"/>
            <a:ext cx="136080" cy="136080"/>
          </a:xfrm>
          <a:prstGeom prst="ellipse">
            <a:avLst/>
          </a:prstGeom>
          <a:solidFill>
            <a:srgbClr val="5e7d3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1" name="Text 14"/>
          <p:cNvSpPr/>
          <p:nvPr/>
        </p:nvSpPr>
        <p:spPr>
          <a:xfrm>
            <a:off x="914400" y="4937760"/>
            <a:ext cx="649116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615749"/>
                </a:solidFill>
                <a:latin typeface="Calibri"/>
                <a:ea typeface="Calibri"/>
              </a:rPr>
              <a:t>≥ </a:t>
            </a:r>
            <a:r>
              <a:rPr b="0" lang="en-US" sz="1250" spc="-1" strike="noStrike">
                <a:solidFill>
                  <a:srgbClr val="615749"/>
                </a:solidFill>
                <a:latin typeface="Calibri"/>
                <a:ea typeface="Calibri"/>
              </a:rPr>
              <a:t>3 couches de vernis marin sur tout le bois (durabilité + isolation)</a:t>
            </a:r>
            <a:endParaRPr b="0" lang="fr-F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Shape 15"/>
          <p:cNvSpPr/>
          <p:nvPr/>
        </p:nvSpPr>
        <p:spPr>
          <a:xfrm>
            <a:off x="658440" y="5486400"/>
            <a:ext cx="136080" cy="136080"/>
          </a:xfrm>
          <a:prstGeom prst="ellipse">
            <a:avLst/>
          </a:prstGeom>
          <a:solidFill>
            <a:srgbClr val="5e7d3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3" name="Text 16"/>
          <p:cNvSpPr/>
          <p:nvPr/>
        </p:nvSpPr>
        <p:spPr>
          <a:xfrm>
            <a:off x="914400" y="5394960"/>
            <a:ext cx="649116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615749"/>
                </a:solidFill>
                <a:latin typeface="Calibri"/>
                <a:ea typeface="Calibri"/>
              </a:rPr>
              <a:t>Manchons thermo-rétractables là où les fils sont proches</a:t>
            </a:r>
            <a:endParaRPr b="0" lang="fr-F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Shape 17"/>
          <p:cNvSpPr/>
          <p:nvPr/>
        </p:nvSpPr>
        <p:spPr>
          <a:xfrm>
            <a:off x="658440" y="5943600"/>
            <a:ext cx="136080" cy="136080"/>
          </a:xfrm>
          <a:prstGeom prst="ellipse">
            <a:avLst/>
          </a:prstGeom>
          <a:solidFill>
            <a:srgbClr val="5e7d3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5" name="Text 18"/>
          <p:cNvSpPr/>
          <p:nvPr/>
        </p:nvSpPr>
        <p:spPr>
          <a:xfrm>
            <a:off x="914400" y="5852160"/>
            <a:ext cx="649116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615749"/>
                </a:solidFill>
                <a:latin typeface="Calibri"/>
                <a:ea typeface="Calibri"/>
              </a:rPr>
              <a:t>Chapeau anti-pluie + pas d'accumulation d'eau (évaporation rapide)</a:t>
            </a:r>
            <a:endParaRPr b="0" lang="fr-FR" sz="12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36" name="Image 0" descr="/tmp/assets/bar_isolators.jpg"/>
          <p:cNvPicPr/>
          <p:nvPr/>
        </p:nvPicPr>
        <p:blipFill>
          <a:blip r:embed="rId1"/>
          <a:stretch/>
        </p:blipFill>
        <p:spPr>
          <a:xfrm>
            <a:off x="7635240" y="2356920"/>
            <a:ext cx="4113720" cy="1404000"/>
          </a:xfrm>
          <a:prstGeom prst="rect">
            <a:avLst/>
          </a:prstGeom>
          <a:ln w="0">
            <a:noFill/>
          </a:ln>
          <a:effectLst>
            <a:outerShdw algn="bl" blurRad="114480" dir="5400000" dist="38160" kx="0" ky="0" rotWithShape="0" sx="100000" sy="100000">
              <a:srgbClr val="000000">
                <a:alpha val="18000"/>
              </a:srgbClr>
            </a:outerShdw>
          </a:effectLst>
        </p:spPr>
      </p:pic>
      <p:pic>
        <p:nvPicPr>
          <p:cNvPr id="337" name="Image 1" descr="/tmp/assets/isolator_3d.jpg"/>
          <p:cNvPicPr/>
          <p:nvPr/>
        </p:nvPicPr>
        <p:blipFill>
          <a:blip r:embed="rId2"/>
          <a:stretch/>
        </p:blipFill>
        <p:spPr>
          <a:xfrm>
            <a:off x="7984440" y="4428000"/>
            <a:ext cx="2595600" cy="1827720"/>
          </a:xfrm>
          <a:prstGeom prst="rect">
            <a:avLst/>
          </a:prstGeom>
          <a:ln w="0">
            <a:noFill/>
          </a:ln>
          <a:effectLst>
            <a:outerShdw algn="bl" blurRad="114480" dir="5400000" dist="38160" kx="0" ky="0" rotWithShape="0" sx="100000" sy="100000">
              <a:srgbClr val="000000">
                <a:alpha val="18000"/>
              </a:srgbClr>
            </a:outerShdw>
          </a:effectLst>
        </p:spPr>
      </p:pic>
      <p:sp>
        <p:nvSpPr>
          <p:cNvPr id="338" name="Text 19"/>
          <p:cNvSpPr/>
          <p:nvPr/>
        </p:nvSpPr>
        <p:spPr>
          <a:xfrm>
            <a:off x="7225560" y="6211080"/>
            <a:ext cx="41137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8c8270"/>
                </a:solidFill>
                <a:latin typeface="Calibri"/>
                <a:ea typeface="Calibri"/>
              </a:rPr>
              <a:t>Barre transversale isolée · isolateur imprimé en 3D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Shape 20"/>
          <p:cNvSpPr/>
          <p:nvPr/>
        </p:nvSpPr>
        <p:spPr>
          <a:xfrm>
            <a:off x="11475720" y="6437520"/>
            <a:ext cx="108720" cy="108720"/>
          </a:xfrm>
          <a:prstGeom prst="ellipse">
            <a:avLst/>
          </a:prstGeom>
          <a:solidFill>
            <a:srgbClr val="e0a5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2760" bIns="3276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Text 21"/>
          <p:cNvSpPr/>
          <p:nvPr/>
        </p:nvSpPr>
        <p:spPr>
          <a:xfrm>
            <a:off x="10424160" y="6327720"/>
            <a:ext cx="95904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8c8270"/>
                </a:solidFill>
                <a:latin typeface="Calibri"/>
                <a:ea typeface="Calibri"/>
              </a:rPr>
              <a:t>5 / 17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Text 22"/>
          <p:cNvSpPr/>
          <p:nvPr/>
        </p:nvSpPr>
        <p:spPr>
          <a:xfrm>
            <a:off x="502920" y="6327720"/>
            <a:ext cx="548532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a99f8c"/>
                </a:solidFill>
                <a:latin typeface="Calibri"/>
                <a:ea typeface="Calibri"/>
              </a:rPr>
              <a:t>Harpe anti-frelons asiatiques - © J.N. Simonnet - 2026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Shape 0"/>
          <p:cNvSpPr/>
          <p:nvPr/>
        </p:nvSpPr>
        <p:spPr>
          <a:xfrm>
            <a:off x="502920" y="457200"/>
            <a:ext cx="145080" cy="712080"/>
          </a:xfrm>
          <a:prstGeom prst="rect">
            <a:avLst/>
          </a:prstGeom>
          <a:solidFill>
            <a:srgbClr val="e0a5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Text 1"/>
          <p:cNvSpPr/>
          <p:nvPr/>
        </p:nvSpPr>
        <p:spPr>
          <a:xfrm>
            <a:off x="777240" y="420480"/>
            <a:ext cx="106059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194" strike="noStrike">
                <a:solidFill>
                  <a:srgbClr val="9c6e12"/>
                </a:solidFill>
                <a:latin typeface="Calibri"/>
                <a:ea typeface="Calibri"/>
              </a:rPr>
              <a:t>PARTIE 3 · CONCEPTION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Text 2"/>
          <p:cNvSpPr/>
          <p:nvPr/>
        </p:nvSpPr>
        <p:spPr>
          <a:xfrm>
            <a:off x="777240" y="658440"/>
            <a:ext cx="108802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23190e"/>
                </a:solidFill>
                <a:latin typeface="Georgia"/>
                <a:ea typeface="Georgia"/>
              </a:rPr>
              <a:t>Mes améliorations sur le design d'origine</a:t>
            </a:r>
            <a:endParaRPr b="0" lang="fr-F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Shape 3"/>
          <p:cNvSpPr/>
          <p:nvPr/>
        </p:nvSpPr>
        <p:spPr>
          <a:xfrm>
            <a:off x="640080" y="1554480"/>
            <a:ext cx="3565080" cy="1416240"/>
          </a:xfrm>
          <a:prstGeom prst="rect">
            <a:avLst/>
          </a:prstGeom>
          <a:solidFill>
            <a:srgbClr val="f4f1ea"/>
          </a:solidFill>
          <a:ln w="12700">
            <a:solidFill>
              <a:srgbClr val="e7e0d2"/>
            </a:solidFill>
            <a:round/>
          </a:ln>
          <a:effectLst>
            <a:outerShdw algn="bl" blurRad="11448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Shape 4"/>
          <p:cNvSpPr/>
          <p:nvPr/>
        </p:nvSpPr>
        <p:spPr>
          <a:xfrm>
            <a:off x="841320" y="1755720"/>
            <a:ext cx="383040" cy="383040"/>
          </a:xfrm>
          <a:prstGeom prst="ellipse">
            <a:avLst/>
          </a:prstGeom>
          <a:solidFill>
            <a:srgbClr val="e0a5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Text 5"/>
          <p:cNvSpPr/>
          <p:nvPr/>
        </p:nvSpPr>
        <p:spPr>
          <a:xfrm>
            <a:off x="841320" y="1755720"/>
            <a:ext cx="38304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23190e"/>
                </a:solidFill>
                <a:latin typeface="Georgia"/>
                <a:ea typeface="Georgia"/>
              </a:rPr>
              <a:t>1</a:t>
            </a:r>
            <a:endParaRPr b="0" lang="fr-F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Text 6"/>
          <p:cNvSpPr/>
          <p:nvPr/>
        </p:nvSpPr>
        <p:spPr>
          <a:xfrm>
            <a:off x="1371600" y="1737360"/>
            <a:ext cx="265068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23190e"/>
                </a:solidFill>
                <a:latin typeface="Calibri"/>
                <a:ea typeface="Calibri"/>
              </a:rPr>
              <a:t>Pièces imprimées en 3D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Text 7"/>
          <p:cNvSpPr/>
          <p:nvPr/>
        </p:nvSpPr>
        <p:spPr>
          <a:xfrm>
            <a:off x="859680" y="2267640"/>
            <a:ext cx="312624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615749"/>
                </a:solidFill>
                <a:latin typeface="Calibri"/>
                <a:ea typeface="Calibri"/>
              </a:rPr>
              <a:t>Espacement précis (±0,5 mm) et durabilité : fini la gaine annelée détruite par les UV.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Shape 8"/>
          <p:cNvSpPr/>
          <p:nvPr/>
        </p:nvSpPr>
        <p:spPr>
          <a:xfrm>
            <a:off x="4453200" y="1554480"/>
            <a:ext cx="3565080" cy="1416240"/>
          </a:xfrm>
          <a:prstGeom prst="rect">
            <a:avLst/>
          </a:prstGeom>
          <a:solidFill>
            <a:srgbClr val="f4f1ea"/>
          </a:solidFill>
          <a:ln w="12700">
            <a:solidFill>
              <a:srgbClr val="e7e0d2"/>
            </a:solidFill>
            <a:round/>
          </a:ln>
          <a:effectLst>
            <a:outerShdw algn="bl" blurRad="11448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Shape 9"/>
          <p:cNvSpPr/>
          <p:nvPr/>
        </p:nvSpPr>
        <p:spPr>
          <a:xfrm>
            <a:off x="4654440" y="1755720"/>
            <a:ext cx="383040" cy="383040"/>
          </a:xfrm>
          <a:prstGeom prst="ellipse">
            <a:avLst/>
          </a:prstGeom>
          <a:solidFill>
            <a:srgbClr val="e0a5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Text 10"/>
          <p:cNvSpPr/>
          <p:nvPr/>
        </p:nvSpPr>
        <p:spPr>
          <a:xfrm>
            <a:off x="4654440" y="1755720"/>
            <a:ext cx="38304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23190e"/>
                </a:solidFill>
                <a:latin typeface="Georgia"/>
                <a:ea typeface="Georgia"/>
              </a:rPr>
              <a:t>2</a:t>
            </a:r>
            <a:endParaRPr b="0" lang="fr-F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Text 11"/>
          <p:cNvSpPr/>
          <p:nvPr/>
        </p:nvSpPr>
        <p:spPr>
          <a:xfrm>
            <a:off x="5184720" y="1737360"/>
            <a:ext cx="265068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23190e"/>
                </a:solidFill>
                <a:latin typeface="Calibri"/>
                <a:ea typeface="Calibri"/>
              </a:rPr>
              <a:t>Sécurité court-circuit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Text 12"/>
          <p:cNvSpPr/>
          <p:nvPr/>
        </p:nvSpPr>
        <p:spPr>
          <a:xfrm>
            <a:off x="4672440" y="2267640"/>
            <a:ext cx="312624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615749"/>
                </a:solidFill>
                <a:latin typeface="Calibri"/>
                <a:ea typeface="Calibri"/>
              </a:rPr>
              <a:t>Un court-circuit détruisait le condensateur 100 nF → simple étourdissement. Protection ajoutée.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Shape 13"/>
          <p:cNvSpPr/>
          <p:nvPr/>
        </p:nvSpPr>
        <p:spPr>
          <a:xfrm>
            <a:off x="8266320" y="1554480"/>
            <a:ext cx="3565080" cy="1416240"/>
          </a:xfrm>
          <a:prstGeom prst="rect">
            <a:avLst/>
          </a:prstGeom>
          <a:solidFill>
            <a:srgbClr val="f4f1ea"/>
          </a:solidFill>
          <a:ln w="12700">
            <a:solidFill>
              <a:srgbClr val="e7e0d2"/>
            </a:solidFill>
            <a:round/>
          </a:ln>
          <a:effectLst>
            <a:outerShdw algn="bl" blurRad="11448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Shape 14"/>
          <p:cNvSpPr/>
          <p:nvPr/>
        </p:nvSpPr>
        <p:spPr>
          <a:xfrm>
            <a:off x="8467200" y="1755720"/>
            <a:ext cx="383040" cy="383040"/>
          </a:xfrm>
          <a:prstGeom prst="ellipse">
            <a:avLst/>
          </a:prstGeom>
          <a:solidFill>
            <a:srgbClr val="e0a5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Text 15"/>
          <p:cNvSpPr/>
          <p:nvPr/>
        </p:nvSpPr>
        <p:spPr>
          <a:xfrm>
            <a:off x="8467200" y="1755720"/>
            <a:ext cx="38304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23190e"/>
                </a:solidFill>
                <a:latin typeface="Georgia"/>
                <a:ea typeface="Georgia"/>
              </a:rPr>
              <a:t>3</a:t>
            </a:r>
            <a:endParaRPr b="0" lang="fr-F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Text 16"/>
          <p:cNvSpPr/>
          <p:nvPr/>
        </p:nvSpPr>
        <p:spPr>
          <a:xfrm>
            <a:off x="8997840" y="1737360"/>
            <a:ext cx="265068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23190e"/>
                </a:solidFill>
                <a:latin typeface="Calibri"/>
                <a:ea typeface="Calibri"/>
              </a:rPr>
              <a:t>Coupure rapide de la HT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Text 17"/>
          <p:cNvSpPr/>
          <p:nvPr/>
        </p:nvSpPr>
        <p:spPr>
          <a:xfrm>
            <a:off x="8485560" y="2267640"/>
            <a:ext cx="312624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615749"/>
                </a:solidFill>
                <a:latin typeface="Calibri"/>
                <a:ea typeface="Calibri"/>
              </a:rPr>
              <a:t>Sans elle, la HT subsiste 2–3 min après l'arrêt (décharge du condensateur) : risque opérateur.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Shape 18"/>
          <p:cNvSpPr/>
          <p:nvPr/>
        </p:nvSpPr>
        <p:spPr>
          <a:xfrm>
            <a:off x="640080" y="3200400"/>
            <a:ext cx="3565080" cy="1416240"/>
          </a:xfrm>
          <a:prstGeom prst="rect">
            <a:avLst/>
          </a:prstGeom>
          <a:solidFill>
            <a:srgbClr val="f4f1ea"/>
          </a:solidFill>
          <a:ln w="12700">
            <a:solidFill>
              <a:srgbClr val="e7e0d2"/>
            </a:solidFill>
            <a:round/>
          </a:ln>
          <a:effectLst>
            <a:outerShdw algn="bl" blurRad="11448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Shape 19"/>
          <p:cNvSpPr/>
          <p:nvPr/>
        </p:nvSpPr>
        <p:spPr>
          <a:xfrm>
            <a:off x="841320" y="3401640"/>
            <a:ext cx="383040" cy="383040"/>
          </a:xfrm>
          <a:prstGeom prst="ellipse">
            <a:avLst/>
          </a:prstGeom>
          <a:solidFill>
            <a:srgbClr val="e0a5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Text 20"/>
          <p:cNvSpPr/>
          <p:nvPr/>
        </p:nvSpPr>
        <p:spPr>
          <a:xfrm>
            <a:off x="841320" y="3401640"/>
            <a:ext cx="38304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23190e"/>
                </a:solidFill>
                <a:latin typeface="Georgia"/>
                <a:ea typeface="Georgia"/>
              </a:rPr>
              <a:t>4</a:t>
            </a:r>
            <a:endParaRPr b="0" lang="fr-F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Text 21"/>
          <p:cNvSpPr/>
          <p:nvPr/>
        </p:nvSpPr>
        <p:spPr>
          <a:xfrm>
            <a:off x="1371600" y="3383280"/>
            <a:ext cx="265068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23190e"/>
                </a:solidFill>
                <a:latin typeface="Calibri"/>
                <a:ea typeface="Calibri"/>
              </a:rPr>
              <a:t>Mesure de la HT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Text 22"/>
          <p:cNvSpPr/>
          <p:nvPr/>
        </p:nvSpPr>
        <p:spPr>
          <a:xfrm>
            <a:off x="859680" y="3913560"/>
            <a:ext cx="312624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615749"/>
                </a:solidFill>
                <a:latin typeface="Calibri"/>
                <a:ea typeface="Calibri"/>
              </a:rPr>
              <a:t>Détecte les déclenchements et, comparée au bac à eau, mesure l'efficacité du dispositif.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Shape 23"/>
          <p:cNvSpPr/>
          <p:nvPr/>
        </p:nvSpPr>
        <p:spPr>
          <a:xfrm>
            <a:off x="4453200" y="3200400"/>
            <a:ext cx="3565080" cy="1416240"/>
          </a:xfrm>
          <a:prstGeom prst="rect">
            <a:avLst/>
          </a:prstGeom>
          <a:solidFill>
            <a:srgbClr val="f4f1ea"/>
          </a:solidFill>
          <a:ln w="12700">
            <a:solidFill>
              <a:srgbClr val="e7e0d2"/>
            </a:solidFill>
            <a:round/>
          </a:ln>
          <a:effectLst>
            <a:outerShdw algn="bl" blurRad="11448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Shape 24"/>
          <p:cNvSpPr/>
          <p:nvPr/>
        </p:nvSpPr>
        <p:spPr>
          <a:xfrm>
            <a:off x="4654440" y="3401640"/>
            <a:ext cx="383040" cy="383040"/>
          </a:xfrm>
          <a:prstGeom prst="ellipse">
            <a:avLst/>
          </a:prstGeom>
          <a:solidFill>
            <a:srgbClr val="e0a5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Text 25"/>
          <p:cNvSpPr/>
          <p:nvPr/>
        </p:nvSpPr>
        <p:spPr>
          <a:xfrm>
            <a:off x="4654440" y="3401640"/>
            <a:ext cx="38304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23190e"/>
                </a:solidFill>
                <a:latin typeface="Georgia"/>
                <a:ea typeface="Georgia"/>
              </a:rPr>
              <a:t>5</a:t>
            </a:r>
            <a:endParaRPr b="0" lang="fr-F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Text 26"/>
          <p:cNvSpPr/>
          <p:nvPr/>
        </p:nvSpPr>
        <p:spPr>
          <a:xfrm>
            <a:off x="5184720" y="3383280"/>
            <a:ext cx="265068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23190e"/>
                </a:solidFill>
                <a:latin typeface="Calibri"/>
                <a:ea typeface="Calibri"/>
              </a:rPr>
              <a:t>Condensateur 470 nF / 2 kV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9" name="Text 27"/>
          <p:cNvSpPr/>
          <p:nvPr/>
        </p:nvSpPr>
        <p:spPr>
          <a:xfrm>
            <a:off x="4672440" y="3913560"/>
            <a:ext cx="312624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615749"/>
                </a:solidFill>
                <a:latin typeface="Calibri"/>
                <a:ea typeface="Calibri"/>
              </a:rPr>
              <a:t>Augmente l'énergie de décharge : tue le frelon au lieu de seulement l'étourdir.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" name="Shape 28"/>
          <p:cNvSpPr/>
          <p:nvPr/>
        </p:nvSpPr>
        <p:spPr>
          <a:xfrm>
            <a:off x="8266320" y="3200400"/>
            <a:ext cx="3565080" cy="1416240"/>
          </a:xfrm>
          <a:prstGeom prst="rect">
            <a:avLst/>
          </a:prstGeom>
          <a:solidFill>
            <a:srgbClr val="f4f1ea"/>
          </a:solidFill>
          <a:ln w="12700">
            <a:solidFill>
              <a:srgbClr val="e7e0d2"/>
            </a:solidFill>
            <a:round/>
          </a:ln>
          <a:effectLst>
            <a:outerShdw algn="bl" blurRad="11448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Shape 29"/>
          <p:cNvSpPr/>
          <p:nvPr/>
        </p:nvSpPr>
        <p:spPr>
          <a:xfrm>
            <a:off x="8467200" y="3401640"/>
            <a:ext cx="383040" cy="383040"/>
          </a:xfrm>
          <a:prstGeom prst="ellipse">
            <a:avLst/>
          </a:prstGeom>
          <a:solidFill>
            <a:srgbClr val="e0a5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Text 30"/>
          <p:cNvSpPr/>
          <p:nvPr/>
        </p:nvSpPr>
        <p:spPr>
          <a:xfrm>
            <a:off x="8467200" y="3401640"/>
            <a:ext cx="38304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23190e"/>
                </a:solidFill>
                <a:latin typeface="Georgia"/>
                <a:ea typeface="Georgia"/>
              </a:rPr>
              <a:t>6</a:t>
            </a:r>
            <a:endParaRPr b="0" lang="fr-FR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3" name="Text 31"/>
          <p:cNvSpPr/>
          <p:nvPr/>
        </p:nvSpPr>
        <p:spPr>
          <a:xfrm>
            <a:off x="8997840" y="3383280"/>
            <a:ext cx="265068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23190e"/>
                </a:solidFill>
                <a:latin typeface="Calibri"/>
                <a:ea typeface="Calibri"/>
              </a:rPr>
              <a:t>Objet connecté (LoRaWAN)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Text 32"/>
          <p:cNvSpPr/>
          <p:nvPr/>
        </p:nvSpPr>
        <p:spPr>
          <a:xfrm>
            <a:off x="8485560" y="3913560"/>
            <a:ext cx="312624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615749"/>
                </a:solidFill>
                <a:latin typeface="Calibri"/>
                <a:ea typeface="Calibri"/>
              </a:rPr>
              <a:t>Suivi de l'activité du frelon dans le temps et de l'efficacité, à distance.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Shape 33"/>
          <p:cNvSpPr/>
          <p:nvPr/>
        </p:nvSpPr>
        <p:spPr>
          <a:xfrm>
            <a:off x="11475720" y="6437520"/>
            <a:ext cx="108720" cy="108720"/>
          </a:xfrm>
          <a:prstGeom prst="ellipse">
            <a:avLst/>
          </a:prstGeom>
          <a:solidFill>
            <a:srgbClr val="e0a5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2760" bIns="3276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Text 34"/>
          <p:cNvSpPr/>
          <p:nvPr/>
        </p:nvSpPr>
        <p:spPr>
          <a:xfrm>
            <a:off x="10424160" y="6327720"/>
            <a:ext cx="95904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8c8270"/>
                </a:solidFill>
                <a:latin typeface="Calibri"/>
                <a:ea typeface="Calibri"/>
              </a:rPr>
              <a:t>6 / 17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Text 35"/>
          <p:cNvSpPr/>
          <p:nvPr/>
        </p:nvSpPr>
        <p:spPr>
          <a:xfrm>
            <a:off x="502920" y="6327720"/>
            <a:ext cx="548532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a99f8c"/>
                </a:solidFill>
                <a:latin typeface="Calibri"/>
                <a:ea typeface="Calibri"/>
              </a:rPr>
              <a:t>Harpe anti-frelons asiatiques - © J.N. Simonnet - 2026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Shape 0"/>
          <p:cNvSpPr/>
          <p:nvPr/>
        </p:nvSpPr>
        <p:spPr>
          <a:xfrm>
            <a:off x="502920" y="457200"/>
            <a:ext cx="145080" cy="712080"/>
          </a:xfrm>
          <a:prstGeom prst="rect">
            <a:avLst/>
          </a:prstGeom>
          <a:solidFill>
            <a:srgbClr val="e0a5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Text 1"/>
          <p:cNvSpPr/>
          <p:nvPr/>
        </p:nvSpPr>
        <p:spPr>
          <a:xfrm>
            <a:off x="777240" y="420480"/>
            <a:ext cx="106059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194" strike="noStrike">
                <a:solidFill>
                  <a:srgbClr val="9c6e12"/>
                </a:solidFill>
                <a:latin typeface="Calibri"/>
                <a:ea typeface="Calibri"/>
              </a:rPr>
              <a:t>PARTIE 3 · MÉCANIQUE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Text 2"/>
          <p:cNvSpPr/>
          <p:nvPr/>
        </p:nvSpPr>
        <p:spPr>
          <a:xfrm>
            <a:off x="777240" y="658440"/>
            <a:ext cx="108802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23190e"/>
                </a:solidFill>
                <a:latin typeface="Georgia"/>
                <a:ea typeface="Georgia"/>
              </a:rPr>
              <a:t>Construire les harpes : l'essentiel</a:t>
            </a:r>
            <a:endParaRPr b="0" lang="fr-F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" name="Shape 3"/>
          <p:cNvSpPr/>
          <p:nvPr/>
        </p:nvSpPr>
        <p:spPr>
          <a:xfrm>
            <a:off x="640080" y="1554480"/>
            <a:ext cx="2669040" cy="1141920"/>
          </a:xfrm>
          <a:prstGeom prst="rect">
            <a:avLst/>
          </a:prstGeom>
          <a:solidFill>
            <a:srgbClr val="23190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2" name="Text 4"/>
          <p:cNvSpPr/>
          <p:nvPr/>
        </p:nvSpPr>
        <p:spPr>
          <a:xfrm>
            <a:off x="640080" y="1627560"/>
            <a:ext cx="266904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e0a526"/>
                </a:solidFill>
                <a:latin typeface="Georgia"/>
                <a:ea typeface="Georgia"/>
              </a:rPr>
              <a:t>3</a:t>
            </a:r>
            <a:endParaRPr b="0" lang="fr-F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Text 5"/>
          <p:cNvSpPr/>
          <p:nvPr/>
        </p:nvSpPr>
        <p:spPr>
          <a:xfrm>
            <a:off x="731520" y="2240280"/>
            <a:ext cx="248616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e9e1cf"/>
                </a:solidFill>
                <a:latin typeface="Calibri"/>
                <a:ea typeface="Calibri"/>
              </a:rPr>
              <a:t>harpes pour 5 ruches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Shape 6"/>
          <p:cNvSpPr/>
          <p:nvPr/>
        </p:nvSpPr>
        <p:spPr>
          <a:xfrm>
            <a:off x="3493080" y="1554480"/>
            <a:ext cx="2669040" cy="1141920"/>
          </a:xfrm>
          <a:prstGeom prst="rect">
            <a:avLst/>
          </a:prstGeom>
          <a:solidFill>
            <a:srgbClr val="23190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5" name="Text 7"/>
          <p:cNvSpPr/>
          <p:nvPr/>
        </p:nvSpPr>
        <p:spPr>
          <a:xfrm>
            <a:off x="3493080" y="1627560"/>
            <a:ext cx="266904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e0a526"/>
                </a:solidFill>
                <a:latin typeface="Georgia"/>
                <a:ea typeface="Georgia"/>
              </a:rPr>
              <a:t>72</a:t>
            </a:r>
            <a:endParaRPr b="0" lang="fr-F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Text 8"/>
          <p:cNvSpPr/>
          <p:nvPr/>
        </p:nvSpPr>
        <p:spPr>
          <a:xfrm>
            <a:off x="3584520" y="2240280"/>
            <a:ext cx="248616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e9e1cf"/>
                </a:solidFill>
                <a:latin typeface="Calibri"/>
                <a:ea typeface="Calibri"/>
              </a:rPr>
              <a:t>isolateurs 3D (24/harpe)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Shape 9"/>
          <p:cNvSpPr/>
          <p:nvPr/>
        </p:nvSpPr>
        <p:spPr>
          <a:xfrm>
            <a:off x="6346080" y="1554480"/>
            <a:ext cx="2669040" cy="1141920"/>
          </a:xfrm>
          <a:prstGeom prst="rect">
            <a:avLst/>
          </a:prstGeom>
          <a:solidFill>
            <a:srgbClr val="23190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8" name="Text 10"/>
          <p:cNvSpPr/>
          <p:nvPr/>
        </p:nvSpPr>
        <p:spPr>
          <a:xfrm>
            <a:off x="6346080" y="1627560"/>
            <a:ext cx="266904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e0a526"/>
                </a:solidFill>
                <a:latin typeface="Georgia"/>
                <a:ea typeface="Georgia"/>
              </a:rPr>
              <a:t>48 m</a:t>
            </a:r>
            <a:endParaRPr b="0" lang="fr-F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Text 11"/>
          <p:cNvSpPr/>
          <p:nvPr/>
        </p:nvSpPr>
        <p:spPr>
          <a:xfrm>
            <a:off x="6437520" y="2240280"/>
            <a:ext cx="248616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e9e1cf"/>
                </a:solidFill>
                <a:latin typeface="Calibri"/>
                <a:ea typeface="Calibri"/>
              </a:rPr>
              <a:t>de fil inox 0,5 mm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Shape 12"/>
          <p:cNvSpPr/>
          <p:nvPr/>
        </p:nvSpPr>
        <p:spPr>
          <a:xfrm>
            <a:off x="9198720" y="1554480"/>
            <a:ext cx="2669040" cy="1141920"/>
          </a:xfrm>
          <a:prstGeom prst="rect">
            <a:avLst/>
          </a:prstGeom>
          <a:solidFill>
            <a:srgbClr val="23190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1" name="Text 13"/>
          <p:cNvSpPr/>
          <p:nvPr/>
        </p:nvSpPr>
        <p:spPr>
          <a:xfrm>
            <a:off x="9198720" y="1627560"/>
            <a:ext cx="266904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e0a526"/>
                </a:solidFill>
                <a:latin typeface="Georgia"/>
                <a:ea typeface="Georgia"/>
              </a:rPr>
              <a:t>3 j</a:t>
            </a:r>
            <a:endParaRPr b="0" lang="fr-F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Text 14"/>
          <p:cNvSpPr/>
          <p:nvPr/>
        </p:nvSpPr>
        <p:spPr>
          <a:xfrm>
            <a:off x="9290160" y="2240280"/>
            <a:ext cx="248616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e9e1cf"/>
                </a:solidFill>
                <a:latin typeface="Calibri"/>
                <a:ea typeface="Calibri"/>
              </a:rPr>
              <a:t>de travail (séchage vernis)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Text 15"/>
          <p:cNvSpPr/>
          <p:nvPr/>
        </p:nvSpPr>
        <p:spPr>
          <a:xfrm>
            <a:off x="640080" y="2971800"/>
            <a:ext cx="56682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9c6e12"/>
                </a:solidFill>
                <a:latin typeface="Calibri"/>
                <a:ea typeface="Calibri"/>
              </a:rPr>
              <a:t>Matériel principal (3 harpes)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Shape 16"/>
          <p:cNvSpPr/>
          <p:nvPr/>
        </p:nvSpPr>
        <p:spPr>
          <a:xfrm>
            <a:off x="658440" y="3474720"/>
            <a:ext cx="136080" cy="136080"/>
          </a:xfrm>
          <a:prstGeom prst="ellipse">
            <a:avLst/>
          </a:prstGeom>
          <a:solidFill>
            <a:srgbClr val="e0a5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Text 17"/>
          <p:cNvSpPr/>
          <p:nvPr/>
        </p:nvSpPr>
        <p:spPr>
          <a:xfrm>
            <a:off x="914400" y="3383280"/>
            <a:ext cx="539388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615749"/>
                </a:solidFill>
                <a:latin typeface="Calibri"/>
                <a:ea typeface="Calibri"/>
              </a:rPr>
              <a:t>8 tasseaux bois 15×38 mm + planchettes chapeau + planches piétement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Shape 18"/>
          <p:cNvSpPr/>
          <p:nvPr/>
        </p:nvSpPr>
        <p:spPr>
          <a:xfrm>
            <a:off x="658440" y="4023360"/>
            <a:ext cx="136080" cy="136080"/>
          </a:xfrm>
          <a:prstGeom prst="ellipse">
            <a:avLst/>
          </a:prstGeom>
          <a:solidFill>
            <a:srgbClr val="e0a5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Text 19"/>
          <p:cNvSpPr/>
          <p:nvPr/>
        </p:nvSpPr>
        <p:spPr>
          <a:xfrm>
            <a:off x="914400" y="3931920"/>
            <a:ext cx="539388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615749"/>
                </a:solidFill>
                <a:latin typeface="Calibri"/>
                <a:ea typeface="Calibri"/>
              </a:rPr>
              <a:t>Fil inox 0,5 mm, équerres galva, vis ; câble souple 2G0,75 (HT)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Shape 20"/>
          <p:cNvSpPr/>
          <p:nvPr/>
        </p:nvSpPr>
        <p:spPr>
          <a:xfrm>
            <a:off x="658440" y="4572000"/>
            <a:ext cx="136080" cy="136080"/>
          </a:xfrm>
          <a:prstGeom prst="ellipse">
            <a:avLst/>
          </a:prstGeom>
          <a:solidFill>
            <a:srgbClr val="e0a5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Text 21"/>
          <p:cNvSpPr/>
          <p:nvPr/>
        </p:nvSpPr>
        <p:spPr>
          <a:xfrm>
            <a:off x="914400" y="4480560"/>
            <a:ext cx="539388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615749"/>
                </a:solidFill>
                <a:latin typeface="Calibri"/>
                <a:ea typeface="Calibri"/>
              </a:rPr>
              <a:t>72 isolateurs imprimés 3D + gaines thermo-rétractables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Shape 22"/>
          <p:cNvSpPr/>
          <p:nvPr/>
        </p:nvSpPr>
        <p:spPr>
          <a:xfrm>
            <a:off x="658440" y="5120640"/>
            <a:ext cx="136080" cy="136080"/>
          </a:xfrm>
          <a:prstGeom prst="ellipse">
            <a:avLst/>
          </a:prstGeom>
          <a:solidFill>
            <a:srgbClr val="e0a5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Text 23"/>
          <p:cNvSpPr/>
          <p:nvPr/>
        </p:nvSpPr>
        <p:spPr>
          <a:xfrm>
            <a:off x="914400" y="5029200"/>
            <a:ext cx="5393880" cy="50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615749"/>
                </a:solidFill>
                <a:latin typeface="Calibri"/>
                <a:ea typeface="Calibri"/>
              </a:rPr>
              <a:t>Vernis marin, plaques « Danger Haute Tension », connecteurs étanches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Text 24"/>
          <p:cNvSpPr/>
          <p:nvPr/>
        </p:nvSpPr>
        <p:spPr>
          <a:xfrm>
            <a:off x="640080" y="5715000"/>
            <a:ext cx="5668200" cy="7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50" spc="-1" strike="noStrike">
                <a:solidFill>
                  <a:srgbClr val="615749"/>
                </a:solidFill>
                <a:latin typeface="Calibri"/>
                <a:ea typeface="Calibri"/>
              </a:rPr>
              <a:t>Cadre 60 × 60 cm · 11 fils par plan × 2 plans · 14 étapes : vernir, imprimer les isolateurs, monter le cadre &amp; le piétement, enfiler puis tendre les fils, poser le chapeau.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03" name="Image 0" descr="/tmp/assets/frame_wires.jpg"/>
          <p:cNvPicPr/>
          <p:nvPr/>
        </p:nvPicPr>
        <p:blipFill>
          <a:blip r:embed="rId1"/>
          <a:stretch/>
        </p:blipFill>
        <p:spPr>
          <a:xfrm>
            <a:off x="6629400" y="3099960"/>
            <a:ext cx="2467800" cy="3034080"/>
          </a:xfrm>
          <a:prstGeom prst="rect">
            <a:avLst/>
          </a:prstGeom>
          <a:ln w="0">
            <a:noFill/>
          </a:ln>
          <a:effectLst>
            <a:outerShdw algn="bl" blurRad="114480" dir="5400000" dist="38160" kx="0" ky="0" rotWithShape="0" sx="100000" sy="100000">
              <a:srgbClr val="000000">
                <a:alpha val="18000"/>
              </a:srgbClr>
            </a:outerShdw>
          </a:effectLst>
        </p:spPr>
      </p:pic>
      <p:pic>
        <p:nvPicPr>
          <p:cNvPr id="404" name="Image 1" descr="/tmp/assets/inox_bars.jpg"/>
          <p:cNvPicPr/>
          <p:nvPr/>
        </p:nvPicPr>
        <p:blipFill>
          <a:blip r:embed="rId2"/>
          <a:stretch/>
        </p:blipFill>
        <p:spPr>
          <a:xfrm>
            <a:off x="9281160" y="3304440"/>
            <a:ext cx="1096200" cy="2625840"/>
          </a:xfrm>
          <a:prstGeom prst="rect">
            <a:avLst/>
          </a:prstGeom>
          <a:ln w="0">
            <a:noFill/>
          </a:ln>
          <a:effectLst>
            <a:outerShdw algn="bl" blurRad="114480" dir="5400000" dist="38160" kx="0" ky="0" rotWithShape="0" sx="100000" sy="100000">
              <a:srgbClr val="000000">
                <a:alpha val="18000"/>
              </a:srgbClr>
            </a:outerShdw>
          </a:effectLst>
        </p:spPr>
      </p:pic>
      <p:pic>
        <p:nvPicPr>
          <p:cNvPr id="405" name="Image 2" descr="/tmp/assets/warning_plate.jpg"/>
          <p:cNvPicPr/>
          <p:nvPr/>
        </p:nvPicPr>
        <p:blipFill>
          <a:blip r:embed="rId3"/>
          <a:stretch/>
        </p:blipFill>
        <p:spPr>
          <a:xfrm>
            <a:off x="10515600" y="3452400"/>
            <a:ext cx="1233360" cy="2329200"/>
          </a:xfrm>
          <a:prstGeom prst="rect">
            <a:avLst/>
          </a:prstGeom>
          <a:ln w="0">
            <a:noFill/>
          </a:ln>
          <a:effectLst>
            <a:outerShdw algn="bl" blurRad="114480" dir="5400000" dist="38160" kx="0" ky="0" rotWithShape="0" sx="100000" sy="100000">
              <a:srgbClr val="000000">
                <a:alpha val="18000"/>
              </a:srgbClr>
            </a:outerShdw>
          </a:effectLst>
        </p:spPr>
      </p:pic>
      <p:sp>
        <p:nvSpPr>
          <p:cNvPr id="406" name="Shape 25"/>
          <p:cNvSpPr/>
          <p:nvPr/>
        </p:nvSpPr>
        <p:spPr>
          <a:xfrm>
            <a:off x="11475720" y="6437520"/>
            <a:ext cx="108720" cy="108720"/>
          </a:xfrm>
          <a:prstGeom prst="ellipse">
            <a:avLst/>
          </a:prstGeom>
          <a:solidFill>
            <a:srgbClr val="e0a5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2760" bIns="3276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Text 26"/>
          <p:cNvSpPr/>
          <p:nvPr/>
        </p:nvSpPr>
        <p:spPr>
          <a:xfrm>
            <a:off x="10424160" y="6327720"/>
            <a:ext cx="95904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8c8270"/>
                </a:solidFill>
                <a:latin typeface="Calibri"/>
                <a:ea typeface="Calibri"/>
              </a:rPr>
              <a:t>7 / 17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Text 27"/>
          <p:cNvSpPr/>
          <p:nvPr/>
        </p:nvSpPr>
        <p:spPr>
          <a:xfrm>
            <a:off x="502920" y="6327720"/>
            <a:ext cx="548532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a99f8c"/>
                </a:solidFill>
                <a:latin typeface="Calibri"/>
                <a:ea typeface="Calibri"/>
              </a:rPr>
              <a:t>Harpe anti-frelons asiatiques - © J.N. Simonnet - 2026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Shape 0"/>
          <p:cNvSpPr/>
          <p:nvPr/>
        </p:nvSpPr>
        <p:spPr>
          <a:xfrm>
            <a:off x="502920" y="457200"/>
            <a:ext cx="145080" cy="712080"/>
          </a:xfrm>
          <a:prstGeom prst="rect">
            <a:avLst/>
          </a:prstGeom>
          <a:solidFill>
            <a:srgbClr val="e0a5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0" name="Text 1"/>
          <p:cNvSpPr/>
          <p:nvPr/>
        </p:nvSpPr>
        <p:spPr>
          <a:xfrm>
            <a:off x="777240" y="420480"/>
            <a:ext cx="106059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194" strike="noStrike">
                <a:solidFill>
                  <a:srgbClr val="9c6e12"/>
                </a:solidFill>
                <a:latin typeface="Calibri"/>
                <a:ea typeface="Calibri"/>
              </a:rPr>
              <a:t>PARTIE 3 · MÉCANIQUE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Text 2"/>
          <p:cNvSpPr/>
          <p:nvPr/>
        </p:nvSpPr>
        <p:spPr>
          <a:xfrm>
            <a:off x="777240" y="658440"/>
            <a:ext cx="108802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23190e"/>
                </a:solidFill>
                <a:latin typeface="Georgia"/>
                <a:ea typeface="Georgia"/>
              </a:rPr>
              <a:t>La réalisation en images</a:t>
            </a:r>
            <a:endParaRPr b="0" lang="fr-F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" name="Shape 3"/>
          <p:cNvSpPr/>
          <p:nvPr/>
        </p:nvSpPr>
        <p:spPr>
          <a:xfrm>
            <a:off x="640080" y="1554480"/>
            <a:ext cx="3583440" cy="2056320"/>
          </a:xfrm>
          <a:prstGeom prst="rect">
            <a:avLst/>
          </a:prstGeom>
          <a:solidFill>
            <a:srgbClr val="f4f1ea"/>
          </a:solidFill>
          <a:ln w="12700">
            <a:solidFill>
              <a:srgbClr val="e7e0d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13" name="Image 0" descr="/tmp/assets/frame_step.jpg"/>
          <p:cNvPicPr/>
          <p:nvPr/>
        </p:nvPicPr>
        <p:blipFill>
          <a:blip r:embed="rId1"/>
          <a:stretch/>
        </p:blipFill>
        <p:spPr>
          <a:xfrm>
            <a:off x="1589400" y="1627560"/>
            <a:ext cx="1684800" cy="1910160"/>
          </a:xfrm>
          <a:prstGeom prst="rect">
            <a:avLst/>
          </a:prstGeom>
          <a:ln w="0">
            <a:noFill/>
          </a:ln>
        </p:spPr>
      </p:pic>
      <p:sp>
        <p:nvSpPr>
          <p:cNvPr id="414" name="Text 4"/>
          <p:cNvSpPr/>
          <p:nvPr/>
        </p:nvSpPr>
        <p:spPr>
          <a:xfrm>
            <a:off x="640080" y="3630240"/>
            <a:ext cx="35834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8c8270"/>
                </a:solidFill>
                <a:latin typeface="Calibri"/>
                <a:ea typeface="Calibri"/>
              </a:rPr>
              <a:t>Assemblage du cadre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5" name="Shape 5"/>
          <p:cNvSpPr/>
          <p:nvPr/>
        </p:nvSpPr>
        <p:spPr>
          <a:xfrm>
            <a:off x="4480560" y="1554480"/>
            <a:ext cx="3583440" cy="2056320"/>
          </a:xfrm>
          <a:prstGeom prst="rect">
            <a:avLst/>
          </a:prstGeom>
          <a:solidFill>
            <a:srgbClr val="f4f1ea"/>
          </a:solidFill>
          <a:ln w="12700">
            <a:solidFill>
              <a:srgbClr val="e7e0d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16" name="Image 1" descr="/tmp/assets/bar_isolators.jpg"/>
          <p:cNvPicPr/>
          <p:nvPr/>
        </p:nvPicPr>
        <p:blipFill>
          <a:blip r:embed="rId2"/>
          <a:stretch/>
        </p:blipFill>
        <p:spPr>
          <a:xfrm>
            <a:off x="4553640" y="1996200"/>
            <a:ext cx="3436920" cy="1172880"/>
          </a:xfrm>
          <a:prstGeom prst="rect">
            <a:avLst/>
          </a:prstGeom>
          <a:ln w="0">
            <a:noFill/>
          </a:ln>
        </p:spPr>
      </p:pic>
      <p:sp>
        <p:nvSpPr>
          <p:cNvPr id="417" name="Text 6"/>
          <p:cNvSpPr/>
          <p:nvPr/>
        </p:nvSpPr>
        <p:spPr>
          <a:xfrm>
            <a:off x="4480560" y="3630240"/>
            <a:ext cx="35834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8c8270"/>
                </a:solidFill>
                <a:latin typeface="Calibri"/>
                <a:ea typeface="Calibri"/>
              </a:rPr>
              <a:t>Barre + isolateurs 3D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Shape 7"/>
          <p:cNvSpPr/>
          <p:nvPr/>
        </p:nvSpPr>
        <p:spPr>
          <a:xfrm>
            <a:off x="8321040" y="1554480"/>
            <a:ext cx="3583440" cy="2056320"/>
          </a:xfrm>
          <a:prstGeom prst="rect">
            <a:avLst/>
          </a:prstGeom>
          <a:solidFill>
            <a:srgbClr val="f4f1ea"/>
          </a:solidFill>
          <a:ln w="12700">
            <a:solidFill>
              <a:srgbClr val="e7e0d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19" name="Image 2" descr="/tmp/assets/drill_plan.jpg"/>
          <p:cNvPicPr/>
          <p:nvPr/>
        </p:nvPicPr>
        <p:blipFill>
          <a:blip r:embed="rId3"/>
          <a:stretch/>
        </p:blipFill>
        <p:spPr>
          <a:xfrm>
            <a:off x="8394120" y="2167920"/>
            <a:ext cx="3436920" cy="829080"/>
          </a:xfrm>
          <a:prstGeom prst="rect">
            <a:avLst/>
          </a:prstGeom>
          <a:ln w="0">
            <a:noFill/>
          </a:ln>
        </p:spPr>
      </p:pic>
      <p:sp>
        <p:nvSpPr>
          <p:cNvPr id="420" name="Text 8"/>
          <p:cNvSpPr/>
          <p:nvPr/>
        </p:nvSpPr>
        <p:spPr>
          <a:xfrm>
            <a:off x="8321040" y="3630240"/>
            <a:ext cx="35834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8c8270"/>
                </a:solidFill>
                <a:latin typeface="Calibri"/>
                <a:ea typeface="Calibri"/>
              </a:rPr>
              <a:t>Plan : passage des fils HT+/HT−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Shape 9"/>
          <p:cNvSpPr/>
          <p:nvPr/>
        </p:nvSpPr>
        <p:spPr>
          <a:xfrm>
            <a:off x="640080" y="4096440"/>
            <a:ext cx="3583440" cy="2056320"/>
          </a:xfrm>
          <a:prstGeom prst="rect">
            <a:avLst/>
          </a:prstGeom>
          <a:solidFill>
            <a:srgbClr val="f4f1ea"/>
          </a:solidFill>
          <a:ln w="12700">
            <a:solidFill>
              <a:srgbClr val="e7e0d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22" name="Image 3" descr="/tmp/assets/harp_full.jpg"/>
          <p:cNvPicPr/>
          <p:nvPr/>
        </p:nvPicPr>
        <p:blipFill>
          <a:blip r:embed="rId4"/>
          <a:stretch/>
        </p:blipFill>
        <p:spPr>
          <a:xfrm>
            <a:off x="1492200" y="4169520"/>
            <a:ext cx="1879200" cy="1910160"/>
          </a:xfrm>
          <a:prstGeom prst="rect">
            <a:avLst/>
          </a:prstGeom>
          <a:ln w="0">
            <a:noFill/>
          </a:ln>
        </p:spPr>
      </p:pic>
      <p:sp>
        <p:nvSpPr>
          <p:cNvPr id="423" name="Text 10"/>
          <p:cNvSpPr/>
          <p:nvPr/>
        </p:nvSpPr>
        <p:spPr>
          <a:xfrm>
            <a:off x="640080" y="6172200"/>
            <a:ext cx="35834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8c8270"/>
                </a:solidFill>
                <a:latin typeface="Calibri"/>
                <a:ea typeface="Calibri"/>
              </a:rPr>
              <a:t>Harpe complète + bac à eau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Shape 11"/>
          <p:cNvSpPr/>
          <p:nvPr/>
        </p:nvSpPr>
        <p:spPr>
          <a:xfrm>
            <a:off x="4480560" y="4096440"/>
            <a:ext cx="3583440" cy="2056320"/>
          </a:xfrm>
          <a:prstGeom prst="rect">
            <a:avLst/>
          </a:prstGeom>
          <a:solidFill>
            <a:srgbClr val="f4f1ea"/>
          </a:solidFill>
          <a:ln w="12700">
            <a:solidFill>
              <a:srgbClr val="e7e0d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25" name="Image 4" descr="/tmp/assets/connectors.jpg"/>
          <p:cNvPicPr/>
          <p:nvPr/>
        </p:nvPicPr>
        <p:blipFill>
          <a:blip r:embed="rId5"/>
          <a:stretch/>
        </p:blipFill>
        <p:spPr>
          <a:xfrm>
            <a:off x="4739760" y="4169520"/>
            <a:ext cx="3065040" cy="1910160"/>
          </a:xfrm>
          <a:prstGeom prst="rect">
            <a:avLst/>
          </a:prstGeom>
          <a:ln w="0">
            <a:noFill/>
          </a:ln>
        </p:spPr>
      </p:pic>
      <p:sp>
        <p:nvSpPr>
          <p:cNvPr id="426" name="Text 12"/>
          <p:cNvSpPr/>
          <p:nvPr/>
        </p:nvSpPr>
        <p:spPr>
          <a:xfrm>
            <a:off x="4480560" y="6172200"/>
            <a:ext cx="35834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8c8270"/>
                </a:solidFill>
                <a:latin typeface="Calibri"/>
                <a:ea typeface="Calibri"/>
              </a:rPr>
              <a:t>Connecteurs étanches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Shape 13"/>
          <p:cNvSpPr/>
          <p:nvPr/>
        </p:nvSpPr>
        <p:spPr>
          <a:xfrm>
            <a:off x="8321040" y="4096440"/>
            <a:ext cx="3583440" cy="2056320"/>
          </a:xfrm>
          <a:prstGeom prst="rect">
            <a:avLst/>
          </a:prstGeom>
          <a:solidFill>
            <a:srgbClr val="f4f1ea"/>
          </a:solidFill>
          <a:ln w="12700">
            <a:solidFill>
              <a:srgbClr val="e7e0d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28" name="Image 5" descr="/tmp/assets/warning_plate.jpg"/>
          <p:cNvPicPr/>
          <p:nvPr/>
        </p:nvPicPr>
        <p:blipFill>
          <a:blip r:embed="rId6"/>
          <a:stretch/>
        </p:blipFill>
        <p:spPr>
          <a:xfrm>
            <a:off x="9606960" y="4169520"/>
            <a:ext cx="1011240" cy="1910160"/>
          </a:xfrm>
          <a:prstGeom prst="rect">
            <a:avLst/>
          </a:prstGeom>
          <a:ln w="0">
            <a:noFill/>
          </a:ln>
        </p:spPr>
      </p:pic>
      <p:sp>
        <p:nvSpPr>
          <p:cNvPr id="429" name="Text 14"/>
          <p:cNvSpPr/>
          <p:nvPr/>
        </p:nvSpPr>
        <p:spPr>
          <a:xfrm>
            <a:off x="8321040" y="6172200"/>
            <a:ext cx="35834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100" spc="-1" strike="noStrike">
                <a:solidFill>
                  <a:srgbClr val="8c8270"/>
                </a:solidFill>
                <a:latin typeface="Calibri"/>
                <a:ea typeface="Calibri"/>
              </a:rPr>
              <a:t>Plaque d'avertissement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Shape 15"/>
          <p:cNvSpPr/>
          <p:nvPr/>
        </p:nvSpPr>
        <p:spPr>
          <a:xfrm>
            <a:off x="11475720" y="6437520"/>
            <a:ext cx="108720" cy="108720"/>
          </a:xfrm>
          <a:prstGeom prst="ellipse">
            <a:avLst/>
          </a:prstGeom>
          <a:solidFill>
            <a:srgbClr val="e0a5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2760" bIns="3276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Text 16"/>
          <p:cNvSpPr/>
          <p:nvPr/>
        </p:nvSpPr>
        <p:spPr>
          <a:xfrm>
            <a:off x="10424160" y="6327720"/>
            <a:ext cx="95904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8c8270"/>
                </a:solidFill>
                <a:latin typeface="Calibri"/>
                <a:ea typeface="Calibri"/>
              </a:rPr>
              <a:t>8 / 17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Text 17"/>
          <p:cNvSpPr/>
          <p:nvPr/>
        </p:nvSpPr>
        <p:spPr>
          <a:xfrm>
            <a:off x="502920" y="6327720"/>
            <a:ext cx="548532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a99f8c"/>
                </a:solidFill>
                <a:latin typeface="Calibri"/>
                <a:ea typeface="Calibri"/>
              </a:rPr>
              <a:t>Harpe anti-frelons asiatiques - © J.N. Simonnet - 2026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Shape 0"/>
          <p:cNvSpPr/>
          <p:nvPr/>
        </p:nvSpPr>
        <p:spPr>
          <a:xfrm>
            <a:off x="502920" y="457200"/>
            <a:ext cx="145080" cy="712080"/>
          </a:xfrm>
          <a:prstGeom prst="rect">
            <a:avLst/>
          </a:prstGeom>
          <a:solidFill>
            <a:srgbClr val="e0a5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4" name="Text 1"/>
          <p:cNvSpPr/>
          <p:nvPr/>
        </p:nvSpPr>
        <p:spPr>
          <a:xfrm>
            <a:off x="777240" y="420480"/>
            <a:ext cx="106059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194" strike="noStrike">
                <a:solidFill>
                  <a:srgbClr val="9c6e12"/>
                </a:solidFill>
                <a:latin typeface="Calibri"/>
                <a:ea typeface="Calibri"/>
              </a:rPr>
              <a:t>PARTIE 3 · ÉLECTRONIQUE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Text 2"/>
          <p:cNvSpPr/>
          <p:nvPr/>
        </p:nvSpPr>
        <p:spPr>
          <a:xfrm>
            <a:off x="777240" y="658440"/>
            <a:ext cx="108802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23190e"/>
                </a:solidFill>
                <a:latin typeface="Georgia"/>
                <a:ea typeface="Georgia"/>
              </a:rPr>
              <a:t>L'électronique : la version de base</a:t>
            </a:r>
            <a:endParaRPr b="0" lang="fr-FR" sz="3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36" name="Image 0" descr="/tmp/assets/proto_oled.jpg"/>
          <p:cNvPicPr/>
          <p:nvPr/>
        </p:nvPicPr>
        <p:blipFill>
          <a:blip r:embed="rId1"/>
          <a:stretch/>
        </p:blipFill>
        <p:spPr>
          <a:xfrm>
            <a:off x="715680" y="1554480"/>
            <a:ext cx="6522840" cy="3656520"/>
          </a:xfrm>
          <a:prstGeom prst="rect">
            <a:avLst/>
          </a:prstGeom>
          <a:ln w="0">
            <a:noFill/>
          </a:ln>
          <a:effectLst>
            <a:outerShdw algn="bl" blurRad="114480" dir="5400000" dist="38160" kx="0" ky="0" rotWithShape="0" sx="100000" sy="100000">
              <a:srgbClr val="000000">
                <a:alpha val="18000"/>
              </a:srgbClr>
            </a:outerShdw>
          </a:effectLst>
        </p:spPr>
      </p:pic>
      <p:sp>
        <p:nvSpPr>
          <p:cNvPr id="437" name="Text 3"/>
          <p:cNvSpPr/>
          <p:nvPr/>
        </p:nvSpPr>
        <p:spPr>
          <a:xfrm>
            <a:off x="548640" y="5212080"/>
            <a:ext cx="685692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50" spc="-1" strike="noStrike">
                <a:solidFill>
                  <a:srgbClr val="8c8270"/>
                </a:solidFill>
                <a:latin typeface="Calibri"/>
                <a:ea typeface="Calibri"/>
              </a:rPr>
              <a:t>Prototype annoté : modules d'alimentation, booster HT et conditionnement du signal</a:t>
            </a:r>
            <a:endParaRPr b="0" lang="fr-FR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Text 4"/>
          <p:cNvSpPr/>
          <p:nvPr/>
        </p:nvSpPr>
        <p:spPr>
          <a:xfrm>
            <a:off x="7680960" y="1554480"/>
            <a:ext cx="40222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9c6e12"/>
                </a:solidFill>
                <a:latin typeface="Calibri"/>
                <a:ea typeface="Calibri"/>
              </a:rPr>
              <a:t>La chaîne d'alimentation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Shape 5"/>
          <p:cNvSpPr/>
          <p:nvPr/>
        </p:nvSpPr>
        <p:spPr>
          <a:xfrm>
            <a:off x="7699320" y="2048400"/>
            <a:ext cx="145080" cy="145080"/>
          </a:xfrm>
          <a:prstGeom prst="ellipse">
            <a:avLst/>
          </a:prstGeom>
          <a:solidFill>
            <a:srgbClr val="e0a5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Text 6"/>
          <p:cNvSpPr/>
          <p:nvPr/>
        </p:nvSpPr>
        <p:spPr>
          <a:xfrm>
            <a:off x="7955280" y="1938600"/>
            <a:ext cx="374796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23190e"/>
                </a:solidFill>
                <a:latin typeface="Calibri"/>
                <a:ea typeface="Calibri"/>
              </a:rPr>
              <a:t>Panneau solaire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1" name="Text 7"/>
          <p:cNvSpPr/>
          <p:nvPr/>
        </p:nvSpPr>
        <p:spPr>
          <a:xfrm>
            <a:off x="7955280" y="2231280"/>
            <a:ext cx="374796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615749"/>
                </a:solidFill>
                <a:latin typeface="Calibri"/>
                <a:ea typeface="Calibri"/>
              </a:rPr>
              <a:t>« 50 W » → 2 convertisseurs DC/DC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Shape 8"/>
          <p:cNvSpPr/>
          <p:nvPr/>
        </p:nvSpPr>
        <p:spPr>
          <a:xfrm>
            <a:off x="7699320" y="2706480"/>
            <a:ext cx="145080" cy="145080"/>
          </a:xfrm>
          <a:prstGeom prst="ellipse">
            <a:avLst/>
          </a:prstGeom>
          <a:solidFill>
            <a:srgbClr val="e0a5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Text 9"/>
          <p:cNvSpPr/>
          <p:nvPr/>
        </p:nvSpPr>
        <p:spPr>
          <a:xfrm>
            <a:off x="7955280" y="2597040"/>
            <a:ext cx="374796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23190e"/>
                </a:solidFill>
                <a:latin typeface="Calibri"/>
                <a:ea typeface="Calibri"/>
              </a:rPr>
              <a:t>DC/DC LM2596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4" name="Text 10"/>
          <p:cNvSpPr/>
          <p:nvPr/>
        </p:nvSpPr>
        <p:spPr>
          <a:xfrm>
            <a:off x="7955280" y="2889360"/>
            <a:ext cx="374796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615749"/>
                </a:solidFill>
                <a:latin typeface="Calibri"/>
                <a:ea typeface="Calibri"/>
              </a:rPr>
              <a:t>2,4 V (booster) et 5 V (électronique)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Shape 11"/>
          <p:cNvSpPr/>
          <p:nvPr/>
        </p:nvSpPr>
        <p:spPr>
          <a:xfrm>
            <a:off x="7699320" y="3364920"/>
            <a:ext cx="145080" cy="145080"/>
          </a:xfrm>
          <a:prstGeom prst="ellipse">
            <a:avLst/>
          </a:prstGeom>
          <a:solidFill>
            <a:srgbClr val="e0a5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Text 12"/>
          <p:cNvSpPr/>
          <p:nvPr/>
        </p:nvSpPr>
        <p:spPr>
          <a:xfrm>
            <a:off x="7955280" y="3255120"/>
            <a:ext cx="374796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23190e"/>
                </a:solidFill>
                <a:latin typeface="Calibri"/>
                <a:ea typeface="Calibri"/>
              </a:rPr>
              <a:t>Booster 2 kV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Text 13"/>
          <p:cNvSpPr/>
          <p:nvPr/>
        </p:nvSpPr>
        <p:spPr>
          <a:xfrm>
            <a:off x="7955280" y="3547800"/>
            <a:ext cx="374796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615749"/>
                </a:solidFill>
                <a:latin typeface="Calibri"/>
                <a:ea typeface="Calibri"/>
              </a:rPr>
              <a:t>la haute tension alimentant les harpes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Shape 14"/>
          <p:cNvSpPr/>
          <p:nvPr/>
        </p:nvSpPr>
        <p:spPr>
          <a:xfrm>
            <a:off x="7699320" y="4023360"/>
            <a:ext cx="145080" cy="145080"/>
          </a:xfrm>
          <a:prstGeom prst="ellipse">
            <a:avLst/>
          </a:prstGeom>
          <a:solidFill>
            <a:srgbClr val="e0a5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Text 15"/>
          <p:cNvSpPr/>
          <p:nvPr/>
        </p:nvSpPr>
        <p:spPr>
          <a:xfrm>
            <a:off x="7955280" y="3913560"/>
            <a:ext cx="374796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23190e"/>
                </a:solidFill>
                <a:latin typeface="Calibri"/>
                <a:ea typeface="Calibri"/>
              </a:rPr>
              <a:t>Condensateur 470 nF/2 kV</a:t>
            </a:r>
            <a:endParaRPr b="0" lang="fr-FR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Text 16"/>
          <p:cNvSpPr/>
          <p:nvPr/>
        </p:nvSpPr>
        <p:spPr>
          <a:xfrm>
            <a:off x="7955280" y="4206240"/>
            <a:ext cx="374796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615749"/>
                </a:solidFill>
                <a:latin typeface="Calibri"/>
                <a:ea typeface="Calibri"/>
              </a:rPr>
              <a:t>plus d'énergie : électrocute le frelon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1" name="Shape 17"/>
          <p:cNvSpPr/>
          <p:nvPr/>
        </p:nvSpPr>
        <p:spPr>
          <a:xfrm>
            <a:off x="7680960" y="4754880"/>
            <a:ext cx="4068000" cy="1416240"/>
          </a:xfrm>
          <a:prstGeom prst="rect">
            <a:avLst/>
          </a:prstGeom>
          <a:solidFill>
            <a:srgbClr val="fbebe6"/>
          </a:solidFill>
          <a:ln w="12700">
            <a:solidFill>
              <a:srgbClr val="c844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Shape 18"/>
          <p:cNvSpPr/>
          <p:nvPr/>
        </p:nvSpPr>
        <p:spPr>
          <a:xfrm>
            <a:off x="7680960" y="4754880"/>
            <a:ext cx="127080" cy="1416240"/>
          </a:xfrm>
          <a:prstGeom prst="rect">
            <a:avLst/>
          </a:prstGeom>
          <a:solidFill>
            <a:srgbClr val="c844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3" name="Text 19"/>
          <p:cNvSpPr/>
          <p:nvPr/>
        </p:nvSpPr>
        <p:spPr>
          <a:xfrm>
            <a:off x="7918560" y="4864680"/>
            <a:ext cx="374796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c8442e"/>
                </a:solidFill>
                <a:latin typeface="Calibri"/>
                <a:ea typeface="Calibri"/>
              </a:rPr>
              <a:t>Sécurité opérateur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4" name="Text 20"/>
          <p:cNvSpPr/>
          <p:nvPr/>
        </p:nvSpPr>
        <p:spPr>
          <a:xfrm>
            <a:off x="7918560" y="5230440"/>
            <a:ext cx="370224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7a2a1c"/>
                </a:solidFill>
                <a:latin typeface="Calibri"/>
                <a:ea typeface="Calibri"/>
              </a:rPr>
              <a:t>Coupure rapide de la HT à l'arrêt (relais, thyristor ou MOSFET/IGBT) + protection du condensateur de sortie contre les courts-circuits.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5" name="Shape 21"/>
          <p:cNvSpPr/>
          <p:nvPr/>
        </p:nvSpPr>
        <p:spPr>
          <a:xfrm>
            <a:off x="11475720" y="6437520"/>
            <a:ext cx="108720" cy="108720"/>
          </a:xfrm>
          <a:prstGeom prst="ellipse">
            <a:avLst/>
          </a:prstGeom>
          <a:solidFill>
            <a:srgbClr val="e0a5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2760" bIns="3276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6" name="Text 22"/>
          <p:cNvSpPr/>
          <p:nvPr/>
        </p:nvSpPr>
        <p:spPr>
          <a:xfrm>
            <a:off x="10424160" y="6327720"/>
            <a:ext cx="95904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8c8270"/>
                </a:solidFill>
                <a:latin typeface="Calibri"/>
                <a:ea typeface="Calibri"/>
              </a:rPr>
              <a:t>9 / 17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7" name="Text 23"/>
          <p:cNvSpPr/>
          <p:nvPr/>
        </p:nvSpPr>
        <p:spPr>
          <a:xfrm>
            <a:off x="502920" y="6327720"/>
            <a:ext cx="548532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a99f8c"/>
                </a:solidFill>
                <a:latin typeface="Calibri"/>
                <a:ea typeface="Calibri"/>
              </a:rPr>
              <a:t>Harpe anti-frelons asiatiques - © J.N. Simonnet - 2026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Shape 0"/>
          <p:cNvSpPr/>
          <p:nvPr/>
        </p:nvSpPr>
        <p:spPr>
          <a:xfrm>
            <a:off x="502920" y="457200"/>
            <a:ext cx="145080" cy="712080"/>
          </a:xfrm>
          <a:prstGeom prst="rect">
            <a:avLst/>
          </a:prstGeom>
          <a:solidFill>
            <a:srgbClr val="e0a5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9" name="Text 1"/>
          <p:cNvSpPr/>
          <p:nvPr/>
        </p:nvSpPr>
        <p:spPr>
          <a:xfrm>
            <a:off x="777240" y="420480"/>
            <a:ext cx="106059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194" strike="noStrike">
                <a:solidFill>
                  <a:srgbClr val="9c6e12"/>
                </a:solidFill>
                <a:latin typeface="Calibri"/>
                <a:ea typeface="Calibri"/>
              </a:rPr>
              <a:t>PARTIE 3 · ÉLECTRONIQUE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0" name="Text 2"/>
          <p:cNvSpPr/>
          <p:nvPr/>
        </p:nvSpPr>
        <p:spPr>
          <a:xfrm>
            <a:off x="777240" y="658440"/>
            <a:ext cx="108802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23190e"/>
                </a:solidFill>
                <a:latin typeface="Georgia"/>
                <a:ea typeface="Georgia"/>
              </a:rPr>
              <a:t>Choix du panneau &amp; objet connecté</a:t>
            </a:r>
            <a:endParaRPr b="0" lang="fr-F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Shape 3"/>
          <p:cNvSpPr/>
          <p:nvPr/>
        </p:nvSpPr>
        <p:spPr>
          <a:xfrm>
            <a:off x="640080" y="1554480"/>
            <a:ext cx="5211000" cy="1553400"/>
          </a:xfrm>
          <a:prstGeom prst="rect">
            <a:avLst/>
          </a:prstGeom>
          <a:solidFill>
            <a:srgbClr val="f4f1ea"/>
          </a:solidFill>
          <a:ln w="12700">
            <a:solidFill>
              <a:srgbClr val="e7e0d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2" name="Text 4"/>
          <p:cNvSpPr/>
          <p:nvPr/>
        </p:nvSpPr>
        <p:spPr>
          <a:xfrm>
            <a:off x="868680" y="1691640"/>
            <a:ext cx="47538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9c6e12"/>
                </a:solidFill>
                <a:latin typeface="Calibri"/>
                <a:ea typeface="Calibri"/>
              </a:rPr>
              <a:t>Dimensionnement du panneau solaire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3" name="Text 5"/>
          <p:cNvSpPr/>
          <p:nvPr/>
        </p:nvSpPr>
        <p:spPr>
          <a:xfrm>
            <a:off x="868680" y="2103120"/>
            <a:ext cx="479952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615749"/>
                </a:solidFill>
                <a:latin typeface="Calibri"/>
                <a:ea typeface="Calibri"/>
              </a:rPr>
              <a:t>Attention au matériels vendus en ligne : un panneau de 25 x 25 cm ne peut pas délivrer 50W, mais tout au plus 10W.</a:t>
            </a:r>
            <a:endParaRPr b="0" lang="fr-FR" sz="12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615749"/>
                </a:solidFill>
                <a:latin typeface="Calibri"/>
                <a:ea typeface="Calibri"/>
              </a:rPr>
              <a:t>Nécessité de le surdimensionner (40 W minimum), car par temps couvert, la puissance peut tomber à 20% seulement.</a:t>
            </a:r>
            <a:endParaRPr b="0" lang="fr-FR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Text 6"/>
          <p:cNvSpPr/>
          <p:nvPr/>
        </p:nvSpPr>
        <p:spPr>
          <a:xfrm>
            <a:off x="640080" y="3337560"/>
            <a:ext cx="521100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9c6e12"/>
                </a:solidFill>
                <a:latin typeface="Calibri"/>
                <a:ea typeface="Calibri"/>
              </a:rPr>
              <a:t>Ce que mesure l'objet connecté</a:t>
            </a:r>
            <a:endParaRPr b="0" lang="fr-FR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Shape 7"/>
          <p:cNvSpPr/>
          <p:nvPr/>
        </p:nvSpPr>
        <p:spPr>
          <a:xfrm>
            <a:off x="658440" y="3831480"/>
            <a:ext cx="136080" cy="136080"/>
          </a:xfrm>
          <a:prstGeom prst="ellipse">
            <a:avLst/>
          </a:prstGeom>
          <a:solidFill>
            <a:srgbClr val="5e7d3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6" name="Text 8"/>
          <p:cNvSpPr/>
          <p:nvPr/>
        </p:nvSpPr>
        <p:spPr>
          <a:xfrm>
            <a:off x="914400" y="3740040"/>
            <a:ext cx="493668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615749"/>
                </a:solidFill>
                <a:latin typeface="Calibri"/>
                <a:ea typeface="Calibri"/>
              </a:rPr>
              <a:t>Haute tension (détection des déclenchements &lt; 1500 V)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7" name="Shape 9"/>
          <p:cNvSpPr/>
          <p:nvPr/>
        </p:nvSpPr>
        <p:spPr>
          <a:xfrm>
            <a:off x="658440" y="4334400"/>
            <a:ext cx="136080" cy="136080"/>
          </a:xfrm>
          <a:prstGeom prst="ellipse">
            <a:avLst/>
          </a:prstGeom>
          <a:solidFill>
            <a:srgbClr val="5e7d3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8" name="Text 10"/>
          <p:cNvSpPr/>
          <p:nvPr/>
        </p:nvSpPr>
        <p:spPr>
          <a:xfrm>
            <a:off x="914400" y="4242960"/>
            <a:ext cx="493668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615749"/>
                </a:solidFill>
                <a:latin typeface="Calibri"/>
                <a:ea typeface="Calibri"/>
              </a:rPr>
              <a:t>Tension du panneau solaire (jour/nuit, ensoleillement)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Shape 11"/>
          <p:cNvSpPr/>
          <p:nvPr/>
        </p:nvSpPr>
        <p:spPr>
          <a:xfrm>
            <a:off x="658440" y="4837320"/>
            <a:ext cx="136080" cy="136080"/>
          </a:xfrm>
          <a:prstGeom prst="ellipse">
            <a:avLst/>
          </a:prstGeom>
          <a:solidFill>
            <a:srgbClr val="5e7d3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0" name="Text 12"/>
          <p:cNvSpPr/>
          <p:nvPr/>
        </p:nvSpPr>
        <p:spPr>
          <a:xfrm>
            <a:off x="914400" y="4745880"/>
            <a:ext cx="493668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615749"/>
                </a:solidFill>
                <a:latin typeface="Calibri"/>
                <a:ea typeface="Calibri"/>
              </a:rPr>
              <a:t>Tensions d'alimentation + température (LM35)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Shape 13"/>
          <p:cNvSpPr/>
          <p:nvPr/>
        </p:nvSpPr>
        <p:spPr>
          <a:xfrm>
            <a:off x="658440" y="5340240"/>
            <a:ext cx="136080" cy="136080"/>
          </a:xfrm>
          <a:prstGeom prst="ellipse">
            <a:avLst/>
          </a:prstGeom>
          <a:solidFill>
            <a:srgbClr val="5e7d3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2" name="Text 14"/>
          <p:cNvSpPr/>
          <p:nvPr/>
        </p:nvSpPr>
        <p:spPr>
          <a:xfrm>
            <a:off x="914400" y="5248800"/>
            <a:ext cx="493668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615749"/>
                </a:solidFill>
                <a:latin typeface="Calibri"/>
                <a:ea typeface="Calibri"/>
              </a:rPr>
              <a:t>Comptage des électrocutions (interruption + compteur journalier)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73" name="Image 0" descr="/tmp/assets/lora32.jpg"/>
          <p:cNvPicPr/>
          <p:nvPr/>
        </p:nvPicPr>
        <p:blipFill>
          <a:blip r:embed="rId1"/>
          <a:stretch/>
        </p:blipFill>
        <p:spPr>
          <a:xfrm>
            <a:off x="6355080" y="1554480"/>
            <a:ext cx="2559240" cy="2467800"/>
          </a:xfrm>
          <a:prstGeom prst="rect">
            <a:avLst/>
          </a:prstGeom>
          <a:ln w="0">
            <a:noFill/>
          </a:ln>
          <a:effectLst>
            <a:outerShdw algn="bl" blurRad="114480" dir="5400000" dist="38160" kx="0" ky="0" rotWithShape="0" sx="100000" sy="100000">
              <a:srgbClr val="000000">
                <a:alpha val="18000"/>
              </a:srgbClr>
            </a:outerShdw>
          </a:effectLst>
        </p:spPr>
      </p:pic>
      <p:sp>
        <p:nvSpPr>
          <p:cNvPr id="474" name="Text 15"/>
          <p:cNvSpPr/>
          <p:nvPr/>
        </p:nvSpPr>
        <p:spPr>
          <a:xfrm>
            <a:off x="6126480" y="4023360"/>
            <a:ext cx="30164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8c8270"/>
                </a:solidFill>
                <a:latin typeface="Calibri"/>
                <a:ea typeface="Calibri"/>
              </a:rPr>
              <a:t>ESP32 LORA32 V3 (LoRaWAN SX1262)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75" name="Image 1" descr="/tmp/assets/map.jpg"/>
          <p:cNvPicPr/>
          <p:nvPr/>
        </p:nvPicPr>
        <p:blipFill>
          <a:blip r:embed="rId2"/>
          <a:stretch/>
        </p:blipFill>
        <p:spPr>
          <a:xfrm>
            <a:off x="9144000" y="2024280"/>
            <a:ext cx="2604960" cy="1528560"/>
          </a:xfrm>
          <a:prstGeom prst="rect">
            <a:avLst/>
          </a:prstGeom>
          <a:ln w="0">
            <a:noFill/>
          </a:ln>
          <a:effectLst>
            <a:outerShdw algn="bl" blurRad="114480" dir="5400000" dist="38160" kx="0" ky="0" rotWithShape="0" sx="100000" sy="100000">
              <a:srgbClr val="000000">
                <a:alpha val="18000"/>
              </a:srgbClr>
            </a:outerShdw>
          </a:effectLst>
        </p:spPr>
      </p:pic>
      <p:sp>
        <p:nvSpPr>
          <p:cNvPr id="476" name="Text 16"/>
          <p:cNvSpPr/>
          <p:nvPr/>
        </p:nvSpPr>
        <p:spPr>
          <a:xfrm>
            <a:off x="9144000" y="4023360"/>
            <a:ext cx="26049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8c8270"/>
                </a:solidFill>
                <a:latin typeface="Calibri"/>
                <a:ea typeface="Calibri"/>
              </a:rPr>
              <a:t>Portée gateway ≈ 2,5 km</a:t>
            </a:r>
            <a:endParaRPr b="0" lang="fr-FR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7" name="Shape 17"/>
          <p:cNvSpPr/>
          <p:nvPr/>
        </p:nvSpPr>
        <p:spPr>
          <a:xfrm>
            <a:off x="6263640" y="4526280"/>
            <a:ext cx="5485320" cy="1416240"/>
          </a:xfrm>
          <a:prstGeom prst="rect">
            <a:avLst/>
          </a:prstGeom>
          <a:solidFill>
            <a:srgbClr val="23190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8" name="Text 18"/>
          <p:cNvSpPr/>
          <p:nvPr/>
        </p:nvSpPr>
        <p:spPr>
          <a:xfrm>
            <a:off x="6492240" y="4645080"/>
            <a:ext cx="50281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e0a526"/>
                </a:solidFill>
                <a:latin typeface="Calibri"/>
                <a:ea typeface="Calibri"/>
              </a:rPr>
              <a:t>Le bénéfice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Text 19"/>
          <p:cNvSpPr/>
          <p:nvPr/>
        </p:nvSpPr>
        <p:spPr>
          <a:xfrm>
            <a:off x="6492240" y="5029200"/>
            <a:ext cx="502812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e9e1cf"/>
                </a:solidFill>
                <a:latin typeface="Calibri"/>
                <a:ea typeface="Calibri"/>
              </a:rPr>
              <a:t>Connaître l'activité du frelon heure par heure et au fil des mois, et mesurer l'efficacité réelle (électrocutions comptées vs frelons dans le bac) — sans se déplacer, via le réseau collaboratif LoRaWAN.</a:t>
            </a:r>
            <a:endParaRPr b="0" lang="fr-FR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0" name="Shape 20"/>
          <p:cNvSpPr/>
          <p:nvPr/>
        </p:nvSpPr>
        <p:spPr>
          <a:xfrm>
            <a:off x="11475720" y="6437520"/>
            <a:ext cx="108720" cy="108720"/>
          </a:xfrm>
          <a:prstGeom prst="ellipse">
            <a:avLst/>
          </a:prstGeom>
          <a:solidFill>
            <a:srgbClr val="e0a5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2760" bIns="3276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1" name="Text 21"/>
          <p:cNvSpPr/>
          <p:nvPr/>
        </p:nvSpPr>
        <p:spPr>
          <a:xfrm>
            <a:off x="10424160" y="6327720"/>
            <a:ext cx="95904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8c8270"/>
                </a:solidFill>
                <a:latin typeface="Calibri"/>
                <a:ea typeface="Calibri"/>
              </a:rPr>
              <a:t>10 / 17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2" name="Text 22"/>
          <p:cNvSpPr/>
          <p:nvPr/>
        </p:nvSpPr>
        <p:spPr>
          <a:xfrm>
            <a:off x="502920" y="6327720"/>
            <a:ext cx="548532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a99f8c"/>
                </a:solidFill>
                <a:latin typeface="Calibri"/>
                <a:ea typeface="Calibri"/>
              </a:rPr>
              <a:t>Harpe anti-frelons asiatiques - © J.N. Simonnet - 2026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Shape 34"/>
          <p:cNvSpPr/>
          <p:nvPr/>
        </p:nvSpPr>
        <p:spPr>
          <a:xfrm>
            <a:off x="502920" y="457200"/>
            <a:ext cx="145080" cy="712080"/>
          </a:xfrm>
          <a:prstGeom prst="rect">
            <a:avLst/>
          </a:prstGeom>
          <a:solidFill>
            <a:srgbClr val="e0a5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4" name="Text 36"/>
          <p:cNvSpPr/>
          <p:nvPr/>
        </p:nvSpPr>
        <p:spPr>
          <a:xfrm>
            <a:off x="777240" y="420480"/>
            <a:ext cx="1060596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194" strike="noStrike">
                <a:solidFill>
                  <a:srgbClr val="9c6e12"/>
                </a:solidFill>
                <a:latin typeface="Calibri"/>
                <a:ea typeface="Calibri"/>
              </a:rPr>
              <a:t>PARTIE 3 · BOM</a:t>
            </a:r>
            <a:endParaRPr b="0" lang="fr-FR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5" name="Text 37"/>
          <p:cNvSpPr/>
          <p:nvPr/>
        </p:nvSpPr>
        <p:spPr>
          <a:xfrm>
            <a:off x="777240" y="658440"/>
            <a:ext cx="1088028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000" spc="-1" strike="noStrike">
                <a:solidFill>
                  <a:srgbClr val="23190e"/>
                </a:solidFill>
                <a:latin typeface="Georgia"/>
                <a:ea typeface="Georgia"/>
              </a:rPr>
              <a:t>Détail du coût de construction</a:t>
            </a:r>
            <a:endParaRPr b="0" lang="fr-FR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6" name="Text 38"/>
          <p:cNvSpPr/>
          <p:nvPr/>
        </p:nvSpPr>
        <p:spPr>
          <a:xfrm>
            <a:off x="2700000" y="34560"/>
            <a:ext cx="1097172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615749"/>
                </a:solidFill>
                <a:latin typeface="Calibri"/>
                <a:ea typeface="Calibri"/>
              </a:rPr>
              <a:t>Une isolation irréprochable conditionne un fonctionnement durable — surtout après la pluie : le bois mouillé met des heures à sécher et fait fuir la HT pendant ce temps.</a:t>
            </a:r>
            <a:endParaRPr b="0" lang="fr-F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Shape 35"/>
          <p:cNvSpPr/>
          <p:nvPr/>
        </p:nvSpPr>
        <p:spPr>
          <a:xfrm>
            <a:off x="820080" y="5791680"/>
            <a:ext cx="10519200" cy="551880"/>
          </a:xfrm>
          <a:prstGeom prst="rect">
            <a:avLst/>
          </a:prstGeom>
          <a:solidFill>
            <a:srgbClr val="fbebe6"/>
          </a:solidFill>
          <a:ln w="12700">
            <a:solidFill>
              <a:srgbClr val="c844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Text 39"/>
          <p:cNvSpPr/>
          <p:nvPr/>
        </p:nvSpPr>
        <p:spPr>
          <a:xfrm>
            <a:off x="849960" y="5726160"/>
            <a:ext cx="104893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c8442e"/>
                </a:solidFill>
                <a:latin typeface="Georgia"/>
                <a:ea typeface="Georgia"/>
              </a:rPr>
              <a:t>L’option originelle (fabrication additive des isolateurs) est légèrement plus chère que l’utilisation des barrettes KEMP (Naturapi). Avec barrettes Kemp, utiliser des tréteaux à 16€ (Castorama), mais il reste nécessaire de les vernir à 3 couches de vernis marin</a:t>
            </a:r>
            <a:endParaRPr b="0" lang="fr-FR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9" name="Shape 41"/>
          <p:cNvSpPr/>
          <p:nvPr/>
        </p:nvSpPr>
        <p:spPr>
          <a:xfrm>
            <a:off x="11475720" y="6437520"/>
            <a:ext cx="108720" cy="108720"/>
          </a:xfrm>
          <a:prstGeom prst="ellipse">
            <a:avLst/>
          </a:prstGeom>
          <a:solidFill>
            <a:srgbClr val="e0a5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32760" bIns="32760" anchor="t">
            <a:noAutofit/>
          </a:bodyPr>
          <a:p>
            <a:endParaRPr b="0" lang="fr-F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0" name="Text 49"/>
          <p:cNvSpPr/>
          <p:nvPr/>
        </p:nvSpPr>
        <p:spPr>
          <a:xfrm>
            <a:off x="10424160" y="6327720"/>
            <a:ext cx="95904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8c8270"/>
                </a:solidFill>
                <a:latin typeface="Calibri"/>
                <a:ea typeface="Calibri"/>
              </a:rPr>
              <a:t>11 / 17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Text 50"/>
          <p:cNvSpPr/>
          <p:nvPr/>
        </p:nvSpPr>
        <p:spPr>
          <a:xfrm>
            <a:off x="502920" y="6327720"/>
            <a:ext cx="548532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a99f8c"/>
                </a:solidFill>
                <a:latin typeface="Calibri"/>
                <a:ea typeface="Calibri"/>
              </a:rPr>
              <a:t>Harpe anti-frelons asiatiques  - © J.N. Simonnet - 2026</a:t>
            </a:r>
            <a:endParaRPr b="0" lang="fr-FR" sz="9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92" name="" descr=""/>
          <p:cNvPicPr/>
          <p:nvPr/>
        </p:nvPicPr>
        <p:blipFill>
          <a:blip r:embed="rId1"/>
          <a:stretch/>
        </p:blipFill>
        <p:spPr>
          <a:xfrm>
            <a:off x="1765080" y="1298160"/>
            <a:ext cx="8314200" cy="44568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38</TotalTime>
  <Application>LibreOffice/24.2.7.2$Linux_X86_64 LibreOffice_project/420$Build-2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2026-06-04T15:44:42Z</dcterms:created>
  <dc:creator>Jean-Noël</dc:creator>
  <dc:description/>
  <dc:language>fr-FR</dc:language>
  <cp:lastModifiedBy/>
  <dcterms:modified xsi:type="dcterms:W3CDTF">2026-06-18T11:14:53Z</dcterms:modified>
  <cp:revision>9</cp:revision>
  <dc:subject>PptxGenJS Presentation</dc:subject>
  <dc:title>La harpe anti-frelons asiatiques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16</vt:i4>
  </property>
  <property fmtid="{D5CDD505-2E9C-101B-9397-08002B2CF9AE}" pid="3" name="PresentationFormat">
    <vt:lpwstr>On-screen Show (16:9)</vt:lpwstr>
  </property>
  <property fmtid="{D5CDD505-2E9C-101B-9397-08002B2CF9AE}" pid="4" name="Slides">
    <vt:i4>16</vt:i4>
  </property>
</Properties>
</file>